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7" r:id="rId4"/>
  </p:sldMasterIdLst>
  <p:notesMasterIdLst>
    <p:notesMasterId r:id="rId5"/>
  </p:notesMasterIdLst>
  <p:sldIdLst>
    <p:sldId id="256" r:id="rId14"/>
    <p:sldId id="257" r:id="rId15"/>
    <p:sldId id="258" r:id="rId16"/>
    <p:sldId id="259" r:id="rId17"/>
    <p:sldId id="260" r:id="rId18"/>
    <p:sldId id="261" r:id="rId13"/>
    <p:sldId id="262" r:id="rId12"/>
    <p:sldId id="263" r:id="rId11"/>
    <p:sldId id="264" r:id="rId10"/>
    <p:sldId id="265" r:id="rId9"/>
    <p:sldId id="266" r:id="rId8"/>
    <p:sldId id="267" r:id="rId7"/>
    <p:sldId id="268" r:id="rId6"/>
    <p:sldId id="269" r:id="rId27"/>
    <p:sldId id="270" r:id="rId28"/>
  </p:sldIdLst>
  <p:sldSz cy="5143500" cx="9144000"/>
  <p:notesSz cx="6858000" cy="9144000"/>
  <p:embeddedFontLst>
    <p:embeddedFont>
      <p:font typeface="Montserrat"/>
      <p:regular r:id="rId19"/>
      <p:bold r:id="rId20"/>
      <p:italic r:id="rId21"/>
      <p:boldItalic r:id="rId22"/>
    </p:embeddedFont>
    <p:embeddedFont>
      <p:font typeface="Montserrat Black"/>
      <p:bold r:id="rId23"/>
      <p:boldItalic r:id="rId24"/>
    </p:embeddedFont>
    <p:embeddedFont>
      <p:font typeface="Montserrat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3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font" Target="fonts/Montserrat-regular.fntdata"/><Relationship Id="rId20" Type="http://schemas.openxmlformats.org/officeDocument/2006/relationships/font" Target="fonts/Montserrat-bold.fntdata"/><Relationship Id="rId21" Type="http://schemas.openxmlformats.org/officeDocument/2006/relationships/font" Target="fonts/Montserrat-italic.fntdata"/><Relationship Id="rId22" Type="http://schemas.openxmlformats.org/officeDocument/2006/relationships/font" Target="fonts/Montserrat-boldItalic.fntdata"/><Relationship Id="rId23" Type="http://schemas.openxmlformats.org/officeDocument/2006/relationships/font" Target="fonts/MontserratBlack-bold.fntdata"/><Relationship Id="rId24" Type="http://schemas.openxmlformats.org/officeDocument/2006/relationships/font" Target="fonts/MontserratBlack-boldItalic.fntdata"/><Relationship Id="rId25" Type="http://schemas.openxmlformats.org/officeDocument/2006/relationships/font" Target="fonts/MontserratExtraBold-bold.fntdata"/><Relationship Id="rId26" Type="http://schemas.openxmlformats.org/officeDocument/2006/relationships/font" Target="fonts/MontserratExtraBold-boldItalic.fntdata"/><Relationship Id="rId27" Type="http://schemas.openxmlformats.org/officeDocument/2006/relationships/slide" Target="slides/slide14.xml"/><Relationship Id="rId28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1" type="title">
  <p:cSld name="TITLE">
    <p:bg>
      <p:bgPr>
        <a:solidFill>
          <a:srgbClr val="57068C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11" name="Google Shape;1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2">
  <p:cSld name="TITLE_1">
    <p:bg>
      <p:bgPr>
        <a:solidFill>
          <a:srgbClr val="57068C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4">
  <p:cSld name="TITLE_1_1_1">
    <p:bg>
      <p:bgPr>
        <a:solidFill>
          <a:srgbClr val="57068C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23" name="Google Shape;2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5">
  <p:cSld name="TITLE_1_1_1_1">
    <p:bg>
      <p:bgPr>
        <a:solidFill>
          <a:srgbClr val="57068C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29" name="Google Shape;2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rgbClr val="57068C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7" cy="5143487"/>
          </a:xfrm>
          <a:prstGeom prst="rect">
            <a:avLst/>
          </a:prstGeom>
          <a:noFill/>
          <a:ln>
            <a:noFill/>
          </a:ln>
        </p:spPr>
      </p:pic>
      <p:cxnSp>
        <p:nvCxnSpPr>
          <p:cNvPr descr=" " id="34" name="Google Shape;34;p6"/>
          <p:cNvCxnSpPr/>
          <p:nvPr/>
        </p:nvCxnSpPr>
        <p:spPr>
          <a:xfrm>
            <a:off x="407168" y="2618527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 " id="35" name="Google Shape;3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"/>
          <p:cNvSpPr txBox="1"/>
          <p:nvPr>
            <p:ph type="title"/>
          </p:nvPr>
        </p:nvSpPr>
        <p:spPr>
          <a:xfrm>
            <a:off x="316950" y="457200"/>
            <a:ext cx="8520600" cy="18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6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7" name="Google Shape;37;p6"/>
          <p:cNvSpPr txBox="1"/>
          <p:nvPr>
            <p:ph idx="1" type="subTitle"/>
          </p:nvPr>
        </p:nvSpPr>
        <p:spPr>
          <a:xfrm>
            <a:off x="316950" y="2938025"/>
            <a:ext cx="4031700" cy="47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8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311700" y="1152475"/>
            <a:ext cx="3345900" cy="319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4114800" y="1175683"/>
            <a:ext cx="4192800" cy="31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 " id="42" name="Google Shape;42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2592">
          <p15:clr>
            <a:srgbClr val="FA7B17"/>
          </p15:clr>
        </p15:guide>
        <p15:guide id="2" pos="2304">
          <p15:clr>
            <a:srgbClr val="FA7B17"/>
          </p15:clr>
        </p15:guide>
        <p15:guide id="3" orient="horz" pos="720">
          <p15:clr>
            <a:srgbClr val="FA7B17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/>
          <p:nvPr>
            <p:ph type="title"/>
          </p:nvPr>
        </p:nvSpPr>
        <p:spPr>
          <a:xfrm>
            <a:off x="311700" y="445025"/>
            <a:ext cx="8424900" cy="114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pic>
        <p:nvPicPr>
          <p:cNvPr descr=" " id="46" name="Google Shape;46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 txBox="1"/>
          <p:nvPr>
            <p:ph idx="1" type="body"/>
          </p:nvPr>
        </p:nvSpPr>
        <p:spPr>
          <a:xfrm>
            <a:off x="1376250" y="1828800"/>
            <a:ext cx="3330300" cy="244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8" name="Google Shape;48;p8"/>
          <p:cNvSpPr txBox="1"/>
          <p:nvPr>
            <p:ph idx="2" type="body"/>
          </p:nvPr>
        </p:nvSpPr>
        <p:spPr>
          <a:xfrm>
            <a:off x="5051175" y="1828800"/>
            <a:ext cx="3330300" cy="244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152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pic>
        <p:nvPicPr>
          <p:cNvPr descr=" " id="53" name="Google Shape;53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5" name="Google Shape;5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/>
          <p:nvPr>
            <p:ph type="title"/>
          </p:nvPr>
        </p:nvSpPr>
        <p:spPr>
          <a:xfrm>
            <a:off x="311700" y="426408"/>
            <a:ext cx="4308300" cy="10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sp>
        <p:nvSpPr>
          <p:cNvPr id="58" name="Google Shape;58;p10"/>
          <p:cNvSpPr txBox="1"/>
          <p:nvPr>
            <p:ph idx="1" type="body"/>
          </p:nvPr>
        </p:nvSpPr>
        <p:spPr>
          <a:xfrm>
            <a:off x="311700" y="1646230"/>
            <a:ext cx="3350400" cy="24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descr=" " id="59" name="Google Shape;59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0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1" name="Google Shape;6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rgbClr val="FFFFFF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1"/>
          <p:cNvSpPr txBox="1"/>
          <p:nvPr>
            <p:ph type="title"/>
          </p:nvPr>
        </p:nvSpPr>
        <p:spPr>
          <a:xfrm>
            <a:off x="407175" y="450150"/>
            <a:ext cx="8329500" cy="382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6000"/>
              <a:buFont typeface="Montserrat Black"/>
              <a:buNone/>
              <a:defRPr sz="6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pic>
        <p:nvPicPr>
          <p:cNvPr descr=" " id="65" name="Google Shape;6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1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8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 " id="68" name="Google Shape;68;p1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2"/>
          <p:cNvSpPr txBox="1"/>
          <p:nvPr>
            <p:ph type="title"/>
          </p:nvPr>
        </p:nvSpPr>
        <p:spPr>
          <a:xfrm>
            <a:off x="294375" y="1233175"/>
            <a:ext cx="40791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0" name="Google Shape;70;p12"/>
          <p:cNvSpPr txBox="1"/>
          <p:nvPr>
            <p:ph idx="1" type="subTitle"/>
          </p:nvPr>
        </p:nvSpPr>
        <p:spPr>
          <a:xfrm>
            <a:off x="294375" y="2803075"/>
            <a:ext cx="39558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6ABA"/>
              </a:buClr>
              <a:buSzPts val="1800"/>
              <a:buNone/>
              <a:defRPr>
                <a:solidFill>
                  <a:srgbClr val="9A6ABA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1" name="Google Shape;71;p12"/>
          <p:cNvSpPr txBox="1"/>
          <p:nvPr>
            <p:ph idx="2" type="body"/>
          </p:nvPr>
        </p:nvSpPr>
        <p:spPr>
          <a:xfrm>
            <a:off x="4939500" y="724075"/>
            <a:ext cx="3837000" cy="3551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descr=" " id="72" name="Google Shape;72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2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alf-page image">
  <p:cSld name="CUSTOM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75" name="Google Shape;75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3"/>
          <p:cNvSpPr txBox="1"/>
          <p:nvPr>
            <p:ph type="title"/>
          </p:nvPr>
        </p:nvSpPr>
        <p:spPr>
          <a:xfrm>
            <a:off x="311700" y="445025"/>
            <a:ext cx="3803100" cy="114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sp>
        <p:nvSpPr>
          <p:cNvPr id="77" name="Google Shape;77;p13"/>
          <p:cNvSpPr txBox="1"/>
          <p:nvPr>
            <p:ph idx="1" type="body"/>
          </p:nvPr>
        </p:nvSpPr>
        <p:spPr>
          <a:xfrm>
            <a:off x="311700" y="2750150"/>
            <a:ext cx="3466500" cy="152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78" name="Google Shape;78;p13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81" name="Google Shape;81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4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" name="Google Shape;83;p14"/>
          <p:cNvSpPr txBox="1"/>
          <p:nvPr>
            <p:ph type="title"/>
          </p:nvPr>
        </p:nvSpPr>
        <p:spPr>
          <a:xfrm>
            <a:off x="311700" y="3564945"/>
            <a:ext cx="44913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None/>
              <a:defRPr sz="14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1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5"/>
          <p:cNvSpPr txBox="1"/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88" name="Google Shape;88;p15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0" name="Google Shape;90;p15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">
  <p:cSld name="CUSTOM_1_1">
    <p:bg>
      <p:bgPr>
        <a:solidFill>
          <a:schemeClr val="dk1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6"/>
          <p:cNvSpPr txBox="1"/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95" name="Google Shape;95;p16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96" name="Google Shape;96;p16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" name="Google Shape;97;p16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 1">
  <p:cSld name="CUSTOM_1_1_1"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02" name="Google Shape;102;p17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103" name="Google Shape;103;p17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" name="Google Shape;104;p1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/>
          <p:nvPr>
            <p:ph hasCustomPrompt="1" type="title"/>
          </p:nvPr>
        </p:nvSpPr>
        <p:spPr>
          <a:xfrm>
            <a:off x="311700" y="407700"/>
            <a:ext cx="8520600" cy="19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5000"/>
              <a:buFont typeface="Montserrat Black"/>
              <a:buNone/>
              <a:defRPr sz="15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7" name="Google Shape;107;p18"/>
          <p:cNvSpPr txBox="1"/>
          <p:nvPr>
            <p:ph idx="1" type="body"/>
          </p:nvPr>
        </p:nvSpPr>
        <p:spPr>
          <a:xfrm>
            <a:off x="2475675" y="3360362"/>
            <a:ext cx="4192800" cy="71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descr=" " id="108" name="Google Shape;10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" name="Google Shape;110;p18"/>
          <p:cNvSpPr txBox="1"/>
          <p:nvPr>
            <p:ph idx="2" type="subTitle"/>
          </p:nvPr>
        </p:nvSpPr>
        <p:spPr>
          <a:xfrm>
            <a:off x="407175" y="2537800"/>
            <a:ext cx="8329200" cy="71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pic>
        <p:nvPicPr>
          <p:cNvPr id="111" name="Google Shape;11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folio" type="blank">
  <p:cSld name="BLANK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3" name="Google Shape;113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ExtraBold"/>
              <a:buNone/>
              <a:defRPr sz="4200">
                <a:solidFill>
                  <a:srgbClr val="57068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424900" cy="31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800"/>
              <a:buFont typeface="Montserrat"/>
              <a:buChar char="●"/>
              <a:defRPr sz="18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6">
          <p15:clr>
            <a:srgbClr val="EA4335"/>
          </p15:clr>
        </p15:guide>
        <p15:guide id="2" orient="horz" pos="3025">
          <p15:clr>
            <a:srgbClr val="EA4335"/>
          </p15:clr>
        </p15:guide>
        <p15:guide id="3" pos="5503">
          <p15:clr>
            <a:srgbClr val="EA4335"/>
          </p15:clr>
        </p15:guide>
        <p15:guide id="4" orient="horz" pos="2693">
          <p15:clr>
            <a:srgbClr val="EA4335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6000" b="1" i="0">
                <a:solidFill>
                  <a:srgbClr val="FFFFFF"/>
                </a:solidFill>
                <a:latin typeface="Arial"/>
              </a:rPr>
              <a:t>OSS PULSE</a:t>
            </a:r>
          </a:p>
          <a:p>
            <a:pPr>
              <a:buNone/>
            </a:pPr>
            <a:r>
              <a:rPr sz="2800" b="0" i="0">
                <a:solidFill>
                  <a:srgbClr val="FFFFFF"/>
                </a:solidFill>
                <a:latin typeface="Arial"/>
              </a:rPr>
              <a:t>From Hype to Health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buNone/>
            </a:pPr>
            <a:r>
              <a:rPr sz="1300" b="0" i="0">
                <a:solidFill>
                  <a:srgbClr val="E6CFFF"/>
                </a:solidFill>
                <a:latin typeface="Arial"/>
              </a:rPr>
              <a:t>Measuring AI open-source ecosystem health across GitHub, Hugging Face &amp; PyPI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>
              <a:buNone/>
            </a:pPr>
            <a:r>
              <a:rPr sz="1000" b="1" i="0">
                <a:solidFill>
                  <a:srgbClr val="FFFFFF"/>
                </a:solidFill>
                <a:latin typeface="Arial"/>
              </a:rPr>
              <a:t>GROUP 9  ·  BIG DATA ANALYTICS  ·  SPRING 2026</a:t>
            </a:r>
          </a:p>
          <a:p>
            <a:pPr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Jhe Chen Li · Bo Yu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E6CFFF"/>
                </a:solidFill>
                <a:latin typeface="Arial"/>
              </a:rPr>
              <a:t>THE OPENING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3400" b="1" i="0">
                <a:solidFill>
                  <a:srgbClr val="FFFFFF"/>
                </a:solidFill>
                <a:latin typeface="Arial"/>
              </a:rPr>
              <a:t>What does “healthy” open source actually look like?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7315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E6CFFF"/>
                </a:solidFill>
                <a:latin typeface="Arial"/>
              </a:rPr>
              <a:t>Take Ollama in 2025  —  one project, two stories.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21945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E6CFFF"/>
                </a:solidFill>
                <a:latin typeface="Arial"/>
              </a:rPr>
              <a:t>GITHUB STARS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660904"/>
            <a:ext cx="4023360" cy="182880"/>
          </a:xfrm>
          <a:prstGeom prst="rect">
            <a:avLst/>
          </a:prstGeom>
          <a:solidFill>
            <a:srgbClr val="774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2660904"/>
            <a:ext cx="402336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606040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44,259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21945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E6CFFF"/>
                </a:solidFill>
                <a:latin typeface="Arial"/>
              </a:rPr>
              <a:t>HF MODEL DOWNLOADS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3163824"/>
            <a:ext cx="4023360" cy="182880"/>
          </a:xfrm>
          <a:prstGeom prst="rect">
            <a:avLst/>
          </a:prstGeom>
          <a:solidFill>
            <a:srgbClr val="774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3163824"/>
            <a:ext cx="24140" cy="182880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3108960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buNone/>
            </a:pPr>
            <a:r>
              <a:rPr sz="1500" b="1" i="0">
                <a:solidFill>
                  <a:srgbClr val="E24A4A"/>
                </a:solidFill>
                <a:latin typeface="Arial"/>
              </a:rPr>
              <a:t>241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Stars measure attention. </a:t>
            </a:r>
            <a:r>
              <a:rPr sz="1500" b="0" i="0">
                <a:solidFill>
                  <a:srgbClr val="E6CFFF"/>
                </a:solidFill>
                <a:latin typeface="Arial"/>
              </a:rPr>
              <a:t>Adoption — and therefore health — needs better signals.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buNone/>
            </a:pPr>
            <a:r>
              <a:rPr sz="1000" b="1" i="0">
                <a:solidFill>
                  <a:srgbClr val="FFFFFF"/>
                </a:solidFill>
                <a:latin typeface="Arial"/>
              </a:rPr>
              <a:t>OSS PULSE  /  GROUP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TRIANGULATING OPEN-SOURCE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Three independent signals · one Spark pipeline · one composite score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2663952" cy="12801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18872" cy="128016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463040"/>
            <a:ext cx="23347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GITHUB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37360"/>
            <a:ext cx="2334768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Community engagement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975104"/>
            <a:ext cx="2334768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Watch · Push · PR · Issue 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359152"/>
            <a:ext cx="23347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146M events  ·  485 days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24" y="1371600"/>
            <a:ext cx="2663952" cy="12801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24" y="1371600"/>
            <a:ext cx="118872" cy="128016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1192" y="1463040"/>
            <a:ext cx="23347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1192" y="1737360"/>
            <a:ext cx="2334768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Model adoption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1192" y="1975104"/>
            <a:ext cx="2334768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Model metadata snapshot via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1192" y="2359152"/>
            <a:ext cx="23347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2.81M models  ·  Apr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8568" y="1371600"/>
            <a:ext cx="2663952" cy="12801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68568" y="1371600"/>
            <a:ext cx="118872" cy="128016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9736" y="1463040"/>
            <a:ext cx="23347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9736" y="1737360"/>
            <a:ext cx="2334768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Engineering usage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9736" y="1975104"/>
            <a:ext cx="2334768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Library installs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9736" y="2359152"/>
            <a:ext cx="23347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46 libs × 12 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2788920"/>
            <a:ext cx="2468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PIPELINE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081528"/>
            <a:ext cx="1920240" cy="3657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081528"/>
            <a:ext cx="1920240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081528"/>
            <a:ext cx="192024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Ingest (HDFS)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6292" y="3081528"/>
            <a:ext cx="100584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8900E1"/>
                </a:solidFill>
                <a:latin typeface="Arial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41448" y="3081528"/>
            <a:ext cx="1920240" cy="36576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441448" y="3081528"/>
            <a:ext cx="1920240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41448" y="3081528"/>
            <a:ext cx="192024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Spark · YARN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6260" y="3081528"/>
            <a:ext cx="100584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8900E1"/>
                </a:solidFill>
                <a:latin typeface="Arial"/>
              </a:rPr>
              <a:t>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1416" y="3081528"/>
            <a:ext cx="1920240" cy="3657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71416" y="3081528"/>
            <a:ext cx="1920240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71416" y="3081528"/>
            <a:ext cx="192024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Health Score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6228" y="3081528"/>
            <a:ext cx="100584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8900E1"/>
                </a:solidFill>
                <a:latin typeface="Arial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01384" y="3081528"/>
            <a:ext cx="1920240" cy="3657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01384" y="3081528"/>
            <a:ext cx="1920240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01384" y="3081528"/>
            <a:ext cx="192024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Tableau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3703320"/>
            <a:ext cx="4572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HEALTH SCORE  =  Σ log1p(metric_i) × weight_i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995928"/>
            <a:ext cx="2496312" cy="329184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995928"/>
            <a:ext cx="2496312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950" b="1" i="0">
                <a:solidFill>
                  <a:srgbClr val="FFFFFF"/>
                </a:solidFill>
                <a:latin typeface="Arial"/>
              </a:rPr>
              <a:t>HF DL 30%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07792" y="3995928"/>
            <a:ext cx="1664208" cy="329184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07792" y="3995928"/>
            <a:ext cx="1664208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950" b="1" i="0">
                <a:solidFill>
                  <a:srgbClr val="FFFFFF"/>
                </a:solidFill>
                <a:latin typeface="Arial"/>
              </a:rPr>
              <a:t>PyPI 20%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3995928"/>
            <a:ext cx="1248156" cy="329184"/>
          </a:xfrm>
          <a:prstGeom prst="rect">
            <a:avLst/>
          </a:prstGeom>
          <a:solidFill>
            <a:srgbClr val="9A6A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0" y="3995928"/>
            <a:ext cx="1248156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GH stars 15%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20156" y="3995928"/>
            <a:ext cx="1248156" cy="329184"/>
          </a:xfrm>
          <a:prstGeom prst="rect">
            <a:avLst/>
          </a:prstGeom>
          <a:solidFill>
            <a:srgbClr val="C19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20156" y="3995928"/>
            <a:ext cx="1248156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Pushes 15%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68312" y="3995928"/>
            <a:ext cx="832104" cy="329184"/>
          </a:xfrm>
          <a:prstGeom prst="rect">
            <a:avLst/>
          </a:prstGeom>
          <a:solidFill>
            <a:srgbClr val="D9B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68312" y="3995928"/>
            <a:ext cx="832104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PRs 10%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00416" y="3995928"/>
            <a:ext cx="832104" cy="329184"/>
          </a:xfrm>
          <a:prstGeom prst="rect">
            <a:avLst/>
          </a:prstGeom>
          <a:solidFill>
            <a:srgbClr val="EAD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00416" y="3995928"/>
            <a:ext cx="832104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Active 10%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0" y="4498848"/>
            <a:ext cx="64465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buNone/>
            </a:pPr>
            <a:r>
              <a:rPr sz="950" b="0" i="1">
                <a:solidFill>
                  <a:srgbClr val="555566"/>
                </a:solidFill>
                <a:latin typeface="Arial"/>
              </a:rPr>
              <a:t>Extends OpenSSF Criticality Score with HF + PyPI adoption dimensions.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ENGINEERING CHALLENGE · JL17797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HDFS quota &amp; era comparison — surviving 5 years of Q1 in 500 GB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4160520" cy="38404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397764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ROLLING INGEST  ·  500 GB QUOTA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920240"/>
            <a:ext cx="3758184" cy="2240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Problem</a:t>
            </a:r>
          </a:p>
          <a:p>
            <a:pPr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5 years × Q1 raw ≈ 700 GB needed but HDFS quota is 500 GB hard. Plus 3,624 hourly files for the 5-month freshness gap (Dec 2025 – Apr 2026).</a:t>
            </a:r>
          </a:p>
          <a:p>
            <a:pPr>
              <a:spcAft>
                <a:spcPts val="200"/>
              </a:spcAft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Fix</a:t>
            </a:r>
          </a:p>
          <a:p>
            <a:pPr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Stream curl → hdfs put directly (no /tmp); resume with one hdfs ls + local grep. Then process one year at a time — Spark clean → delete raw → next year. Cleaned Parquet is 8× smaller than raw .gz.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4069080"/>
            <a:ext cx="375818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950" b="0" i="1">
                <a:solidFill>
                  <a:srgbClr val="57068C"/>
                </a:solidFill>
                <a:latin typeface="Arial"/>
              </a:rPr>
              <a:t>Outcome: 5-year timeline ingested within 500 GB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41732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1417320"/>
            <a:ext cx="4160520" cy="38404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417320"/>
            <a:ext cx="397764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ERA COMPARISON  ·  PER-ERA REWRITE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1874520"/>
            <a:ext cx="3758184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Job 08 aggregates 90 GB on 48 GB executors. Naive cache-all spilled to disk; YARN killed it after 1.5 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423160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423160"/>
            <a:ext cx="11887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Union-first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423160"/>
            <a:ext cx="13258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Per-era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2692400"/>
            <a:ext cx="3758184" cy="76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2743200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Peak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743200"/>
            <a:ext cx="11887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90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2743200"/>
            <a:ext cx="13258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15-23 GB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56048" y="301244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56048" y="3017520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017520"/>
            <a:ext cx="11887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2-3 h (killed)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3017520"/>
            <a:ext cx="13258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40-60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56048" y="328676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6048" y="3291840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Blast radius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91840"/>
            <a:ext cx="11887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All eras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3291840"/>
            <a:ext cx="13258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Only failed era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356108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56048" y="3566160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Shuffle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566160"/>
            <a:ext cx="11887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90 GB / 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3566160"/>
            <a:ext cx="13258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15-23 GB / pass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56048" y="383540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56048" y="4069080"/>
            <a:ext cx="375818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950" b="0" i="1">
                <a:solidFill>
                  <a:srgbClr val="57068C"/>
                </a:solidFill>
                <a:latin typeface="Arial"/>
              </a:rPr>
              <a:t>Plus: countDistinct(pr_number) fixes PR double-count.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ENGINEERING CHALLENGE · BY2566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Billion-record shuffle — group by repo across 334 date partitions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956816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463040"/>
            <a:ext cx="1956816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72 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20240"/>
            <a:ext cx="195681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32888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32888" y="1371600"/>
            <a:ext cx="1956816" cy="64008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32888" y="1463040"/>
            <a:ext cx="1956816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2400" b="1" i="0">
                <a:solidFill>
                  <a:srgbClr val="E24A4A"/>
                </a:solidFill>
                <a:latin typeface="Arial"/>
              </a:rPr>
              <a:t>83 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2888" y="1920240"/>
            <a:ext cx="195681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SHUFFLE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54296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54296" y="1371600"/>
            <a:ext cx="1956816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1463040"/>
            <a:ext cx="1956816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2400" b="1" i="0">
                <a:solidFill>
                  <a:srgbClr val="8900E1"/>
                </a:solidFill>
                <a:latin typeface="Arial"/>
              </a:rPr>
              <a:t>1B+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1920240"/>
            <a:ext cx="195681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RECORDS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75704" y="1371600"/>
            <a:ext cx="1956816" cy="64008"/>
          </a:xfrm>
          <a:prstGeom prst="rect">
            <a:avLst/>
          </a:prstGeom>
          <a:solidFill>
            <a:srgbClr val="33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75704" y="1463040"/>
            <a:ext cx="1956816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2400" b="1" i="0">
                <a:solidFill>
                  <a:srgbClr val="330066"/>
                </a:solidFill>
                <a:latin typeface="Arial"/>
              </a:rPr>
              <a:t>3+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5704" y="1920240"/>
            <a:ext cx="195681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WALL CLOCK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423160"/>
            <a:ext cx="4078224" cy="19202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532888"/>
            <a:ext cx="371246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WHAT WE DID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807208"/>
            <a:ext cx="3712464" cy="1463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•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Tuned </a:t>
            </a:r>
            <a:r>
              <a:rPr sz="1100" b="0" i="0">
                <a:solidFill>
                  <a:srgbClr val="1E1E28"/>
                </a:solidFill>
                <a:latin typeface="Consolas"/>
              </a:rPr>
              <a:t>spark.sql.shuffle.partitions</a:t>
            </a:r>
            <a:r>
              <a:rPr sz="1100" b="0" i="0">
                <a:solidFill>
                  <a:srgbClr val="1E1E28"/>
                </a:solidFill>
                <a:latin typeface="Arial"/>
              </a:rPr>
              <a:t> to cluster size</a:t>
            </a:r>
          </a:p>
          <a:p>
            <a:pPr>
              <a:spcAft>
                <a:spcPts val="4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•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.cache() on aggregated DataFrame so multi-write actions don’t re-shuffle (3× redundancy gone)</a:t>
            </a:r>
          </a:p>
          <a:p>
            <a:pPr>
              <a:spcAft>
                <a:spcPts val="4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•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Replaced Python UDFs with native </a:t>
            </a:r>
            <a:r>
              <a:rPr sz="1100" b="0" i="0">
                <a:solidFill>
                  <a:srgbClr val="1E1E28"/>
                </a:solidFill>
                <a:latin typeface="Consolas"/>
              </a:rPr>
              <a:t>F.col().isin()</a:t>
            </a:r>
            <a:r>
              <a:rPr sz="1100" b="0" i="0">
                <a:solidFill>
                  <a:srgbClr val="1E1E28"/>
                </a:solidFill>
                <a:latin typeface="Arial"/>
              </a:rPr>
              <a:t> — zero JVM↔Python serialization</a:t>
            </a:r>
          </a:p>
          <a:p>
            <a:pPr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•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Restructured Jobs 05–07 to read pre-aggregated Job 04 output instead of raw events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54296" y="2423160"/>
            <a:ext cx="4078224" cy="19202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7176" y="2532888"/>
            <a:ext cx="371246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WHAT WE’D DO DIFFERENTLY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7176" y="2807208"/>
            <a:ext cx="3712464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Bucket cleaned data by repo_name at ingest:</a:t>
            </a:r>
          </a:p>
          <a:p>
            <a:pPr>
              <a:spcAft>
                <a:spcPts val="600"/>
              </a:spcAft>
              <a:buNone/>
            </a:pPr>
            <a:r>
              <a:rPr sz="1000" b="0" i="0">
                <a:solidFill>
                  <a:srgbClr val="1E1E28"/>
                </a:solidFill>
                <a:latin typeface="Consolas"/>
              </a:rPr>
              <a:t>cleaned.write
  .bucketBy(256, "repo_name")
  .sortBy("repo_name")
  .saveAsTable("gharchive_cleaned")</a:t>
            </a:r>
          </a:p>
          <a:p>
            <a:pPr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Eliminates the 83 GB shuffle in Job 04 entirely</a:t>
            </a:r>
            <a:r>
              <a:rPr sz="1100" b="0" i="0">
                <a:solidFill>
                  <a:srgbClr val="1E1E28"/>
                </a:solidFill>
                <a:latin typeface="Arial"/>
              </a:rPr>
              <a:t> — hours → minutes.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4498848"/>
            <a:ext cx="64465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Lesson — at billion-record scale, network I/O dominates compute. Partition strategy at ingest determines query cost.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E6CFFF"/>
                </a:solidFill>
                <a:latin typeface="Arial"/>
              </a:rPr>
              <a:t>ACT 03  ·  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3600" b="1" i="0">
                <a:solidFill>
                  <a:srgbClr val="FFFFFF"/>
                </a:solidFill>
                <a:latin typeface="Arial"/>
              </a:rPr>
              <a:t>Nine findings, one 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E6CFFF"/>
                </a:solidFill>
                <a:latin typeface="Arial"/>
              </a:rPr>
              <a:t>From debunking GitHub stars to identifying the patterns of genuinely healthy projects.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438400" cy="579120"/>
          </a:xfrm>
          <a:prstGeom prst="roundRect">
            <a:avLst/>
          </a:prstGeom>
          <a:solidFill>
            <a:srgbClr val="6B1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04872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E6CFFF"/>
                </a:solidFill>
                <a:latin typeface="Arial"/>
              </a:rPr>
              <a:t>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04872"/>
            <a:ext cx="16611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The 3-way Champion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97480"/>
            <a:ext cx="2109216" cy="121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E6CFFF"/>
                </a:solidFill>
                <a:latin typeface="Arial"/>
              </a:rPr>
              <a:t>transformers · 14.68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800" y="2331720"/>
            <a:ext cx="2438400" cy="579120"/>
          </a:xfrm>
          <a:prstGeom prst="roundRect">
            <a:avLst/>
          </a:prstGeom>
          <a:solidFill>
            <a:srgbClr val="6B1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7392" y="2404872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E6CFFF"/>
                </a:solidFill>
                <a:latin typeface="Arial"/>
              </a:rPr>
              <a:t>F2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47160" y="2404872"/>
            <a:ext cx="16611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Hype ≠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7392" y="2697480"/>
            <a:ext cx="2109216" cy="121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E6CFFF"/>
                </a:solidFill>
                <a:latin typeface="Arial"/>
              </a:rPr>
              <a:t>Ollama · DeepSeek case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5520" y="2331720"/>
            <a:ext cx="2438400" cy="579120"/>
          </a:xfrm>
          <a:prstGeom prst="roundRect">
            <a:avLst/>
          </a:prstGeom>
          <a:solidFill>
            <a:srgbClr val="6B1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0112" y="2404872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E6CFFF"/>
                </a:solidFill>
                <a:latin typeface="Arial"/>
              </a:rPr>
              <a:t>F3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9880" y="2404872"/>
            <a:ext cx="16611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Quiet Powerhouse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0112" y="2697480"/>
            <a:ext cx="2109216" cy="121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E6CFFF"/>
                </a:solidFill>
                <a:latin typeface="Arial"/>
              </a:rPr>
              <a:t>327,014× efficiency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3720"/>
            <a:ext cx="2438400" cy="579120"/>
          </a:xfrm>
          <a:prstGeom prst="roundRect">
            <a:avLst/>
          </a:prstGeom>
          <a:solidFill>
            <a:srgbClr val="6B1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166872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E6CFFF"/>
                </a:solidFill>
                <a:latin typeface="Arial"/>
              </a:rPr>
              <a:t>F4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166872"/>
            <a:ext cx="16611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Two Universes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3459480"/>
            <a:ext cx="2109216" cy="121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E6CFFF"/>
                </a:solidFill>
                <a:latin typeface="Arial"/>
              </a:rPr>
              <a:t>scikit-learn vs LLM stack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52800" y="3093720"/>
            <a:ext cx="2438400" cy="579120"/>
          </a:xfrm>
          <a:prstGeom prst="roundRect">
            <a:avLst/>
          </a:prstGeom>
          <a:solidFill>
            <a:srgbClr val="6B1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7392" y="3166872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E6CFFF"/>
                </a:solidFill>
                <a:latin typeface="Arial"/>
              </a:rPr>
              <a:t>F5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47160" y="3166872"/>
            <a:ext cx="16611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Stars: Worst Predictor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17392" y="3459480"/>
            <a:ext cx="2109216" cy="121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E6CFFF"/>
                </a:solidFill>
                <a:latin typeface="Arial"/>
              </a:rPr>
              <a:t>top-3 health rank low on stars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65520" y="3093720"/>
            <a:ext cx="2438400" cy="579120"/>
          </a:xfrm>
          <a:prstGeom prst="roundRect">
            <a:avLst/>
          </a:prstGeom>
          <a:solidFill>
            <a:srgbClr val="6B1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0112" y="3166872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E6CFFF"/>
                </a:solidFill>
                <a:latin typeface="Arial"/>
              </a:rPr>
              <a:t>F6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9880" y="3166872"/>
            <a:ext cx="16611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Spike Patterns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0112" y="3459480"/>
            <a:ext cx="2109216" cy="121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E6CFFF"/>
                </a:solidFill>
                <a:latin typeface="Arial"/>
              </a:rPr>
              <a:t>AI grows steadily, not virally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855720"/>
            <a:ext cx="2438400" cy="579120"/>
          </a:xfrm>
          <a:prstGeom prst="roundRect">
            <a:avLst/>
          </a:prstGeom>
          <a:solidFill>
            <a:srgbClr val="6B1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3928872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E6CFFF"/>
                </a:solidFill>
                <a:latin typeface="Arial"/>
              </a:rPr>
              <a:t>F7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3928872"/>
            <a:ext cx="16611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Bus-Factor Decoded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4221480"/>
            <a:ext cx="2109216" cy="121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E6CFFF"/>
                </a:solidFill>
                <a:latin typeface="Arial"/>
              </a:rPr>
              <a:t>concentration ≠ risk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52800" y="3855720"/>
            <a:ext cx="2438400" cy="579120"/>
          </a:xfrm>
          <a:prstGeom prst="roundRect">
            <a:avLst/>
          </a:prstGeom>
          <a:solidFill>
            <a:srgbClr val="6B1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17392" y="3928872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E6CFFF"/>
                </a:solidFill>
                <a:latin typeface="Arial"/>
              </a:rPr>
              <a:t>F8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7160" y="3928872"/>
            <a:ext cx="16611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Audience vs Builders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17392" y="4221480"/>
            <a:ext cx="2109216" cy="121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E6CFFF"/>
                </a:solidFill>
                <a:latin typeface="Arial"/>
              </a:rPr>
              <a:t>stars ≠ push contributors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65520" y="3855720"/>
            <a:ext cx="2438400" cy="579120"/>
          </a:xfrm>
          <a:prstGeom prst="roundRect">
            <a:avLst/>
          </a:prstGeom>
          <a:solidFill>
            <a:srgbClr val="6B1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0112" y="3928872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E6CFFF"/>
                </a:solidFill>
                <a:latin typeface="Arial"/>
              </a:rPr>
              <a:t>F9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59880" y="3928872"/>
            <a:ext cx="16611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The Healthy Pattern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0112" y="4221480"/>
            <a:ext cx="2109216" cy="121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E6CFFF"/>
                </a:solidFill>
                <a:latin typeface="Arial"/>
              </a:rPr>
              <a:t>low concentration · multi-source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buNone/>
            </a:pPr>
            <a:r>
              <a:rPr sz="1000" b="1" i="0">
                <a:solidFill>
                  <a:srgbClr val="FFFFFF"/>
                </a:solidFill>
                <a:latin typeface="Arial"/>
              </a:rPr>
              <a:t>OSS PULSE  /  GROUP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F2 · HYPE ≠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When stars dominate the conversation but the ecosystem stays empty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08760"/>
            <a:ext cx="4160520" cy="320040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73352"/>
            <a:ext cx="37033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800" b="1" i="0">
                <a:solidFill>
                  <a:srgbClr val="57068C"/>
                </a:solidFill>
                <a:latin typeface="Arial"/>
              </a:rPr>
              <a:t>OLLAMA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37033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GitHub stars (2025)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50592"/>
            <a:ext cx="3703320" cy="164592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450592"/>
            <a:ext cx="3703320" cy="164592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3703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44,259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7033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HF model downloads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64992"/>
            <a:ext cx="3703320" cy="164592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64992"/>
            <a:ext cx="18516" cy="164592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3703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buNone/>
            </a:pPr>
            <a:r>
              <a:rPr sz="1300" b="1" i="0">
                <a:solidFill>
                  <a:srgbClr val="E24A4A"/>
                </a:solidFill>
                <a:latin typeface="Arial"/>
              </a:rPr>
              <a:t>241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370332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1E1E28"/>
                </a:solidFill>
                <a:latin typeface="Arial"/>
              </a:rPr>
              <a:t>Most-starred project in our set, yet practically zero model adoption — a local-execution tool whose stars vastly overstate ecosystem reach.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508760"/>
            <a:ext cx="4160520" cy="320040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1673352"/>
            <a:ext cx="37033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800" b="1" i="0">
                <a:solidFill>
                  <a:srgbClr val="57068C"/>
                </a:solidFill>
                <a:latin typeface="Arial"/>
              </a:rPr>
              <a:t>DEEPSEEK-R1 / V3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2240280"/>
            <a:ext cx="37033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Top-1000 stars rank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2450592"/>
            <a:ext cx="3703320" cy="164592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2450592"/>
            <a:ext cx="3518154" cy="164592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2651760"/>
            <a:ext cx="3703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#2 / 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3154680"/>
            <a:ext cx="370332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Health score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3364992"/>
            <a:ext cx="3703320" cy="164592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83480" y="3364992"/>
            <a:ext cx="148132" cy="164592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80" y="3566160"/>
            <a:ext cx="3703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buNone/>
            </a:pPr>
            <a:r>
              <a:rPr sz="1300" b="1" i="0">
                <a:solidFill>
                  <a:srgbClr val="E24A4A"/>
                </a:solidFill>
                <a:latin typeface="Arial"/>
              </a:rPr>
              <a:t>ABSENT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3840480"/>
            <a:ext cx="370332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1E1E28"/>
                </a:solidFill>
                <a:latin typeface="Arial"/>
              </a:rPr>
              <a:t>86 K + 93 K stars · 93 K distinct actors. Pure model-release hype — no PyPI library, no downstream tool ecosystem to support a score.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F3 + F5 · STARS HIDE THE REAL WINNERS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High-impact projects often go viral elsewhere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8321040" cy="15544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18872" cy="155448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F3 · QUIET POWERHOUSE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65760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4800" b="1" i="0">
                <a:solidFill>
                  <a:srgbClr val="57068C"/>
                </a:solidFill>
                <a:latin typeface="Arial"/>
              </a:rPr>
              <a:t>327,014×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645920"/>
            <a:ext cx="429768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HF DOWNLOADS PER GITHUB STAR</a:t>
            </a:r>
          </a:p>
          <a:p>
            <a:pPr>
              <a:spcAft>
                <a:spcPts val="400"/>
              </a:spcAft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sentence-transformers </a:t>
            </a:r>
            <a:r>
              <a:rPr sz="1200" b="0" i="0">
                <a:solidFill>
                  <a:srgbClr val="1E1E28"/>
                </a:solidFill>
                <a:latin typeface="Arial"/>
              </a:rPr>
              <a:t>gained only </a:t>
            </a:r>
            <a:r>
              <a:rPr sz="1200" b="1" i="0">
                <a:solidFill>
                  <a:srgbClr val="8900E1"/>
                </a:solidFill>
                <a:latin typeface="Arial"/>
              </a:rPr>
              <a:t>1,588 </a:t>
            </a:r>
            <a:r>
              <a:rPr sz="1200" b="0" i="0">
                <a:solidFill>
                  <a:srgbClr val="1E1E28"/>
                </a:solidFill>
                <a:latin typeface="Arial"/>
              </a:rPr>
              <a:t>new stars in 2025 — yet logged </a:t>
            </a:r>
            <a:r>
              <a:rPr sz="1200" b="1" i="0">
                <a:solidFill>
                  <a:srgbClr val="8900E1"/>
                </a:solidFill>
                <a:latin typeface="Arial"/>
              </a:rPr>
              <a:t>519 M </a:t>
            </a:r>
            <a:r>
              <a:rPr sz="1200" b="0" i="0">
                <a:solidFill>
                  <a:srgbClr val="1E1E28"/>
                </a:solidFill>
                <a:latin typeface="Arial"/>
              </a:rPr>
              <a:t>HF downloads.</a:t>
            </a:r>
          </a:p>
          <a:p>
            <a:pPr>
              <a:buNone/>
            </a:pPr>
            <a:r>
              <a:rPr sz="1100" b="0" i="1">
                <a:solidFill>
                  <a:srgbClr val="1E1E28"/>
                </a:solidFill>
                <a:latin typeface="Arial"/>
              </a:rPr>
              <a:t>3× more downloads-per-star than transformers itself.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017520"/>
            <a:ext cx="8321040" cy="14173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3017520"/>
            <a:ext cx="118872" cy="14173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8046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F5 · STARS ARE THE WORST PREDICTOR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01568"/>
            <a:ext cx="8046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Top-3 health-score repos rank surprisingly low on stars: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30752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transformers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730752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555566"/>
                </a:solidFill>
                <a:latin typeface="Arial"/>
              </a:rPr>
              <a:t>Health rank  </a:t>
            </a:r>
            <a:r>
              <a:rPr sz="1100" b="1" i="0">
                <a:solidFill>
                  <a:srgbClr val="8900E1"/>
                </a:solidFill>
                <a:latin typeface="Arial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30752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555566"/>
                </a:solidFill>
                <a:latin typeface="Arial"/>
              </a:rPr>
              <a:t>Stars rank  </a:t>
            </a:r>
            <a:r>
              <a:rPr sz="1100" b="1" i="0">
                <a:solidFill>
                  <a:srgbClr val="E24A4A"/>
                </a:solidFill>
                <a:latin typeface="Arial"/>
              </a:rPr>
              <a:t>#109 / 1000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86784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ultralytics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986784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555566"/>
                </a:solidFill>
                <a:latin typeface="Arial"/>
              </a:rPr>
              <a:t>Health rank  </a:t>
            </a:r>
            <a:r>
              <a:rPr sz="1100" b="1" i="0">
                <a:solidFill>
                  <a:srgbClr val="8900E1"/>
                </a:solidFill>
                <a:latin typeface="Arial"/>
              </a:rPr>
              <a:t>#2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986784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555566"/>
                </a:solidFill>
                <a:latin typeface="Arial"/>
              </a:rPr>
              <a:t>Stars rank  </a:t>
            </a:r>
            <a:r>
              <a:rPr sz="1100" b="1" i="0">
                <a:solidFill>
                  <a:srgbClr val="E24A4A"/>
                </a:solidFill>
                <a:latin typeface="Arial"/>
              </a:rPr>
              <a:t>#67 / 1000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42816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pytorch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4242816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555566"/>
                </a:solidFill>
                <a:latin typeface="Arial"/>
              </a:rPr>
              <a:t>Health rank  </a:t>
            </a:r>
            <a:r>
              <a:rPr sz="1100" b="1" i="0">
                <a:solidFill>
                  <a:srgbClr val="8900E1"/>
                </a:solidFill>
                <a:latin typeface="Arial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242816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555566"/>
                </a:solidFill>
                <a:latin typeface="Arial"/>
              </a:rPr>
              <a:t>Stars rank  </a:t>
            </a:r>
            <a:r>
              <a:rPr sz="1100" b="1" i="0">
                <a:solidFill>
                  <a:srgbClr val="E24A4A"/>
                </a:solidFill>
                <a:latin typeface="Arial"/>
              </a:rPr>
              <a:t>#186 / 1000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F4 · TWO PARALLEL UNIVERSES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Engineering tools live on PyPI · LLM models live on Hugging 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4160520" cy="38404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397764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ENGINEERING / ORCHESTRATION  ·  PyPI-HEAVY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3703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scikit-learn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850" b="0" i="0">
                <a:solidFill>
                  <a:srgbClr val="555566"/>
                </a:solidFill>
                <a:latin typeface="Arial"/>
              </a:rPr>
              <a:t>PyPI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167128"/>
            <a:ext cx="2880360" cy="146304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2167128"/>
            <a:ext cx="2880360" cy="146304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2148840"/>
            <a:ext cx="77724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7068C"/>
                </a:solidFill>
                <a:latin typeface="Arial"/>
              </a:rPr>
              <a:t>1.428B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850" b="0" i="0">
                <a:solidFill>
                  <a:srgbClr val="555566"/>
                </a:solidFill>
                <a:latin typeface="Arial"/>
              </a:rPr>
              <a:t>HF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2395727"/>
            <a:ext cx="2880360" cy="146304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2395727"/>
            <a:ext cx="0" cy="146304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9080" y="2377440"/>
            <a:ext cx="77724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122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3703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LangChain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850" b="0" i="0">
                <a:solidFill>
                  <a:srgbClr val="555566"/>
                </a:solidFill>
                <a:latin typeface="Arial"/>
              </a:rPr>
              <a:t>PyPI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944368"/>
            <a:ext cx="2880360" cy="146304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2944368"/>
            <a:ext cx="1757019" cy="146304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2926080"/>
            <a:ext cx="77724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7068C"/>
                </a:solidFill>
                <a:latin typeface="Arial"/>
              </a:rPr>
              <a:t>872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1546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850" b="0" i="0">
                <a:solidFill>
                  <a:srgbClr val="555566"/>
                </a:solidFill>
                <a:latin typeface="Arial"/>
              </a:rPr>
              <a:t>HF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3172967"/>
            <a:ext cx="2880360" cy="146304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43000" y="3172967"/>
            <a:ext cx="0" cy="146304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69080" y="3154680"/>
            <a:ext cx="77724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429000"/>
            <a:ext cx="3703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transformers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70332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850" b="0" i="0">
                <a:solidFill>
                  <a:srgbClr val="555566"/>
                </a:solidFill>
                <a:latin typeface="Arial"/>
              </a:rPr>
              <a:t>PyPI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3721608"/>
            <a:ext cx="2880360" cy="146304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3721608"/>
            <a:ext cx="1901037" cy="146304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3703320"/>
            <a:ext cx="77724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7068C"/>
                </a:solidFill>
                <a:latin typeface="Arial"/>
              </a:rPr>
              <a:t>938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93192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850" b="0" i="0">
                <a:solidFill>
                  <a:srgbClr val="555566"/>
                </a:solidFill>
                <a:latin typeface="Arial"/>
              </a:rPr>
              <a:t>HF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3950207"/>
            <a:ext cx="2880360" cy="146304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3950207"/>
            <a:ext cx="0" cy="146304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69080" y="3931920"/>
            <a:ext cx="77724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137160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4880" y="1371600"/>
            <a:ext cx="4160520" cy="38404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0" y="1371600"/>
            <a:ext cx="397764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MODEL HUB  ·  HF-HEAVY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1874520"/>
            <a:ext cx="3703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sentence-transformers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214884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850" b="0" i="0">
                <a:solidFill>
                  <a:srgbClr val="555566"/>
                </a:solidFill>
                <a:latin typeface="Arial"/>
              </a:rPr>
              <a:t>PyPI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0" y="2167128"/>
            <a:ext cx="2880360" cy="146304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0" y="2167128"/>
            <a:ext cx="144018" cy="146304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2148840"/>
            <a:ext cx="77724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7068C"/>
                </a:solidFill>
                <a:latin typeface="Arial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83480" y="237744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850" b="0" i="0">
                <a:solidFill>
                  <a:srgbClr val="555566"/>
                </a:solidFill>
                <a:latin typeface="Arial"/>
              </a:rPr>
              <a:t>HF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2395727"/>
            <a:ext cx="2880360" cy="146304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0" y="2395727"/>
            <a:ext cx="2880360" cy="146304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0" y="2377440"/>
            <a:ext cx="77724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519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2651760"/>
            <a:ext cx="3703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openai/whisper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3480" y="29260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850" b="0" i="0">
                <a:solidFill>
                  <a:srgbClr val="555566"/>
                </a:solidFill>
                <a:latin typeface="Arial"/>
              </a:rPr>
              <a:t>PyPI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0" y="2944368"/>
            <a:ext cx="2880360" cy="146304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0" y="2944368"/>
            <a:ext cx="288036" cy="146304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0" y="2926080"/>
            <a:ext cx="77724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7068C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83480" y="315468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850" b="0" i="0">
                <a:solidFill>
                  <a:srgbClr val="555566"/>
                </a:solidFill>
                <a:latin typeface="Arial"/>
              </a:rPr>
              <a:t>HF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0" y="3172967"/>
            <a:ext cx="2880360" cy="146304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0" y="3172967"/>
            <a:ext cx="2448306" cy="146304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12480" y="3154680"/>
            <a:ext cx="77724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83480" y="3429000"/>
            <a:ext cx="3703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stabilityai/sd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83480" y="370332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850" b="0" i="0">
                <a:solidFill>
                  <a:srgbClr val="555566"/>
                </a:solidFill>
                <a:latin typeface="Arial"/>
              </a:rPr>
              <a:t>PyPI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3721608"/>
            <a:ext cx="2880360" cy="146304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86400" y="3721608"/>
            <a:ext cx="144018" cy="146304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0" y="3703320"/>
            <a:ext cx="77724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57068C"/>
                </a:solidFill>
                <a:latin typeface="Arial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83480" y="393192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850" b="0" i="0">
                <a:solidFill>
                  <a:srgbClr val="555566"/>
                </a:solidFill>
                <a:latin typeface="Arial"/>
              </a:rPr>
              <a:t>HF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0" y="3950207"/>
            <a:ext cx="2880360" cy="146304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0" y="3950207"/>
            <a:ext cx="2016251" cy="146304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12480" y="3931920"/>
            <a:ext cx="777240" cy="1828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F6 · WHEN STARS SPIKE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Viral spikes are rare — and AI repos spike less than non-AI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08760"/>
            <a:ext cx="2663952" cy="12801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50876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45920"/>
            <a:ext cx="2663952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3400" b="1" i="0">
                <a:solidFill>
                  <a:srgbClr val="57068C"/>
                </a:solidFill>
                <a:latin typeface="Arial"/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21992"/>
            <a:ext cx="22981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1" i="0">
                <a:solidFill>
                  <a:srgbClr val="1E1E28"/>
                </a:solidFill>
                <a:latin typeface="Arial"/>
              </a:rPr>
              <a:t>of repos peaked &gt;3× in a single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68880"/>
            <a:ext cx="22981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950" b="0" i="1">
                <a:solidFill>
                  <a:srgbClr val="555566"/>
                </a:solidFill>
                <a:latin typeface="Arial"/>
              </a:rPr>
              <a:t>Most popular projects have at least one viral month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24" y="1508760"/>
            <a:ext cx="2663952" cy="12801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40024" y="1508760"/>
            <a:ext cx="2663952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0024" y="1645920"/>
            <a:ext cx="2663952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3400" b="1" i="0">
                <a:solidFill>
                  <a:srgbClr val="8900E1"/>
                </a:solidFill>
                <a:latin typeface="Arial"/>
              </a:rPr>
              <a:t>0.2%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2904" y="2221992"/>
            <a:ext cx="22981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1" i="0">
                <a:solidFill>
                  <a:srgbClr val="1E1E28"/>
                </a:solidFill>
                <a:latin typeface="Arial"/>
              </a:rPr>
              <a:t>of repos crossed &gt;10×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2904" y="2468880"/>
            <a:ext cx="22981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950" b="0" i="1">
                <a:solidFill>
                  <a:srgbClr val="555566"/>
                </a:solidFill>
                <a:latin typeface="Arial"/>
              </a:rPr>
              <a:t>Only 2 of 1,000 repos hit extreme spike territory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68568" y="1508760"/>
            <a:ext cx="2663952" cy="12801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68568" y="1508760"/>
            <a:ext cx="2663952" cy="64008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68568" y="1645920"/>
            <a:ext cx="2663952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300" b="1" i="0">
                <a:solidFill>
                  <a:srgbClr val="E24A4A"/>
                </a:solidFill>
                <a:latin typeface="Arial"/>
              </a:rPr>
              <a:t>zama-ai/bounty-program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1448" y="2221992"/>
            <a:ext cx="22981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1" i="0">
                <a:solidFill>
                  <a:srgbClr val="1E1E28"/>
                </a:solidFill>
                <a:latin typeface="Arial"/>
              </a:rPr>
              <a:t>98.5% of stars in one 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1448" y="2468880"/>
            <a:ext cx="22981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950" b="0" i="1">
                <a:solidFill>
                  <a:srgbClr val="555566"/>
                </a:solidFill>
                <a:latin typeface="Arial"/>
              </a:rPr>
              <a:t>The single most extreme case (peak_ratio 10.83)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017520"/>
            <a:ext cx="8321040" cy="173736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00400"/>
            <a:ext cx="7772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COUNTER-INTUITIVE  ·  AI REPOS GROW STEADIER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70332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AI repos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97480" y="3794760"/>
            <a:ext cx="5486400" cy="1828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97480" y="3794760"/>
            <a:ext cx="2880360" cy="18288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3703320"/>
            <a:ext cx="91440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2.10×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06908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E24A4A"/>
                </a:solidFill>
                <a:latin typeface="Arial"/>
              </a:rPr>
              <a:t>Non-AI repos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97480" y="4160520"/>
            <a:ext cx="5486400" cy="1828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97480" y="4160520"/>
            <a:ext cx="4347972" cy="182880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069080"/>
            <a:ext cx="91440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E24A4A"/>
                </a:solidFill>
                <a:latin typeface="Arial"/>
              </a:rPr>
              <a:t>3.17×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480560"/>
            <a:ext cx="7772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566"/>
                </a:solidFill>
                <a:latin typeface="Arial"/>
              </a:rPr>
              <a:t>Average peak_ratio  —  mature AI frameworks (transformers / pytorch / vllm) grow on word-of-mouth, not on viral events.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F7 + F8 · BUS-FACTOR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Push concentration alone misleads — read it next to PR contributors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417320"/>
            <a:ext cx="8321040" cy="36576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795528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BUS-FACTOR  ·  top1_push_ratio  +  pr_contributors  =  TRUE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28800"/>
            <a:ext cx="9601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top1_push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PR contribs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828800"/>
            <a:ext cx="28346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03120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hiyouga/llama-factory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103120"/>
            <a:ext cx="9601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E24A4A"/>
                </a:solidFill>
                <a:latin typeface="Arial"/>
              </a:rPr>
              <a:t>0.961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123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103120"/>
            <a:ext cx="28346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57068C"/>
                </a:solidFill>
                <a:latin typeface="Arial"/>
              </a:rPr>
              <a:t>centralized merge, active community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372360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377440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geekan/metagpt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377440"/>
            <a:ext cx="9601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E24A4A"/>
                </a:solidFill>
                <a:latin typeface="Arial"/>
              </a:rPr>
              <a:t>0.929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37744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377440"/>
            <a:ext cx="28346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E24A4A"/>
                </a:solidFill>
                <a:latin typeface="Arial"/>
              </a:rPr>
              <a:t>⚠  TRUE single-maintainer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2646680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51760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openai/whisper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51760"/>
            <a:ext cx="9601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0.875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65176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2651760"/>
            <a:ext cx="28346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57068C"/>
                </a:solidFill>
                <a:latin typeface="Arial"/>
              </a:rPr>
              <a:t>moderate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921000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926080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tensorflow/tensorflow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2926080"/>
            <a:ext cx="9601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E24A4A"/>
                </a:solidFill>
                <a:latin typeface="Arial"/>
              </a:rPr>
              <a:t>0.990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92608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2926080"/>
            <a:ext cx="28346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8900E1"/>
                </a:solidFill>
                <a:latin typeface="Arial"/>
              </a:rPr>
              <a:t>CI bot automation (not human)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195320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200400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huggingface/transformers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3200400"/>
            <a:ext cx="9601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129E9E"/>
                </a:solidFill>
                <a:latin typeface="Arial"/>
              </a:rPr>
              <a:t>0.191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320040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1,244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3200400"/>
            <a:ext cx="28346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29E9E"/>
                </a:solidFill>
                <a:latin typeface="Arial"/>
              </a:rPr>
              <a:t>✓  healthy &amp; distributed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3469640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474720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pytorch/pytorch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3474720"/>
            <a:ext cx="9601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129E9E"/>
                </a:solidFill>
                <a:latin typeface="Arial"/>
              </a:rPr>
              <a:t>0.140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347472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1,605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0720" y="3474720"/>
            <a:ext cx="28346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29E9E"/>
                </a:solidFill>
                <a:latin typeface="Arial"/>
              </a:rPr>
              <a:t>✓  healthiest AI framework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" y="3743960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749040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grafana/grafana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749040"/>
            <a:ext cx="9601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129E9E"/>
                </a:solidFill>
                <a:latin typeface="Arial"/>
              </a:rPr>
              <a:t>0.052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3749040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316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720" y="3749040"/>
            <a:ext cx="28346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>
              <a:buNone/>
            </a:pPr>
            <a:r>
              <a:rPr sz="1000" b="0" i="0">
                <a:solidFill>
                  <a:srgbClr val="129E9E"/>
                </a:solidFill>
                <a:latin typeface="Arial"/>
              </a:rPr>
              <a:t>✓  most distributed in entire 1,000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4018280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86000" y="4498848"/>
            <a:ext cx="64465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F8  ·  </a:t>
            </a:r>
            <a:r>
              <a:rPr sz="1000" b="0" i="1">
                <a:solidFill>
                  <a:srgbClr val="1E1E28"/>
                </a:solidFill>
                <a:latin typeface="Arial"/>
              </a:rPr>
              <a:t>DeepSeek-R1: 93 K actors / 5 push contributors. Audience ≠ builders.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F9 + F1 · WHAT HEALTHY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The repositories that get every signal right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2663952" cy="228600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36192"/>
            <a:ext cx="22981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transformers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20"/>
            <a:ext cx="2663952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4800" b="1" i="0">
                <a:solidFill>
                  <a:srgbClr val="57068C"/>
                </a:solidFill>
                <a:latin typeface="Arial"/>
              </a:rPr>
              <a:t>14.68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697480"/>
            <a:ext cx="26639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HEALTH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99232"/>
            <a:ext cx="229819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938 M PyPI / yr  ·  834 K HF models  ·  332 active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22981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The 3-way champion of every signal we track.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24" y="1371600"/>
            <a:ext cx="2663952" cy="228600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0024" y="1371600"/>
            <a:ext cx="2663952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2904" y="1536192"/>
            <a:ext cx="22981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pytorch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0024" y="1874520"/>
            <a:ext cx="2663952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4800" b="1" i="0">
                <a:solidFill>
                  <a:srgbClr val="8900E1"/>
                </a:solidFill>
                <a:latin typeface="Arial"/>
              </a:rPr>
              <a:t>0.140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0024" y="2697480"/>
            <a:ext cx="26639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PUSH CONCENTRATION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2904" y="2999232"/>
            <a:ext cx="229819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275 push contributors  ·  1,605 PR contributors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2904" y="3383280"/>
            <a:ext cx="22981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Distributed development at framework scale.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68568" y="1371600"/>
            <a:ext cx="2663952" cy="228600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68568" y="1371600"/>
            <a:ext cx="2663952" cy="64008"/>
          </a:xfrm>
          <a:prstGeom prst="rect">
            <a:avLst/>
          </a:prstGeom>
          <a:solidFill>
            <a:srgbClr val="12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1448" y="1536192"/>
            <a:ext cx="22981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grafana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8568" y="1874520"/>
            <a:ext cx="2663952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4800" b="1" i="0">
                <a:solidFill>
                  <a:srgbClr val="129E9E"/>
                </a:solidFill>
                <a:latin typeface="Arial"/>
              </a:rPr>
              <a:t>0.052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68568" y="2697480"/>
            <a:ext cx="26639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PUSH CONCENTRATION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1448" y="2999232"/>
            <a:ext cx="2298192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316 push contributors  ·  most distributed in 1,000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1448" y="3383280"/>
            <a:ext cx="22981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buNone/>
            </a:pPr>
            <a:r>
              <a:rPr sz="1000" b="0" i="1">
                <a:solidFill>
                  <a:srgbClr val="129E9E"/>
                </a:solidFill>
                <a:latin typeface="Arial"/>
              </a:rPr>
              <a:t>The most-distributed open-source project we measured.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840480"/>
            <a:ext cx="832104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buNone/>
            </a:pPr>
            <a:r>
              <a:rPr sz="1300" b="0" i="0">
                <a:solidFill>
                  <a:srgbClr val="1E1E28"/>
                </a:solidFill>
                <a:latin typeface="Arial"/>
              </a:rPr>
              <a:t>Multi-source adoption  +  distributed contribution  =  </a:t>
            </a:r>
            <a:r>
              <a:rPr sz="1300" b="1" i="0">
                <a:solidFill>
                  <a:srgbClr val="57068C"/>
                </a:solidFill>
                <a:latin typeface="Arial"/>
              </a:rPr>
              <a:t>real ecosystem health.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4498848"/>
            <a:ext cx="64465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buNone/>
            </a:pPr>
            <a:r>
              <a:rPr sz="1000" b="0" i="1">
                <a:solidFill>
                  <a:srgbClr val="555566"/>
                </a:solidFill>
                <a:latin typeface="Arial"/>
              </a:rPr>
              <a:t>All three signals reward the same projects — none reward viral spikes.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 b="1" i="0">
                <a:solidFill>
                  <a:srgbClr val="1E1E28"/>
                </a:solidFill>
                <a:latin typeface="Arial"/>
              </a:rPr>
              <a:t>STARS COUNT YOUR AUDIENCE.</a:t>
            </a:r>
          </a:p>
          <a:p>
            <a:pPr>
              <a:buNone/>
            </a:pPr>
            <a:r>
              <a:rPr sz="2800" b="1" i="0">
                <a:solidFill>
                  <a:srgbClr val="1E1E28"/>
                </a:solidFill>
                <a:latin typeface="Arial"/>
              </a:rPr>
              <a:t>PUSH CONTRIBUTORS COUNT YOUR BUILDERS.</a:t>
            </a:r>
          </a:p>
          <a:p>
            <a:pPr>
              <a:buNone/>
            </a:pPr>
            <a:r>
              <a:rPr sz="2800" b="1" i="0">
                <a:solidFill>
                  <a:srgbClr val="57068C"/>
                </a:solidFill>
                <a:latin typeface="Arial"/>
              </a:rPr>
              <a:t>A HEALTHY PROJECT NEEDS BOTH.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434840"/>
            <a:ext cx="8321040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OSS PULSE  ·  the takeaway from triangulating GitHub, Hugging Face &amp; PyPI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REFLECTIONS</a:t>
            </a:r>
          </a:p>
          <a:p>
            <a:pPr>
              <a:buNone/>
            </a:pPr>
            <a:r>
              <a:rPr sz="1400" b="0" i="0">
                <a:solidFill>
                  <a:srgbClr val="57068C"/>
                </a:solidFill>
                <a:latin typeface="Arial"/>
              </a:rPr>
              <a:t>&amp; Acknowledgements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4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Lessons &amp; what we'd do differently</a:t>
            </a:r>
          </a:p>
          <a:p>
            <a:pPr>
              <a:spcAft>
                <a:spcPts val="4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Bucket cleaned data by </a:t>
            </a:r>
            <a:r>
              <a:rPr sz="1050" b="0" i="0">
                <a:solidFill>
                  <a:srgbClr val="1E1E28"/>
                </a:solidFill>
                <a:latin typeface="Consolas"/>
              </a:rPr>
              <a:t>repo_name</a:t>
            </a:r>
            <a:r>
              <a:rPr sz="1050" b="0" i="0">
                <a:solidFill>
                  <a:srgbClr val="1E1E28"/>
                </a:solidFill>
                <a:latin typeface="Arial"/>
              </a:rPr>
              <a:t> at ingest — eliminates the 83 GB shuffle in Job 04.</a:t>
            </a:r>
          </a:p>
          <a:p>
            <a:pPr>
              <a:spcAft>
                <a:spcPts val="4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Per-era pre-aggregation everywhere — bound peak memory and shrink failure blast radius.</a:t>
            </a:r>
          </a:p>
          <a:p>
            <a:pPr>
              <a:spcAft>
                <a:spcPts val="4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Treat smoke tests on a 1-day slice as a cluster-cost guardrail (every 100M-event mistake costs 1–2 hours).</a:t>
            </a:r>
          </a:p>
          <a:p>
            <a:pPr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Live Tableau dashboard wired to HDFS output for stakeholder use.</a:t>
            </a:r>
          </a:p>
          <a:p>
            <a:pPr>
              <a:spcAft>
                <a:spcPts val="4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What it taught us</a:t>
            </a:r>
          </a:p>
          <a:p>
            <a:pPr>
              <a:buNone/>
            </a:pPr>
            <a:r>
              <a:rPr sz="1050" b="0" i="1">
                <a:solidFill>
                  <a:srgbClr val="1E1E28"/>
                </a:solidFill>
                <a:latin typeface="Arial"/>
              </a:rPr>
              <a:t>GitHub stars are a noisy signal. PyPI installs + HF downloads predict sustained ecosystem health better; push concentration reveals single-maintainer risk invisible to star counts.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>
              <a:spcAft>
                <a:spcPts val="4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Acknowledgements</a:t>
            </a:r>
          </a:p>
          <a:p>
            <a:pPr>
              <a:spcAft>
                <a:spcPts val="4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NYU High Performance Computing — Google Cloud Dataproc cluster access.</a:t>
            </a:r>
          </a:p>
          <a:p>
            <a:pPr>
              <a:spcAft>
                <a:spcPts val="4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Tableau — academic visualization license via NYU.</a:t>
            </a:r>
          </a:p>
          <a:p>
            <a:pPr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GH Archive · Hugging Face Hub · PyPI / BigQuery — public data APIs that made this triangulation possible.</a:t>
            </a:r>
          </a:p>
          <a:p>
            <a:pPr>
              <a:spcAft>
                <a:spcPts val="400"/>
              </a:spcAft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References</a:t>
            </a:r>
          </a:p>
          <a:p>
            <a:pPr>
              <a:buNone/>
            </a:pPr>
            <a:r>
              <a:rPr sz="1050" b="0" i="1">
                <a:solidFill>
                  <a:srgbClr val="1E1E28"/>
                </a:solidFill>
                <a:latin typeface="Arial"/>
              </a:rPr>
              <a:t>gharchive.org · huggingface.co/docs/huggingface_hub · pypistats.org · spark.apache.org · cloud.google.com/dataproc · github.com/ossf/criticality_score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7200" b="1" i="0">
                <a:solidFill>
                  <a:srgbClr val="57068C"/>
                </a:solidFill>
                <a:latin typeface="Arial"/>
              </a:rP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3611880"/>
            <a:ext cx="832104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1E1E28"/>
                </a:solidFill>
                <a:latin typeface="Arial"/>
              </a:rPr>
              <a:t>Group 9  ·  OSS Pulse  ·  Big Data Analytics, Spring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069080"/>
            <a:ext cx="83210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Jhe Chen Li (jl17797)  ·  Bo Yu (by2566)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434840"/>
            <a:ext cx="83210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buNone/>
            </a:pPr>
            <a:r>
              <a:rPr sz="1200" b="0" i="1">
                <a:solidFill>
                  <a:srgbClr val="8900E1"/>
                </a:solidFill>
                <a:latin typeface="Arial"/>
              </a:rPr>
              <a:t>Questions — we’d love to hear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NYU Bold">
  <a:themeElements>
    <a:clrScheme name="Simple Light">
      <a:dk1>
        <a:srgbClr val="57068C"/>
      </a:dk1>
      <a:lt1>
        <a:srgbClr val="FFFFFF"/>
      </a:lt1>
      <a:dk2>
        <a:srgbClr val="333333"/>
      </a:dk2>
      <a:lt2>
        <a:srgbClr val="E2E1DD"/>
      </a:lt2>
      <a:accent1>
        <a:srgbClr val="9A6ABA"/>
      </a:accent1>
      <a:accent2>
        <a:srgbClr val="6D6D6D"/>
      </a:accent2>
      <a:accent3>
        <a:srgbClr val="8900E1"/>
      </a:accent3>
      <a:accent4>
        <a:srgbClr val="E97300"/>
      </a:accent4>
      <a:accent5>
        <a:srgbClr val="799A05"/>
      </a:accent5>
      <a:accent6>
        <a:srgbClr val="C50F3C"/>
      </a:accent6>
      <a:hlink>
        <a:srgbClr val="57068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