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2"/>
      <p:bold r:id="rId23"/>
      <p:italic r:id="rId24"/>
      <p:boldItalic r:id="rId25"/>
    </p:embeddedFont>
    <p:embeddedFont>
      <p:font typeface="Montserrat" pitchFamily="2" charset="0"/>
      <p:regular r:id="rId26"/>
      <p:bold r:id="rId27"/>
      <p:italic r:id="rId28"/>
      <p:boldItalic r:id="rId29"/>
    </p:embeddedFont>
    <p:embeddedFont>
      <p:font typeface="Montserrat Black" panose="020F0502020204030204" pitchFamily="34" charset="0"/>
      <p:bold r:id="rId30"/>
      <p:italic r:id="rId31"/>
      <p:boldItalic r:id="rId32"/>
    </p:embeddedFont>
    <p:embeddedFont>
      <p:font typeface="Montserrat ExtraBold" panose="020F0502020204030204" pitchFamily="34" charset="0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5"/>
  </p:normalViewPr>
  <p:slideViewPr>
    <p:cSldViewPr snapToGrid="0">
      <p:cViewPr varScale="1">
        <p:scale>
          <a:sx n="157" d="100"/>
          <a:sy n="157" d="100"/>
        </p:scale>
        <p:origin x="512" y="1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tableStyles" Target="tableStyle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1" type="title">
  <p:cSld name="TITLE">
    <p:bg>
      <p:bgPr>
        <a:solidFill>
          <a:srgbClr val="57068C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11" name="Google Shape;11;p2" descr="New York University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2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lvl="1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marL="1371600" lvl="2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marL="1828800" lvl="3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marL="2286000" lvl="4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marL="2743200" lvl="5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marL="3200400" lvl="6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marL="3657600" lvl="7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marL="4114800" lvl="8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2">
  <p:cSld name="TITLE_1">
    <p:bg>
      <p:bgPr>
        <a:solidFill>
          <a:srgbClr val="57068C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17" name="Google Shape;17;p3" descr="New York University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2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lvl="1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marL="1371600" lvl="2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marL="1828800" lvl="3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marL="2286000" lvl="4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marL="2743200" lvl="5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marL="3200400" lvl="6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marL="3657600" lvl="7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marL="4114800" lvl="8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4">
  <p:cSld name="TITLE_1_1_1">
    <p:bg>
      <p:bgPr>
        <a:solidFill>
          <a:srgbClr val="57068C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23" name="Google Shape;23;p4" descr="New York University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 txBox="1">
            <a:spLocks noGrp="1"/>
          </p:cNvSpPr>
          <p:nvPr>
            <p:ph type="subTitle" idx="1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2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lvl="1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marL="1371600" lvl="2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marL="1828800" lvl="3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marL="2286000" lvl="4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marL="2743200" lvl="5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marL="3200400" lvl="6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marL="3657600" lvl="7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marL="4114800" lvl="8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5">
  <p:cSld name="TITLE_1_1_1_1">
    <p:bg>
      <p:bgPr>
        <a:solidFill>
          <a:srgbClr val="57068C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29" name="Google Shape;29;p5" descr="New York University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 txBox="1">
            <a:spLocks noGrp="1"/>
          </p:cNvSpPr>
          <p:nvPr>
            <p:ph type="subTitle" idx="1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lvl="1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marL="1371600" lvl="2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marL="1828800" lvl="3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marL="2286000" lvl="4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marL="2743200" lvl="5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marL="3200400" lvl="6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marL="3657600" lvl="7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marL="4114800" lvl="8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57068C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7" cy="51434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" name="Google Shape;34;p6" descr=" "/>
          <p:cNvCxnSpPr/>
          <p:nvPr/>
        </p:nvCxnSpPr>
        <p:spPr>
          <a:xfrm>
            <a:off x="407168" y="2618527"/>
            <a:ext cx="521400" cy="0"/>
          </a:xfrm>
          <a:prstGeom prst="straightConnector1">
            <a:avLst/>
          </a:prstGeom>
          <a:noFill/>
          <a:ln w="76200" cap="flat" cmpd="sng">
            <a:solidFill>
              <a:srgbClr val="8900E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5" name="Google Shape;35;p6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6950" y="457200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6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ubTitle" idx="1"/>
          </p:nvPr>
        </p:nvSpPr>
        <p:spPr>
          <a:xfrm>
            <a:off x="316950" y="2938025"/>
            <a:ext cx="40317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1152475"/>
            <a:ext cx="3345900" cy="31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4114800" y="1175683"/>
            <a:ext cx="4192800" cy="31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2" name="Google Shape;42;p7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592">
          <p15:clr>
            <a:srgbClr val="FA7B17"/>
          </p15:clr>
        </p15:guide>
        <p15:guide id="2" pos="2304">
          <p15:clr>
            <a:srgbClr val="FA7B17"/>
          </p15:clr>
        </p15:guide>
        <p15:guide id="3" orient="horz" pos="720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424900" cy="11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pic>
        <p:nvPicPr>
          <p:cNvPr id="46" name="Google Shape;46;p8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8"/>
          <p:cNvSpPr txBox="1">
            <a:spLocks noGrp="1"/>
          </p:cNvSpPr>
          <p:nvPr>
            <p:ph type="body" idx="1"/>
          </p:nvPr>
        </p:nvSpPr>
        <p:spPr>
          <a:xfrm>
            <a:off x="1376250" y="1828800"/>
            <a:ext cx="3330300" cy="24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2"/>
          </p:nvPr>
        </p:nvSpPr>
        <p:spPr>
          <a:xfrm>
            <a:off x="5051175" y="1828800"/>
            <a:ext cx="3330300" cy="24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8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0" name="Google Shape;5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pic>
        <p:nvPicPr>
          <p:cNvPr id="53" name="Google Shape;53;p9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9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5" name="Google Shape;55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>
            <a:spLocks noGrp="1"/>
          </p:cNvSpPr>
          <p:nvPr>
            <p:ph type="title"/>
          </p:nvPr>
        </p:nvSpPr>
        <p:spPr>
          <a:xfrm>
            <a:off x="311700" y="426408"/>
            <a:ext cx="4308300" cy="105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Montserrat Black"/>
              <a:buNone/>
              <a:defRPr sz="36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body" idx="1"/>
          </p:nvPr>
        </p:nvSpPr>
        <p:spPr>
          <a:xfrm>
            <a:off x="311700" y="1646230"/>
            <a:ext cx="3350400" cy="24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pic>
        <p:nvPicPr>
          <p:cNvPr id="59" name="Google Shape;59;p10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0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1" name="Google Shape;6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FFFFFF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1"/>
          <p:cNvSpPr txBox="1">
            <a:spLocks noGrp="1"/>
          </p:cNvSpPr>
          <p:nvPr>
            <p:ph type="title"/>
          </p:nvPr>
        </p:nvSpPr>
        <p:spPr>
          <a:xfrm>
            <a:off x="407175" y="450150"/>
            <a:ext cx="8329500" cy="38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6000"/>
              <a:buFont typeface="Montserrat Black"/>
              <a:buNone/>
              <a:defRPr sz="60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pic>
        <p:nvPicPr>
          <p:cNvPr id="65" name="Google Shape;65;p11" descr=" 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1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">
          <p15:clr>
            <a:srgbClr val="FA7B17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 descr=" 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294375" y="1233175"/>
            <a:ext cx="40791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Montserrat Black"/>
              <a:buNone/>
              <a:defRPr sz="36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subTitle" idx="1"/>
          </p:nvPr>
        </p:nvSpPr>
        <p:spPr>
          <a:xfrm>
            <a:off x="294375" y="2803075"/>
            <a:ext cx="39558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6ABA"/>
              </a:buClr>
              <a:buSzPts val="1800"/>
              <a:buNone/>
              <a:defRPr>
                <a:solidFill>
                  <a:srgbClr val="9A6ABA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5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72" name="Google Shape;72;p12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2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-page image">
  <p:cSld name="CUSTOM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3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803100" cy="11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body" idx="1"/>
          </p:nvPr>
        </p:nvSpPr>
        <p:spPr>
          <a:xfrm>
            <a:off x="311700" y="2750150"/>
            <a:ext cx="3466500" cy="15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78" name="Google Shape;78;p13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9" name="Google Shape;7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4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4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4"/>
          <p:cNvSpPr txBox="1">
            <a:spLocks noGrp="1"/>
          </p:cNvSpPr>
          <p:nvPr>
            <p:ph type="title"/>
          </p:nvPr>
        </p:nvSpPr>
        <p:spPr>
          <a:xfrm>
            <a:off x="311700" y="3564945"/>
            <a:ext cx="44913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None/>
              <a:defRPr sz="14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">
    <p:bg>
      <p:bgPr>
        <a:solidFill>
          <a:schemeClr val="dk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 txBox="1">
            <a:spLocks noGrp="1"/>
          </p:cNvSpPr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8" name="Google Shape;88;p15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sz="4200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89" name="Google Shape;89;p15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w="76200" cap="flat" cmpd="sng">
            <a:solidFill>
              <a:srgbClr val="8900E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0" name="Google Shape;90;p15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CUSTOM_1_1">
    <p:bg>
      <p:bgPr>
        <a:solidFill>
          <a:schemeClr val="dk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 txBox="1">
            <a:spLocks noGrp="1"/>
          </p:cNvSpPr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5" name="Google Shape;95;p16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sz="4200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96" name="Google Shape;96;p16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w="76200" cap="flat" cmpd="sng">
            <a:solidFill>
              <a:srgbClr val="8900E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7" name="Google Shape;97;p16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 1">
  <p:cSld name="CUSTOM_1_1_1">
    <p:bg>
      <p:bgPr>
        <a:solidFill>
          <a:schemeClr val="dk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 txBox="1">
            <a:spLocks noGrp="1"/>
          </p:cNvSpPr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02" name="Google Shape;102;p17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sz="4200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103" name="Google Shape;103;p17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w="76200" cap="flat" cmpd="sng">
            <a:solidFill>
              <a:srgbClr val="8900E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" name="Google Shape;104;p17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>
            <a:spLocks noGrp="1"/>
          </p:cNvSpPr>
          <p:nvPr>
            <p:ph type="title" hasCustomPrompt="1"/>
          </p:nvPr>
        </p:nvSpPr>
        <p:spPr>
          <a:xfrm>
            <a:off x="311700" y="407700"/>
            <a:ext cx="8520600" cy="19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5000"/>
              <a:buFont typeface="Montserrat Black"/>
              <a:buNone/>
              <a:defRPr sz="150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7" name="Google Shape;107;p18"/>
          <p:cNvSpPr txBox="1">
            <a:spLocks noGrp="1"/>
          </p:cNvSpPr>
          <p:nvPr>
            <p:ph type="body" idx="1"/>
          </p:nvPr>
        </p:nvSpPr>
        <p:spPr>
          <a:xfrm>
            <a:off x="2475675" y="3360362"/>
            <a:ext cx="4192800" cy="7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pic>
        <p:nvPicPr>
          <p:cNvPr id="108" name="Google Shape;108;p18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18"/>
          <p:cNvSpPr txBox="1">
            <a:spLocks noGrp="1"/>
          </p:cNvSpPr>
          <p:nvPr>
            <p:ph type="subTitle" idx="2"/>
          </p:nvPr>
        </p:nvSpPr>
        <p:spPr>
          <a:xfrm>
            <a:off x="407175" y="2537800"/>
            <a:ext cx="8329200" cy="7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111" name="Google Shape;11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with folio" type="blank">
  <p:cSld name="BLANK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9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9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_1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ExtraBold"/>
              <a:buNone/>
              <a:defRPr sz="4200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424900" cy="31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800"/>
              <a:buFont typeface="Montserrat"/>
              <a:buChar char="●"/>
              <a:defRPr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EA4335"/>
          </p15:clr>
        </p15:guide>
        <p15:guide id="2" orient="horz" pos="3025">
          <p15:clr>
            <a:srgbClr val="EA4335"/>
          </p15:clr>
        </p15:guide>
        <p15:guide id="3" pos="5503">
          <p15:clr>
            <a:srgbClr val="EA4335"/>
          </p15:clr>
        </p15:guide>
        <p15:guide id="4" orient="horz" pos="269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sz="6000" b="1" i="0">
                <a:solidFill>
                  <a:srgbClr val="FFFFFF"/>
                </a:solidFill>
                <a:latin typeface="Arial"/>
              </a:rPr>
              <a:t>OSS PULSE</a:t>
            </a:r>
          </a:p>
          <a:p>
            <a:pPr marL="0" indent="0">
              <a:buNone/>
            </a:pPr>
            <a:r>
              <a:rPr sz="2600" b="0" i="0">
                <a:solidFill>
                  <a:srgbClr val="FFFFFF"/>
                </a:solidFill>
                <a:latin typeface="Arial"/>
              </a:rPr>
              <a:t>From Hype to Health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300" b="0" i="0">
                <a:solidFill>
                  <a:srgbClr val="E6CFFF"/>
                </a:solidFill>
                <a:latin typeface="Arial"/>
              </a:rPr>
              <a:t>Tracking the coding-agent era through 1.46 billion GitHub events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indent="0">
              <a:buNone/>
            </a:pPr>
            <a:r>
              <a:rPr sz="900" b="1" i="0">
                <a:solidFill>
                  <a:srgbClr val="FFFFFF"/>
                </a:solidFill>
                <a:latin typeface="Arial"/>
              </a:rPr>
              <a:t>GROUP 9  ·  BDAD SPRING 2026</a:t>
            </a:r>
          </a:p>
          <a:p>
            <a:pPr marL="0" indent="0">
              <a:buNone/>
            </a:pPr>
            <a:r>
              <a:rPr sz="900" b="0" i="0">
                <a:solidFill>
                  <a:srgbClr val="FFFFFF"/>
                </a:solidFill>
                <a:latin typeface="Arial"/>
              </a:rPr>
              <a:t>Jhe Chen Li · Bo Yu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sz="2400" b="1" i="0">
                <a:solidFill>
                  <a:srgbClr val="57068C"/>
                </a:solidFill>
                <a:latin typeface="Arial"/>
              </a:rPr>
              <a:t>ABSTRACT  &amp; 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60704"/>
            <a:ext cx="8321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100" b="0" i="1">
                <a:solidFill>
                  <a:srgbClr val="555566"/>
                </a:solidFill>
                <a:latin typeface="Arial"/>
              </a:rPr>
              <a:t>What we built · how big · what it found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417320"/>
            <a:ext cx="5067604" cy="3337560"/>
          </a:xfrm>
          <a:prstGeom prst="roundRect">
            <a:avLst/>
          </a:prstGeom>
          <a:solidFill>
            <a:srgbClr val="FA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118872" cy="333756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581912"/>
            <a:ext cx="4656124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100" b="1" i="0">
                <a:solidFill>
                  <a:srgbClr val="8900E1"/>
                </a:solidFill>
                <a:latin typeface="Arial"/>
              </a:rPr>
              <a:t>ABSTRACT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20"/>
            <a:ext cx="4656124" cy="2788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sz="1200" b="0" i="0">
                <a:solidFill>
                  <a:srgbClr val="1E1E28"/>
                </a:solidFill>
                <a:latin typeface="Arial"/>
              </a:rPr>
              <a:t>We measure AI open-source ecosystem health by triangulating three independent signals — GitHub activity, Hugging Face model adoption, and PyPI engineering usage — across 5 × Q1 snapshots (2022–2026).</a:t>
            </a:r>
          </a:p>
          <a:p>
            <a:pPr marL="0" indent="0">
              <a:spcAft>
                <a:spcPts val="600"/>
              </a:spcAft>
              <a:buNone/>
            </a:pPr>
            <a:r>
              <a:rPr sz="1200" b="0" i="0">
                <a:solidFill>
                  <a:srgbClr val="1E1E28"/>
                </a:solidFill>
                <a:latin typeface="Arial"/>
              </a:rPr>
              <a:t>Processing 1.46 B events on Apache Spark, we compute a composite health score and surface three domain-level shifts from the coding-agent era:</a:t>
            </a:r>
          </a:p>
          <a:p>
            <a:pPr marL="0" indent="0">
              <a:spcAft>
                <a:spcPts val="300"/>
              </a:spcAft>
              <a:buNone/>
            </a:pPr>
            <a:r>
              <a:rPr sz="1150" b="1" i="0">
                <a:solidFill>
                  <a:srgbClr val="8900E1"/>
                </a:solidFill>
                <a:latin typeface="Arial"/>
              </a:rPr>
              <a:t>①  </a:t>
            </a:r>
            <a:r>
              <a:rPr sz="1150" b="0" i="0">
                <a:solidFill>
                  <a:srgbClr val="1E1E28"/>
                </a:solidFill>
                <a:latin typeface="Arial"/>
              </a:rPr>
              <a:t>Stars stop tracking real adoption.</a:t>
            </a:r>
          </a:p>
          <a:p>
            <a:pPr marL="0" indent="0">
              <a:spcAft>
                <a:spcPts val="300"/>
              </a:spcAft>
              <a:buNone/>
            </a:pPr>
            <a:r>
              <a:rPr sz="1150" b="1" i="0">
                <a:solidFill>
                  <a:srgbClr val="8900E1"/>
                </a:solidFill>
                <a:latin typeface="Arial"/>
              </a:rPr>
              <a:t>②  </a:t>
            </a:r>
            <a:r>
              <a:rPr sz="1150" b="0" i="0">
                <a:solidFill>
                  <a:srgbClr val="1E1E28"/>
                </a:solidFill>
                <a:latin typeface="Arial"/>
              </a:rPr>
              <a:t>The weekend gap disappears in 2026.</a:t>
            </a:r>
          </a:p>
          <a:p>
            <a:pPr marL="0" indent="0">
              <a:buNone/>
            </a:pPr>
            <a:r>
              <a:rPr sz="1150" b="1" i="0">
                <a:solidFill>
                  <a:srgbClr val="8900E1"/>
                </a:solidFill>
                <a:latin typeface="Arial"/>
              </a:rPr>
              <a:t>③  </a:t>
            </a:r>
            <a:r>
              <a:rPr sz="1150" b="0" i="0">
                <a:solidFill>
                  <a:srgbClr val="1E1E28"/>
                </a:solidFill>
                <a:latin typeface="Arial"/>
              </a:rPr>
              <a:t>Bot-style pushers peaked in 2025, then normalized.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1964" y="1417320"/>
            <a:ext cx="3070555" cy="1600200"/>
          </a:xfrm>
          <a:prstGeom prst="roundRect">
            <a:avLst/>
          </a:prstGeom>
          <a:solidFill>
            <a:srgbClr val="F1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44844" y="1554480"/>
            <a:ext cx="2704795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100" b="1" i="0">
                <a:solidFill>
                  <a:srgbClr val="8900E1"/>
                </a:solidFill>
                <a:latin typeface="Arial"/>
              </a:rPr>
              <a:t>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4844" y="1828800"/>
            <a:ext cx="2704795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sz="1300" b="1" i="0">
                <a:solidFill>
                  <a:srgbClr val="57068C"/>
                </a:solidFill>
                <a:latin typeface="Arial"/>
              </a:rPr>
              <a:t>Apache Spark 3.x</a:t>
            </a:r>
          </a:p>
          <a:p>
            <a:pPr marL="0" indent="0">
              <a:spcAft>
                <a:spcPts val="200"/>
              </a:spcAft>
              <a:buNone/>
            </a:pPr>
            <a:r>
              <a:rPr sz="1100" b="0" i="0">
                <a:solidFill>
                  <a:srgbClr val="1E1E28"/>
                </a:solidFill>
                <a:latin typeface="Arial"/>
              </a:rPr>
              <a:t>Google Cloud Dataproc</a:t>
            </a:r>
          </a:p>
          <a:p>
            <a:pPr marL="0" indent="0">
              <a:spcAft>
                <a:spcPts val="800"/>
              </a:spcAft>
              <a:buNone/>
            </a:pPr>
            <a:r>
              <a:rPr sz="1000" b="0" i="1">
                <a:solidFill>
                  <a:srgbClr val="555566"/>
                </a:solidFill>
                <a:latin typeface="Arial"/>
              </a:rPr>
              <a:t>(NYU HPC)</a:t>
            </a:r>
          </a:p>
          <a:p>
            <a:pPr marL="0" indent="0">
              <a:spcAft>
                <a:spcPts val="200"/>
              </a:spcAft>
              <a:buNone/>
            </a:pPr>
            <a:r>
              <a:rPr sz="1100" b="0" i="0">
                <a:solidFill>
                  <a:srgbClr val="1E1E28"/>
                </a:solidFill>
                <a:latin typeface="Arial"/>
              </a:rPr>
              <a:t>4-node YARN cluster</a:t>
            </a:r>
          </a:p>
          <a:p>
            <a:pPr marL="0" indent="0">
              <a:buNone/>
            </a:pPr>
            <a:r>
              <a:rPr sz="1100" b="0" i="0">
                <a:solidFill>
                  <a:srgbClr val="1E1E28"/>
                </a:solidFill>
                <a:latin typeface="Arial"/>
              </a:rPr>
              <a:t>HDFS storage  ·  Tableau viz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1964" y="3154680"/>
            <a:ext cx="3070555" cy="1600200"/>
          </a:xfrm>
          <a:prstGeom prst="roundRect">
            <a:avLst/>
          </a:prstGeom>
          <a:solidFill>
            <a:srgbClr val="F1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44844" y="3291840"/>
            <a:ext cx="2704795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100" b="1" i="0">
                <a:solidFill>
                  <a:srgbClr val="8900E1"/>
                </a:solidFill>
                <a:latin typeface="Arial"/>
              </a:rPr>
              <a:t>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4844" y="3566160"/>
            <a:ext cx="2704795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1500" b="1" i="0">
                <a:solidFill>
                  <a:srgbClr val="57068C"/>
                </a:solidFill>
                <a:latin typeface="Arial"/>
              </a:rPr>
              <a:t>1.46 B  </a:t>
            </a:r>
            <a:r>
              <a:rPr sz="1100" b="0" i="0">
                <a:solidFill>
                  <a:srgbClr val="1E1E28"/>
                </a:solidFill>
                <a:latin typeface="Arial"/>
              </a:rPr>
              <a:t>events</a:t>
            </a:r>
          </a:p>
          <a:p>
            <a:pPr marL="0" indent="0">
              <a:spcAft>
                <a:spcPts val="400"/>
              </a:spcAft>
              <a:buNone/>
            </a:pPr>
            <a:r>
              <a:rPr sz="1300" b="1" i="0">
                <a:solidFill>
                  <a:srgbClr val="57068C"/>
                </a:solidFill>
                <a:latin typeface="Arial"/>
              </a:rPr>
              <a:t>930 GB  </a:t>
            </a:r>
            <a:r>
              <a:rPr sz="1100" b="0" i="0">
                <a:solidFill>
                  <a:srgbClr val="1E1E28"/>
                </a:solidFill>
                <a:latin typeface="Arial"/>
              </a:rPr>
              <a:t>raw → </a:t>
            </a:r>
            <a:r>
              <a:rPr sz="1300" b="1" i="0">
                <a:solidFill>
                  <a:srgbClr val="57068C"/>
                </a:solidFill>
                <a:latin typeface="Arial"/>
              </a:rPr>
              <a:t>87.9 GB</a:t>
            </a:r>
            <a:r>
              <a:rPr sz="1100" b="0" i="0">
                <a:solidFill>
                  <a:srgbClr val="1E1E28"/>
                </a:solidFill>
                <a:latin typeface="Arial"/>
              </a:rPr>
              <a:t> cleaned</a:t>
            </a:r>
          </a:p>
          <a:p>
            <a:pPr marL="0" indent="0">
              <a:buNone/>
            </a:pPr>
            <a:r>
              <a:rPr sz="1300" b="1" i="0">
                <a:solidFill>
                  <a:srgbClr val="57068C"/>
                </a:solidFill>
                <a:latin typeface="Arial"/>
              </a:rPr>
              <a:t>10  </a:t>
            </a:r>
            <a:r>
              <a:rPr sz="1100" b="0" i="0">
                <a:solidFill>
                  <a:srgbClr val="1E1E28"/>
                </a:solidFill>
                <a:latin typeface="Arial"/>
              </a:rPr>
              <a:t>Spark analytics jobs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846320"/>
            <a:ext cx="5897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r">
              <a:buNone/>
            </a:pPr>
            <a:r>
              <a:rPr sz="1000" b="0" i="1">
                <a:solidFill>
                  <a:srgbClr val="57068C"/>
                </a:solidFill>
                <a:latin typeface="Arial"/>
              </a:rPr>
              <a:t>Three signals · five eras · one composite health score.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sz="2400" b="1" i="0">
                <a:solidFill>
                  <a:srgbClr val="57068C"/>
                </a:solidFill>
                <a:latin typeface="Arial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60704"/>
            <a:ext cx="8321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100" b="0" i="1">
                <a:solidFill>
                  <a:srgbClr val="555566"/>
                </a:solidFill>
                <a:latin typeface="Arial"/>
              </a:rPr>
              <a:t>Who needs this · what problem · why now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417320"/>
            <a:ext cx="2663952" cy="1417320"/>
          </a:xfrm>
          <a:prstGeom prst="roundRect">
            <a:avLst/>
          </a:prstGeom>
          <a:solidFill>
            <a:srgbClr val="FA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2663952" cy="64008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2298192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100" b="1" i="0">
                <a:solidFill>
                  <a:srgbClr val="57068C"/>
                </a:solidFill>
                <a:latin typeface="Arial"/>
              </a:rPr>
              <a:t>WHO USES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2298192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100" b="0" i="0">
                <a:solidFill>
                  <a:srgbClr val="1E1E28"/>
                </a:solidFill>
                <a:latin typeface="Arial"/>
              </a:rPr>
              <a:t>ML engineers · researchers · maintainers · VCs evaluating OSS frameworks.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0024" y="1417320"/>
            <a:ext cx="2663952" cy="1417320"/>
          </a:xfrm>
          <a:prstGeom prst="roundRect">
            <a:avLst/>
          </a:prstGeom>
          <a:solidFill>
            <a:srgbClr val="FA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40024" y="1417320"/>
            <a:ext cx="2663952" cy="64008"/>
          </a:xfrm>
          <a:prstGeom prst="rect">
            <a:avLst/>
          </a:prstGeom>
          <a:solidFill>
            <a:srgbClr val="E2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22904" y="1600200"/>
            <a:ext cx="2298192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100" b="1" i="0">
                <a:solidFill>
                  <a:srgbClr val="57068C"/>
                </a:solidFill>
                <a:latin typeface="Arial"/>
              </a:rPr>
              <a:t>WHAT'S BROKEN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2904" y="1920240"/>
            <a:ext cx="2298192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100" b="0" i="0">
                <a:solidFill>
                  <a:srgbClr val="1E1E28"/>
                </a:solidFill>
                <a:latin typeface="Arial"/>
              </a:rPr>
              <a:t>Single signals mislead. DeepSeek-R1 ranks #2 by stars but has no PyPI library, only 5 push contributors. Hype ≠ ecosystem.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68568" y="1417320"/>
            <a:ext cx="2663952" cy="1417320"/>
          </a:xfrm>
          <a:prstGeom prst="roundRect">
            <a:avLst/>
          </a:prstGeom>
          <a:solidFill>
            <a:srgbClr val="FA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68568" y="1417320"/>
            <a:ext cx="2663952" cy="64008"/>
          </a:xfrm>
          <a:prstGeom prst="rect">
            <a:avLst/>
          </a:prstGeom>
          <a:solidFill>
            <a:srgbClr val="890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51448" y="1600200"/>
            <a:ext cx="2298192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100" b="1" i="0">
                <a:solidFill>
                  <a:srgbClr val="57068C"/>
                </a:solidFill>
                <a:latin typeface="Arial"/>
              </a:rPr>
              <a:t>WHY 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1448" y="1920240"/>
            <a:ext cx="2298192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100" b="0" i="0">
                <a:solidFill>
                  <a:srgbClr val="1E1E28"/>
                </a:solidFill>
                <a:latin typeface="Arial"/>
              </a:rPr>
              <a:t>The coding-agent era (2024–2026) is reshaping open-source rhythm — and stars miss it entirely.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017520"/>
            <a:ext cx="8321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000" b="1" i="0">
                <a:solidFill>
                  <a:srgbClr val="8900E1"/>
                </a:solidFill>
                <a:latin typeface="Arial"/>
              </a:rPr>
              <a:t>5-YEAR Q1 TIMELINE  ·  AI ECOSYSTEM EVOLUTION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383280"/>
            <a:ext cx="1591056" cy="1005840"/>
          </a:xfrm>
          <a:prstGeom prst="roundRect">
            <a:avLst/>
          </a:prstGeom>
          <a:solidFill>
            <a:srgbClr val="F1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3474720"/>
            <a:ext cx="1591056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 algn="ctr">
              <a:buNone/>
            </a:pPr>
            <a:r>
              <a:rPr sz="2000" b="1" i="0">
                <a:solidFill>
                  <a:srgbClr val="57068C"/>
                </a:solidFill>
                <a:latin typeface="Arial"/>
              </a:rPr>
              <a:t>2022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886200"/>
            <a:ext cx="1408176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ctr">
              <a:buNone/>
            </a:pPr>
            <a:r>
              <a:rPr sz="950" b="0" i="0">
                <a:solidFill>
                  <a:srgbClr val="1E1E28"/>
                </a:solidFill>
                <a:latin typeface="Arial"/>
              </a:rPr>
              <a:t>Pre-ChatGPT
baseline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93976" y="3383280"/>
            <a:ext cx="1591056" cy="1005840"/>
          </a:xfrm>
          <a:prstGeom prst="roundRect">
            <a:avLst/>
          </a:prstGeom>
          <a:solidFill>
            <a:srgbClr val="F1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093976" y="3474720"/>
            <a:ext cx="1591056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 algn="ctr">
              <a:buNone/>
            </a:pPr>
            <a:r>
              <a:rPr sz="2000" b="1" i="0">
                <a:solidFill>
                  <a:srgbClr val="57068C"/>
                </a:solidFill>
                <a:latin typeface="Arial"/>
              </a:rPr>
              <a:t>2023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85416" y="3886200"/>
            <a:ext cx="1408176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ctr">
              <a:buNone/>
            </a:pPr>
            <a:r>
              <a:rPr sz="950" b="0" i="0">
                <a:solidFill>
                  <a:srgbClr val="1E1E28"/>
                </a:solidFill>
                <a:latin typeface="Arial"/>
              </a:rPr>
              <a:t>ChatGPT
explosion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76472" y="3383280"/>
            <a:ext cx="1591056" cy="1005840"/>
          </a:xfrm>
          <a:prstGeom prst="roundRect">
            <a:avLst/>
          </a:prstGeom>
          <a:solidFill>
            <a:srgbClr val="F1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76472" y="3474720"/>
            <a:ext cx="1591056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 algn="ctr">
              <a:buNone/>
            </a:pPr>
            <a:r>
              <a:rPr sz="2000" b="1" i="0">
                <a:solidFill>
                  <a:srgbClr val="57068C"/>
                </a:solidFill>
                <a:latin typeface="Arial"/>
              </a:rPr>
              <a:t>2024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67912" y="3886200"/>
            <a:ext cx="1408176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ctr">
              <a:buNone/>
            </a:pPr>
            <a:r>
              <a:rPr sz="950" b="0" i="0">
                <a:solidFill>
                  <a:srgbClr val="1E1E28"/>
                </a:solidFill>
                <a:latin typeface="Arial"/>
              </a:rPr>
              <a:t>LLM bloom
GPT-4 / Claude / Gemini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58968" y="3383280"/>
            <a:ext cx="1591056" cy="1005840"/>
          </a:xfrm>
          <a:prstGeom prst="roundRect">
            <a:avLst/>
          </a:prstGeom>
          <a:solidFill>
            <a:srgbClr val="F1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58968" y="3474720"/>
            <a:ext cx="1591056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 algn="ctr">
              <a:buNone/>
            </a:pPr>
            <a:r>
              <a:rPr sz="2000" b="1" i="0">
                <a:solidFill>
                  <a:srgbClr val="57068C"/>
                </a:solidFill>
                <a:latin typeface="Arial"/>
              </a:rPr>
              <a:t>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50408" y="3886200"/>
            <a:ext cx="1408176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ctr">
              <a:buNone/>
            </a:pPr>
            <a:r>
              <a:rPr sz="950" b="0" i="0">
                <a:solidFill>
                  <a:srgbClr val="1E1E28"/>
                </a:solidFill>
                <a:latin typeface="Arial"/>
              </a:rPr>
              <a:t>Year of agents
Cursor / Claude Code / Devin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41464" y="3383280"/>
            <a:ext cx="1591056" cy="1005840"/>
          </a:xfrm>
          <a:prstGeom prst="roundRect">
            <a:avLst/>
          </a:prstGeom>
          <a:solidFill>
            <a:srgbClr val="F1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41464" y="3474720"/>
            <a:ext cx="1591056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 algn="ctr">
              <a:buNone/>
            </a:pPr>
            <a:r>
              <a:rPr sz="2000" b="1" i="0">
                <a:solidFill>
                  <a:srgbClr val="57068C"/>
                </a:solidFill>
                <a:latin typeface="Arial"/>
              </a:rPr>
              <a:t>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32904" y="3886200"/>
            <a:ext cx="1408176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ctr">
              <a:buNone/>
            </a:pPr>
            <a:r>
              <a:rPr sz="950" b="0" i="0">
                <a:solidFill>
                  <a:srgbClr val="1E1E28"/>
                </a:solidFill>
                <a:latin typeface="Arial"/>
              </a:rPr>
              <a:t>Coding-agent
saturation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sz="2400" b="1" i="0">
                <a:solidFill>
                  <a:srgbClr val="57068C"/>
                </a:solidFill>
                <a:latin typeface="Arial"/>
              </a:rPr>
              <a:t>GOODNESS  ·  WHY OUR RESULTS CAN BE TRUSTED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60704"/>
            <a:ext cx="8321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100" b="0" i="1">
                <a:solidFill>
                  <a:srgbClr val="555566"/>
                </a:solidFill>
                <a:latin typeface="Arial"/>
              </a:rPr>
              <a:t>Five-era data quality validation across 1.46 B events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371600"/>
            <a:ext cx="2663952" cy="1325880"/>
          </a:xfrm>
          <a:prstGeom prst="roundRect">
            <a:avLst/>
          </a:prstGeom>
          <a:solidFill>
            <a:srgbClr val="FA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371600"/>
            <a:ext cx="2663952" cy="64008"/>
          </a:xfrm>
          <a:prstGeom prst="rect">
            <a:avLst/>
          </a:prstGeom>
          <a:solidFill>
            <a:srgbClr val="12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481328"/>
            <a:ext cx="2663952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 algn="ctr">
              <a:buNone/>
            </a:pPr>
            <a:r>
              <a:rPr sz="2600" b="1" i="0">
                <a:solidFill>
                  <a:srgbClr val="129E9E"/>
                </a:solidFill>
                <a:latin typeface="Arial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38528"/>
            <a:ext cx="238963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ctr">
              <a:buNone/>
            </a:pPr>
            <a:r>
              <a:rPr sz="950" b="1" i="0">
                <a:solidFill>
                  <a:srgbClr val="555566"/>
                </a:solidFill>
                <a:latin typeface="Arial"/>
              </a:rPr>
              <a:t>NULLS IN CORE FIELDS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76272"/>
            <a:ext cx="2389632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ctr">
              <a:buNone/>
            </a:pPr>
            <a:r>
              <a:rPr sz="900" b="0" i="0">
                <a:solidFill>
                  <a:srgbClr val="1E1E28"/>
                </a:solidFill>
                <a:latin typeface="Arial"/>
              </a:rPr>
              <a:t>event_type · event_date · actor_login · repo_name
across all 5 eras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0024" y="1371600"/>
            <a:ext cx="2663952" cy="1325880"/>
          </a:xfrm>
          <a:prstGeom prst="roundRect">
            <a:avLst/>
          </a:prstGeom>
          <a:solidFill>
            <a:srgbClr val="FA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40024" y="1371600"/>
            <a:ext cx="2663952" cy="64008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40024" y="1481328"/>
            <a:ext cx="2663952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 algn="ctr">
              <a:buNone/>
            </a:pPr>
            <a:r>
              <a:rPr sz="2600" b="1" i="0">
                <a:solidFill>
                  <a:srgbClr val="57068C"/>
                </a:solidFill>
                <a:latin typeface="Arial"/>
              </a:rPr>
              <a:t>&lt; 0.39%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7184" y="1938528"/>
            <a:ext cx="238963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ctr">
              <a:buNone/>
            </a:pPr>
            <a:r>
              <a:rPr sz="950" b="1" i="0">
                <a:solidFill>
                  <a:srgbClr val="555566"/>
                </a:solidFill>
                <a:latin typeface="Arial"/>
              </a:rPr>
              <a:t>2026 RE-VALIDATION DIFF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7184" y="2176272"/>
            <a:ext cx="2389632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ctr">
              <a:buNone/>
            </a:pPr>
            <a:r>
              <a:rPr sz="900" b="0" i="0">
                <a:solidFill>
                  <a:srgbClr val="1E1E28"/>
                </a:solidFill>
                <a:latin typeface="Arial"/>
              </a:rPr>
              <a:t>Re-downloaded 2,160 raw files, re-cleaned,
compared to original output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68568" y="1371600"/>
            <a:ext cx="2663952" cy="1325880"/>
          </a:xfrm>
          <a:prstGeom prst="roundRect">
            <a:avLst/>
          </a:prstGeom>
          <a:solidFill>
            <a:srgbClr val="FA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68568" y="1371600"/>
            <a:ext cx="2663952" cy="6400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68568" y="1481328"/>
            <a:ext cx="2663952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 algn="ctr">
              <a:buNone/>
            </a:pPr>
            <a:r>
              <a:rPr sz="2600" b="1" i="0">
                <a:solidFill>
                  <a:srgbClr val="E88B00"/>
                </a:solidFill>
                <a:latin typeface="Arial"/>
              </a:rPr>
              <a:t>580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5728" y="1938528"/>
            <a:ext cx="238963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ctr">
              <a:buNone/>
            </a:pPr>
            <a:r>
              <a:rPr sz="950" b="1" i="0">
                <a:solidFill>
                  <a:srgbClr val="555566"/>
                </a:solidFill>
                <a:latin typeface="Arial"/>
              </a:rPr>
              <a:t>CORRUPT FILES TOLERATED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5728" y="2176272"/>
            <a:ext cx="2389632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ctr">
              <a:buNone/>
            </a:pPr>
            <a:r>
              <a:rPr sz="900" b="0" i="0">
                <a:solidFill>
                  <a:srgbClr val="1E1E28"/>
                </a:solidFill>
                <a:latin typeface="Arial"/>
              </a:rPr>
              <a:t>April 2026 raw .gz files rescued via
spark.sql.files.ignoreCorruptFiles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834640"/>
            <a:ext cx="8321040" cy="329184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2834640"/>
            <a:ext cx="7955280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>
              <a:buNone/>
            </a:pPr>
            <a:r>
              <a:rPr sz="1000" b="1" i="0">
                <a:solidFill>
                  <a:srgbClr val="FFFFFF"/>
                </a:solidFill>
                <a:latin typeface="Arial"/>
              </a:rPr>
              <a:t>DATA QUALITY  ·  EVENT VOLUME &amp; FIELD COMPLETENESS BY ERA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218688"/>
            <a:ext cx="91440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1" i="0">
                <a:solidFill>
                  <a:srgbClr val="8900E1"/>
                </a:solidFill>
                <a:latin typeface="Arial"/>
              </a:rPr>
              <a:t>Era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3218688"/>
            <a:ext cx="132588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1" i="0">
                <a:solidFill>
                  <a:srgbClr val="8900E1"/>
                </a:solidFill>
                <a:latin typeface="Arial"/>
              </a:rPr>
              <a:t>Total events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3218688"/>
            <a:ext cx="132588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1" i="0">
                <a:solidFill>
                  <a:srgbClr val="8900E1"/>
                </a:solidFill>
                <a:latin typeface="Arial"/>
              </a:rPr>
              <a:t>Push events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19" y="3218688"/>
            <a:ext cx="109728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1" i="0">
                <a:solidFill>
                  <a:srgbClr val="8900E1"/>
                </a:solidFill>
                <a:latin typeface="Arial"/>
              </a:rPr>
              <a:t>PR events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3218688"/>
            <a:ext cx="169164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1" i="0">
                <a:solidFill>
                  <a:srgbClr val="8900E1"/>
                </a:solidFill>
                <a:latin typeface="Arial"/>
              </a:rPr>
              <a:t>null core (4 fields)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3218688"/>
            <a:ext cx="178308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1" i="0">
                <a:solidFill>
                  <a:srgbClr val="8900E1"/>
                </a:solidFill>
                <a:latin typeface="Arial"/>
              </a:rPr>
              <a:t>Schema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438144"/>
            <a:ext cx="91440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0" i="0">
                <a:solidFill>
                  <a:srgbClr val="1E1E28"/>
                </a:solidFill>
                <a:latin typeface="Arial"/>
              </a:rPr>
              <a:t>2022-Q1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3438144"/>
            <a:ext cx="132588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0" i="0">
                <a:solidFill>
                  <a:srgbClr val="1E1E28"/>
                </a:solidFill>
                <a:latin typeface="Arial"/>
              </a:rPr>
              <a:t>206.8 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438144"/>
            <a:ext cx="132588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0" i="0">
                <a:solidFill>
                  <a:srgbClr val="1E1E28"/>
                </a:solidFill>
                <a:latin typeface="Arial"/>
              </a:rPr>
              <a:t>146.4 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0519" y="3438144"/>
            <a:ext cx="109728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0" i="0">
                <a:solidFill>
                  <a:srgbClr val="1E1E28"/>
                </a:solidFill>
                <a:latin typeface="Arial"/>
              </a:rPr>
              <a:t>35.0 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7800" y="3438144"/>
            <a:ext cx="169164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1" i="0">
                <a:solidFill>
                  <a:srgbClr val="129E9E"/>
                </a:solidFill>
                <a:latin typeface="Arial"/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3438144"/>
            <a:ext cx="178308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1" i="0">
                <a:solidFill>
                  <a:srgbClr val="129E9E"/>
                </a:solidFill>
                <a:latin typeface="Arial"/>
              </a:rPr>
              <a:t>✓ stable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3652520"/>
            <a:ext cx="7955280" cy="5080"/>
          </a:xfrm>
          <a:prstGeom prst="rect">
            <a:avLst/>
          </a:prstGeom>
          <a:solidFill>
            <a:srgbClr val="E5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3657600"/>
            <a:ext cx="91440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0" i="0">
                <a:solidFill>
                  <a:srgbClr val="1E1E28"/>
                </a:solidFill>
                <a:latin typeface="Arial"/>
              </a:rPr>
              <a:t>2023-Q1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8760" y="3657600"/>
            <a:ext cx="132588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0" i="0">
                <a:solidFill>
                  <a:srgbClr val="1E1E28"/>
                </a:solidFill>
                <a:latin typeface="Arial"/>
              </a:rPr>
              <a:t>247.4 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3657600"/>
            <a:ext cx="132588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0" i="0">
                <a:solidFill>
                  <a:srgbClr val="1E1E28"/>
                </a:solidFill>
                <a:latin typeface="Arial"/>
              </a:rPr>
              <a:t>185.6 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60519" y="3657600"/>
            <a:ext cx="109728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0" i="0">
                <a:solidFill>
                  <a:srgbClr val="1E1E28"/>
                </a:solidFill>
                <a:latin typeface="Arial"/>
              </a:rPr>
              <a:t>29.5 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57800" y="3657600"/>
            <a:ext cx="169164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1" i="0">
                <a:solidFill>
                  <a:srgbClr val="129E9E"/>
                </a:solidFill>
                <a:latin typeface="Arial"/>
              </a:rP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3657600"/>
            <a:ext cx="178308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1" i="0">
                <a:solidFill>
                  <a:srgbClr val="129E9E"/>
                </a:solidFill>
                <a:latin typeface="Arial"/>
              </a:rPr>
              <a:t>✓ stable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3871976"/>
            <a:ext cx="7955280" cy="5080"/>
          </a:xfrm>
          <a:prstGeom prst="rect">
            <a:avLst/>
          </a:prstGeom>
          <a:solidFill>
            <a:srgbClr val="E5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" y="3877056"/>
            <a:ext cx="91440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0" i="0">
                <a:solidFill>
                  <a:srgbClr val="1E1E28"/>
                </a:solidFill>
                <a:latin typeface="Arial"/>
              </a:rPr>
              <a:t>2024-Q1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08760" y="3877056"/>
            <a:ext cx="132588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0" i="0">
                <a:solidFill>
                  <a:srgbClr val="1E1E28"/>
                </a:solidFill>
                <a:latin typeface="Arial"/>
              </a:rPr>
              <a:t>364.4 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34640" y="3877056"/>
            <a:ext cx="132588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0" i="0">
                <a:solidFill>
                  <a:srgbClr val="1E1E28"/>
                </a:solidFill>
                <a:latin typeface="Arial"/>
              </a:rPr>
              <a:t>307.6 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60519" y="3877056"/>
            <a:ext cx="109728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0" i="0">
                <a:solidFill>
                  <a:srgbClr val="1E1E28"/>
                </a:solidFill>
                <a:latin typeface="Arial"/>
              </a:rPr>
              <a:t>26.4 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57800" y="3877056"/>
            <a:ext cx="169164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1" i="0">
                <a:solidFill>
                  <a:srgbClr val="129E9E"/>
                </a:solidFill>
                <a:latin typeface="Arial"/>
              </a:rP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95160" y="3877056"/>
            <a:ext cx="178308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1" i="0">
                <a:solidFill>
                  <a:srgbClr val="129E9E"/>
                </a:solidFill>
                <a:latin typeface="Arial"/>
              </a:rPr>
              <a:t>✓ stable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" y="4091432"/>
            <a:ext cx="7955280" cy="5080"/>
          </a:xfrm>
          <a:prstGeom prst="rect">
            <a:avLst/>
          </a:prstGeom>
          <a:solidFill>
            <a:srgbClr val="E5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4360" y="4096512"/>
            <a:ext cx="91440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0" i="0">
                <a:solidFill>
                  <a:srgbClr val="1E1E28"/>
                </a:solidFill>
                <a:latin typeface="Arial"/>
              </a:rPr>
              <a:t>2025-Q1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08760" y="4096512"/>
            <a:ext cx="132588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0" i="0">
                <a:solidFill>
                  <a:srgbClr val="1E1E28"/>
                </a:solidFill>
                <a:latin typeface="Arial"/>
              </a:rPr>
              <a:t>376.4 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34640" y="4096512"/>
            <a:ext cx="132588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0" i="0">
                <a:solidFill>
                  <a:srgbClr val="1E1E28"/>
                </a:solidFill>
                <a:latin typeface="Arial"/>
              </a:rPr>
              <a:t>313.6 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60519" y="4096512"/>
            <a:ext cx="109728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0" i="0">
                <a:solidFill>
                  <a:srgbClr val="1E1E28"/>
                </a:solidFill>
                <a:latin typeface="Arial"/>
              </a:rPr>
              <a:t>30.5 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57800" y="4096512"/>
            <a:ext cx="169164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1" i="0">
                <a:solidFill>
                  <a:srgbClr val="129E9E"/>
                </a:solidFill>
                <a:latin typeface="Arial"/>
              </a:rPr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95160" y="4096512"/>
            <a:ext cx="178308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1" i="0">
                <a:solidFill>
                  <a:srgbClr val="129E9E"/>
                </a:solidFill>
                <a:latin typeface="Arial"/>
              </a:rPr>
              <a:t>✓ stable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" y="4310888"/>
            <a:ext cx="7955280" cy="5080"/>
          </a:xfrm>
          <a:prstGeom prst="rect">
            <a:avLst/>
          </a:prstGeom>
          <a:solidFill>
            <a:srgbClr val="E5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4360" y="4315968"/>
            <a:ext cx="91440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0" i="0">
                <a:solidFill>
                  <a:srgbClr val="1E1E28"/>
                </a:solidFill>
                <a:latin typeface="Arial"/>
              </a:rPr>
              <a:t>2026-Q1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08760" y="4315968"/>
            <a:ext cx="132588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0" i="0">
                <a:solidFill>
                  <a:srgbClr val="1E1E28"/>
                </a:solidFill>
                <a:latin typeface="Arial"/>
              </a:rPr>
              <a:t>265.9 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34640" y="4315968"/>
            <a:ext cx="132588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0" i="0">
                <a:solidFill>
                  <a:srgbClr val="1E1E28"/>
                </a:solidFill>
                <a:latin typeface="Arial"/>
              </a:rPr>
              <a:t>224.6 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60519" y="4315968"/>
            <a:ext cx="109728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0" i="0">
                <a:solidFill>
                  <a:srgbClr val="1E1E28"/>
                </a:solidFill>
                <a:latin typeface="Arial"/>
              </a:rPr>
              <a:t>23.8 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57800" y="4315968"/>
            <a:ext cx="169164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1" i="0">
                <a:solidFill>
                  <a:srgbClr val="129E9E"/>
                </a:solidFill>
                <a:latin typeface="Arial"/>
              </a:rPr>
              <a:t>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95160" y="4315968"/>
            <a:ext cx="178308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1" i="0">
                <a:solidFill>
                  <a:srgbClr val="E88B00"/>
                </a:solidFill>
                <a:latin typeface="Arial"/>
              </a:rPr>
              <a:t>⚠ schema break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4360" y="4530344"/>
            <a:ext cx="7955280" cy="5080"/>
          </a:xfrm>
          <a:prstGeom prst="rect">
            <a:avLst/>
          </a:prstGeom>
          <a:solidFill>
            <a:srgbClr val="E5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286000" y="4526280"/>
            <a:ext cx="5897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r">
              <a:buNone/>
            </a:pPr>
            <a:r>
              <a:rPr sz="950" b="0" i="1">
                <a:solidFill>
                  <a:srgbClr val="555566"/>
                </a:solidFill>
                <a:latin typeface="Arial"/>
              </a:rPr>
              <a:t>2026 schema change details on Slide 12  ·  full quality report in backup.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sz="2400" b="1" i="0">
                <a:solidFill>
                  <a:srgbClr val="57068C"/>
                </a:solidFill>
                <a:latin typeface="Arial"/>
              </a:rPr>
              <a:t>DATA SOURCES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417320"/>
            <a:ext cx="2663952" cy="3246120"/>
          </a:xfrm>
          <a:prstGeom prst="roundRect">
            <a:avLst/>
          </a:prstGeom>
          <a:solidFill>
            <a:srgbClr val="FA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1417320"/>
            <a:ext cx="118872" cy="32461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81912"/>
            <a:ext cx="229819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300" b="1" i="0">
                <a:solidFill>
                  <a:srgbClr val="57068C"/>
                </a:solidFill>
                <a:latin typeface="Arial"/>
              </a:rPr>
              <a:t>GITHUB ARCHIVE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20"/>
            <a:ext cx="2298192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000" b="0" i="1">
                <a:solidFill>
                  <a:srgbClr val="8900E1"/>
                </a:solidFill>
                <a:latin typeface="Arial"/>
              </a:rPr>
              <a:t>Hourly event logs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2298192" cy="1051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000" b="0" i="0">
                <a:solidFill>
                  <a:srgbClr val="1E1E28"/>
                </a:solidFill>
                <a:latin typeface="Arial"/>
              </a:rPr>
              <a:t>Watch · Fork · Push · PR · Issue events from the public GitHub event firehose, archived hourly as compressed JSON.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337560"/>
            <a:ext cx="2298192" cy="6350"/>
          </a:xfrm>
          <a:prstGeom prst="rect">
            <a:avLst/>
          </a:prstGeom>
          <a:solidFill>
            <a:srgbClr val="E5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77724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>
              <a:buNone/>
            </a:pPr>
            <a:r>
              <a:rPr sz="900" b="1" i="0">
                <a:solidFill>
                  <a:srgbClr val="8900E1"/>
                </a:solidFill>
                <a:latin typeface="Arial"/>
              </a:rPr>
              <a:t>FORMAT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429000"/>
            <a:ext cx="1520952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>
              <a:buNone/>
            </a:pPr>
            <a:r>
              <a:rPr sz="950" b="0" i="0">
                <a:solidFill>
                  <a:srgbClr val="1E1E28"/>
                </a:solidFill>
                <a:latin typeface="Arial"/>
              </a:rPr>
              <a:t>Hourly .json.gz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03320"/>
            <a:ext cx="77724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>
              <a:buNone/>
            </a:pPr>
            <a:r>
              <a:rPr sz="900" b="1" i="0">
                <a:solidFill>
                  <a:srgbClr val="8900E1"/>
                </a:solidFill>
                <a:latin typeface="Arial"/>
              </a:rPr>
              <a:t>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703320"/>
            <a:ext cx="1520952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>
              <a:buNone/>
            </a:pPr>
            <a:r>
              <a:rPr sz="950" b="0" i="0">
                <a:solidFill>
                  <a:srgbClr val="1E1E28"/>
                </a:solidFill>
                <a:latin typeface="Arial"/>
              </a:rPr>
              <a:t>5 × Q1 snapshots, 2022–2026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77640"/>
            <a:ext cx="77724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>
              <a:buNone/>
            </a:pPr>
            <a:r>
              <a:rPr sz="900" b="1" i="0">
                <a:solidFill>
                  <a:srgbClr val="8900E1"/>
                </a:solidFill>
                <a:latin typeface="Arial"/>
              </a:rPr>
              <a:t>VOLUME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977640"/>
            <a:ext cx="1520952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>
              <a:buNone/>
            </a:pPr>
            <a:r>
              <a:rPr sz="950" b="0" i="0">
                <a:solidFill>
                  <a:srgbClr val="1E1E28"/>
                </a:solidFill>
                <a:latin typeface="Arial"/>
              </a:rPr>
              <a:t>1.46 B events  ·  930 GB raw  ·  87.9 GB cleaned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0024" y="1417320"/>
            <a:ext cx="2663952" cy="3246120"/>
          </a:xfrm>
          <a:prstGeom prst="roundRect">
            <a:avLst/>
          </a:prstGeom>
          <a:solidFill>
            <a:srgbClr val="FA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40024" y="1417320"/>
            <a:ext cx="118872" cy="32461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68624" y="1581912"/>
            <a:ext cx="229819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300" b="1" i="0">
                <a:solidFill>
                  <a:srgbClr val="57068C"/>
                </a:solidFill>
                <a:latin typeface="Arial"/>
              </a:rPr>
              <a:t>HUGGING FACE 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68624" y="1874520"/>
            <a:ext cx="2298192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000" b="0" i="1">
                <a:solidFill>
                  <a:srgbClr val="8900E1"/>
                </a:solidFill>
                <a:latin typeface="Arial"/>
              </a:rPr>
              <a:t>Model metadata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68624" y="2148840"/>
            <a:ext cx="2298192" cy="1051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000" b="0" i="0">
                <a:solidFill>
                  <a:srgbClr val="1E1E28"/>
                </a:solidFill>
                <a:latin typeface="Arial"/>
              </a:rPr>
              <a:t>Snapshot of every public model on Hugging Face Hub via the huggingface_hub API, including library, downloads, and parameter counts.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68624" y="3337560"/>
            <a:ext cx="2298192" cy="6350"/>
          </a:xfrm>
          <a:prstGeom prst="rect">
            <a:avLst/>
          </a:prstGeom>
          <a:solidFill>
            <a:srgbClr val="E5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68624" y="3429000"/>
            <a:ext cx="77724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>
              <a:buNone/>
            </a:pPr>
            <a:r>
              <a:rPr sz="900" b="1" i="0">
                <a:solidFill>
                  <a:srgbClr val="8900E1"/>
                </a:solidFill>
                <a:latin typeface="Arial"/>
              </a:rPr>
              <a:t>FORMAT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45864" y="3429000"/>
            <a:ext cx="1520952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>
              <a:buNone/>
            </a:pPr>
            <a:r>
              <a:rPr sz="950" b="0" i="0">
                <a:solidFill>
                  <a:srgbClr val="1E1E28"/>
                </a:solidFill>
                <a:latin typeface="Arial"/>
              </a:rPr>
              <a:t>JSONL snapshot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68624" y="3703320"/>
            <a:ext cx="77724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>
              <a:buNone/>
            </a:pPr>
            <a:r>
              <a:rPr sz="900" b="1" i="0">
                <a:solidFill>
                  <a:srgbClr val="8900E1"/>
                </a:solidFill>
                <a:latin typeface="Arial"/>
              </a:rPr>
              <a:t>COVERAGE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45864" y="3703320"/>
            <a:ext cx="1520952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>
              <a:buNone/>
            </a:pPr>
            <a:r>
              <a:rPr sz="950" b="0" i="0">
                <a:solidFill>
                  <a:srgbClr val="1E1E28"/>
                </a:solidFill>
                <a:latin typeface="Arial"/>
              </a:rPr>
              <a:t>All public models, April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68624" y="3977640"/>
            <a:ext cx="77724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>
              <a:buNone/>
            </a:pPr>
            <a:r>
              <a:rPr sz="900" b="1" i="0">
                <a:solidFill>
                  <a:srgbClr val="8900E1"/>
                </a:solidFill>
                <a:latin typeface="Arial"/>
              </a:rPr>
              <a:t>VOLUME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45864" y="3977640"/>
            <a:ext cx="1520952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>
              <a:buNone/>
            </a:pPr>
            <a:r>
              <a:rPr sz="950" b="0" i="0">
                <a:solidFill>
                  <a:srgbClr val="1E1E28"/>
                </a:solidFill>
                <a:latin typeface="Arial"/>
              </a:rPr>
              <a:t>2,815,064 models  ·  229 MB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68568" y="1417320"/>
            <a:ext cx="2663952" cy="3246120"/>
          </a:xfrm>
          <a:prstGeom prst="roundRect">
            <a:avLst/>
          </a:prstGeom>
          <a:solidFill>
            <a:srgbClr val="FA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068568" y="1417320"/>
            <a:ext cx="118872" cy="32461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97168" y="1581912"/>
            <a:ext cx="229819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300" b="1" i="0">
                <a:solidFill>
                  <a:srgbClr val="57068C"/>
                </a:solidFill>
                <a:latin typeface="Arial"/>
              </a:rPr>
              <a:t>PYPI / BIGQUERY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97168" y="1874520"/>
            <a:ext cx="2298192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000" b="0" i="1">
                <a:solidFill>
                  <a:srgbClr val="8900E1"/>
                </a:solidFill>
                <a:latin typeface="Arial"/>
              </a:rPr>
              <a:t>Monthly download counts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97168" y="2148840"/>
            <a:ext cx="2298192" cy="1051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000" b="0" i="0">
                <a:solidFill>
                  <a:srgbClr val="1E1E28"/>
                </a:solidFill>
                <a:latin typeface="Arial"/>
              </a:rPr>
              <a:t>Per-library install counts pulled from the public BigQuery PyPI dataset — the closest proxy we have to real engineering adoption.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97168" y="3337560"/>
            <a:ext cx="2298192" cy="6350"/>
          </a:xfrm>
          <a:prstGeom prst="rect">
            <a:avLst/>
          </a:prstGeom>
          <a:solidFill>
            <a:srgbClr val="E5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97168" y="3429000"/>
            <a:ext cx="77724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>
              <a:buNone/>
            </a:pPr>
            <a:r>
              <a:rPr sz="900" b="1" i="0">
                <a:solidFill>
                  <a:srgbClr val="8900E1"/>
                </a:solidFill>
                <a:latin typeface="Arial"/>
              </a:rPr>
              <a:t>FORMAT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74408" y="3429000"/>
            <a:ext cx="1520952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>
              <a:buNone/>
            </a:pPr>
            <a:r>
              <a:rPr sz="950" b="0" i="0">
                <a:solidFill>
                  <a:srgbClr val="1E1E28"/>
                </a:solidFill>
                <a:latin typeface="Arial"/>
              </a:rPr>
              <a:t>CSV (project · month · downloads)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97168" y="3703320"/>
            <a:ext cx="77724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>
              <a:buNone/>
            </a:pPr>
            <a:r>
              <a:rPr sz="900" b="1" i="0">
                <a:solidFill>
                  <a:srgbClr val="8900E1"/>
                </a:solidFill>
                <a:latin typeface="Arial"/>
              </a:rPr>
              <a:t>COVERAGE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74408" y="3703320"/>
            <a:ext cx="1520952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>
              <a:buNone/>
            </a:pPr>
            <a:r>
              <a:rPr sz="950" b="0" i="0">
                <a:solidFill>
                  <a:srgbClr val="1E1E28"/>
                </a:solidFill>
                <a:latin typeface="Arial"/>
              </a:rPr>
              <a:t>46 AI / ML libraries × 12 months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97168" y="3977640"/>
            <a:ext cx="77724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>
              <a:buNone/>
            </a:pPr>
            <a:r>
              <a:rPr sz="900" b="1" i="0">
                <a:solidFill>
                  <a:srgbClr val="8900E1"/>
                </a:solidFill>
                <a:latin typeface="Arial"/>
              </a:rPr>
              <a:t>VOLUME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74408" y="3977640"/>
            <a:ext cx="1520952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>
              <a:buNone/>
            </a:pPr>
            <a:r>
              <a:rPr sz="950" b="0" i="0">
                <a:solidFill>
                  <a:srgbClr val="1E1E28"/>
                </a:solidFill>
                <a:latin typeface="Arial"/>
              </a:rPr>
              <a:t>552 rows  ·  9 GB BigQuery scan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sz="2400" b="1" i="0">
                <a:solidFill>
                  <a:srgbClr val="57068C"/>
                </a:solidFill>
                <a:latin typeface="Arial"/>
              </a:rPr>
              <a:t>DATA SAMPLES  ·  GITHUB ARCHIVE · HF HUB · PYPI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60704"/>
            <a:ext cx="8321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100" b="0" i="1">
                <a:solidFill>
                  <a:srgbClr val="555566"/>
                </a:solidFill>
                <a:latin typeface="Arial"/>
              </a:rPr>
              <a:t>Three sources, three schemas — five-row sample of each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371600"/>
            <a:ext cx="8321040" cy="1188720"/>
          </a:xfrm>
          <a:prstGeom prst="roundRect">
            <a:avLst/>
          </a:prstGeom>
          <a:solidFill>
            <a:srgbClr val="FA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371600"/>
            <a:ext cx="118872" cy="11887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08176"/>
            <a:ext cx="2286000" cy="23774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>
              <a:buNone/>
            </a:pPr>
            <a:r>
              <a:rPr sz="1000" b="1" i="0">
                <a:solidFill>
                  <a:srgbClr val="57068C"/>
                </a:solidFill>
                <a:latin typeface="Arial"/>
              </a:rPr>
              <a:t>GH ARCHIVE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7909560" cy="8961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sz="850" b="1" i="0">
                <a:solidFill>
                  <a:srgbClr val="57068C"/>
                </a:solidFill>
                <a:latin typeface="Consolas"/>
              </a:rPr>
              <a:t>event_type        event_date   actor_login   repo_name                  push  pr_merged</a:t>
            </a:r>
          </a:p>
          <a:p>
            <a:pPr marL="0" indent="0">
              <a:spcAft>
                <a:spcPts val="0"/>
              </a:spcAft>
              <a:buNone/>
            </a:pPr>
            <a:r>
              <a:rPr sz="850" b="0" i="0">
                <a:solidFill>
                  <a:srgbClr val="1E1E28"/>
                </a:solidFill>
                <a:latin typeface="Consolas"/>
              </a:rPr>
              <a:t>WatchEvent        2025-03-15   user_abc      huggingface/transformers   —     —</a:t>
            </a:r>
          </a:p>
          <a:p>
            <a:pPr marL="0" indent="0">
              <a:spcAft>
                <a:spcPts val="0"/>
              </a:spcAft>
              <a:buNone/>
            </a:pPr>
            <a:r>
              <a:rPr sz="850" b="0" i="0">
                <a:solidFill>
                  <a:srgbClr val="1E1E28"/>
                </a:solidFill>
                <a:latin typeface="Consolas"/>
              </a:rPr>
              <a:t>PushEvent         2025-03-15   dev_xyz       pytorch/pytorch            3     —</a:t>
            </a:r>
          </a:p>
          <a:p>
            <a:pPr marL="0" indent="0">
              <a:spcAft>
                <a:spcPts val="0"/>
              </a:spcAft>
              <a:buNone/>
            </a:pPr>
            <a:r>
              <a:rPr sz="850" b="0" i="0">
                <a:solidFill>
                  <a:srgbClr val="1E1E28"/>
                </a:solidFill>
                <a:latin typeface="Consolas"/>
              </a:rPr>
              <a:t>PullRequestEvent  2025-03-15   contrib_1     tensorflow/tensorflow      —     true</a:t>
            </a:r>
          </a:p>
          <a:p>
            <a:pPr marL="0" indent="0">
              <a:spcAft>
                <a:spcPts val="0"/>
              </a:spcAft>
              <a:buNone/>
            </a:pPr>
            <a:r>
              <a:rPr sz="850" b="0" i="0">
                <a:solidFill>
                  <a:srgbClr val="1E1E28"/>
                </a:solidFill>
                <a:latin typeface="Consolas"/>
              </a:rPr>
              <a:t>ForkEvent         2025-03-15   forker_3      openai/whisper             —     —</a:t>
            </a:r>
          </a:p>
          <a:p>
            <a:pPr marL="0" indent="0">
              <a:spcBef>
                <a:spcPts val="200"/>
              </a:spcBef>
              <a:buNone/>
            </a:pPr>
            <a:r>
              <a:rPr sz="750" b="0" i="1">
                <a:solidFill>
                  <a:srgbClr val="555566"/>
                </a:solidFill>
                <a:latin typeface="Consolas"/>
              </a:rPr>
              <a:t>schema  ·  event_type, event_date, actor_login, repo_name, push_size, push_distinct_size, pr_merged, issue_state, pr_number, payload_action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606040"/>
            <a:ext cx="8321040" cy="1005840"/>
          </a:xfrm>
          <a:prstGeom prst="roundRect">
            <a:avLst/>
          </a:prstGeom>
          <a:solidFill>
            <a:srgbClr val="FA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2606040"/>
            <a:ext cx="118872" cy="100584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642616"/>
            <a:ext cx="2286000" cy="23774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>
              <a:buNone/>
            </a:pPr>
            <a:r>
              <a:rPr sz="1000" b="1" i="0">
                <a:solidFill>
                  <a:srgbClr val="57068C"/>
                </a:solidFill>
                <a:latin typeface="Arial"/>
              </a:rPr>
              <a:t>HUGGING FACE 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62072"/>
            <a:ext cx="790956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sz="850" b="1" i="0">
                <a:solidFill>
                  <a:srgbClr val="57068C"/>
                </a:solidFill>
                <a:latin typeface="Consolas"/>
              </a:rPr>
              <a:t>model_id                      library_name  pipeline_tag       downloads     likes</a:t>
            </a:r>
          </a:p>
          <a:p>
            <a:pPr marL="0" indent="0">
              <a:spcAft>
                <a:spcPts val="0"/>
              </a:spcAft>
              <a:buNone/>
            </a:pPr>
            <a:r>
              <a:rPr sz="850" b="0" i="0">
                <a:solidFill>
                  <a:srgbClr val="1E1E28"/>
                </a:solidFill>
                <a:latin typeface="Consolas"/>
              </a:rPr>
              <a:t>meta-llama/Llama-3-8B         transformers  text-generation    1,234,567     8,920</a:t>
            </a:r>
          </a:p>
          <a:p>
            <a:pPr marL="0" indent="0">
              <a:spcAft>
                <a:spcPts val="0"/>
              </a:spcAft>
              <a:buNone/>
            </a:pPr>
            <a:r>
              <a:rPr sz="850" b="0" i="0">
                <a:solidFill>
                  <a:srgbClr val="1E1E28"/>
                </a:solidFill>
                <a:latin typeface="Consolas"/>
              </a:rPr>
              <a:t>stabilityai/stable-diffusion  diffusers     image-generation     890,123     5,430</a:t>
            </a:r>
          </a:p>
          <a:p>
            <a:pPr marL="0" indent="0">
              <a:spcAft>
                <a:spcPts val="0"/>
              </a:spcAft>
              <a:buNone/>
            </a:pPr>
            <a:r>
              <a:rPr sz="850" b="0" i="0">
                <a:solidFill>
                  <a:srgbClr val="1E1E28"/>
                </a:solidFill>
                <a:latin typeface="Consolas"/>
              </a:rPr>
              <a:t>openai/whisper-large-v3       transformers  automatic-speech     456,789     3,210</a:t>
            </a:r>
          </a:p>
          <a:p>
            <a:pPr marL="0" indent="0">
              <a:spcBef>
                <a:spcPts val="200"/>
              </a:spcBef>
              <a:buNone/>
            </a:pPr>
            <a:r>
              <a:rPr sz="750" b="0" i="1">
                <a:solidFill>
                  <a:srgbClr val="555566"/>
                </a:solidFill>
                <a:latin typeface="Consolas"/>
              </a:rPr>
              <a:t>schema  ·  model_id, author, library_name, pipeline_tag, downloads, likes, created_at, parameter_count, has_safetensors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657600"/>
            <a:ext cx="8321040" cy="868680"/>
          </a:xfrm>
          <a:prstGeom prst="roundRect">
            <a:avLst/>
          </a:prstGeom>
          <a:solidFill>
            <a:srgbClr val="FA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1480" y="3657600"/>
            <a:ext cx="118872" cy="86868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694176"/>
            <a:ext cx="2286000" cy="23774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>
              <a:buNone/>
            </a:pPr>
            <a:r>
              <a:rPr sz="1000" b="1" i="0">
                <a:solidFill>
                  <a:srgbClr val="57068C"/>
                </a:solidFill>
                <a:latin typeface="Arial"/>
              </a:rPr>
              <a:t>PYPI / BIGQUERY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913632"/>
            <a:ext cx="7909560" cy="5760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sz="850" b="1" i="0">
                <a:solidFill>
                  <a:srgbClr val="57068C"/>
                </a:solidFill>
                <a:latin typeface="Consolas"/>
              </a:rPr>
              <a:t>project        month         downloads</a:t>
            </a:r>
          </a:p>
          <a:p>
            <a:pPr marL="0" indent="0">
              <a:spcAft>
                <a:spcPts val="0"/>
              </a:spcAft>
              <a:buNone/>
            </a:pPr>
            <a:r>
              <a:rPr sz="850" b="0" i="0">
                <a:solidFill>
                  <a:srgbClr val="1E1E28"/>
                </a:solidFill>
                <a:latin typeface="Consolas"/>
              </a:rPr>
              <a:t>transformers   2025-01-01    12,345,678</a:t>
            </a:r>
          </a:p>
          <a:p>
            <a:pPr marL="0" indent="0">
              <a:spcAft>
                <a:spcPts val="0"/>
              </a:spcAft>
              <a:buNone/>
            </a:pPr>
            <a:r>
              <a:rPr sz="850" b="0" i="0">
                <a:solidFill>
                  <a:srgbClr val="1E1E28"/>
                </a:solidFill>
                <a:latin typeface="Consolas"/>
              </a:rPr>
              <a:t>torch          2025-01-01    45,123,456</a:t>
            </a:r>
          </a:p>
          <a:p>
            <a:pPr marL="0" indent="0">
              <a:spcBef>
                <a:spcPts val="200"/>
              </a:spcBef>
              <a:buNone/>
            </a:pPr>
            <a:r>
              <a:rPr sz="750" b="0" i="1">
                <a:solidFill>
                  <a:srgbClr val="555566"/>
                </a:solidFill>
                <a:latin typeface="Consolas"/>
              </a:rPr>
              <a:t>schema  ·  project, month (YYYY-MM-01), downloads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590288"/>
            <a:ext cx="5897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r">
              <a:buNone/>
            </a:pPr>
            <a:r>
              <a:rPr sz="1000" b="0" i="1">
                <a:solidFill>
                  <a:srgbClr val="57068C"/>
                </a:solidFill>
                <a:latin typeface="Arial"/>
              </a:rPr>
              <a:t>Total cleaned scale  ·  87.9 GB Parquet · 2.81 M HF rows · 552 PyPI rows.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sz="2400" b="1" i="0">
                <a:solidFill>
                  <a:srgbClr val="57068C"/>
                </a:solidFill>
                <a:latin typeface="Arial"/>
              </a:rPr>
              <a:t>DESIGN DIAGRAM  ·  PIPELINE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60704"/>
            <a:ext cx="8321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100" b="0" i="1">
                <a:solidFill>
                  <a:srgbClr val="555566"/>
                </a:solidFill>
                <a:latin typeface="Arial"/>
              </a:rPr>
              <a:t>3 sources  →  Spark cleaning  →  10 analytics jobs  →  CSV / Tableau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417320"/>
            <a:ext cx="2676144" cy="594360"/>
          </a:xfrm>
          <a:prstGeom prst="roundRect">
            <a:avLst/>
          </a:prstGeom>
          <a:solidFill>
            <a:srgbClr val="FA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2676144" cy="64008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508760"/>
            <a:ext cx="2676144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 algn="ctr">
              <a:buNone/>
            </a:pPr>
            <a:r>
              <a:rPr sz="1100" b="1" i="0">
                <a:solidFill>
                  <a:srgbClr val="57068C"/>
                </a:solidFill>
                <a:latin typeface="Arial"/>
              </a:rPr>
              <a:t>GH ARCHIVE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46504"/>
            <a:ext cx="2676144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ctr">
              <a:buNone/>
            </a:pPr>
            <a:r>
              <a:rPr sz="900" b="0" i="1">
                <a:solidFill>
                  <a:srgbClr val="555566"/>
                </a:solidFill>
                <a:latin typeface="Arial"/>
              </a:rPr>
              <a:t>hourly .json.gz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33928" y="1417320"/>
            <a:ext cx="2676144" cy="594360"/>
          </a:xfrm>
          <a:prstGeom prst="roundRect">
            <a:avLst/>
          </a:prstGeom>
          <a:solidFill>
            <a:srgbClr val="FA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33928" y="1417320"/>
            <a:ext cx="2676144" cy="64008"/>
          </a:xfrm>
          <a:prstGeom prst="rect">
            <a:avLst/>
          </a:prstGeom>
          <a:solidFill>
            <a:srgbClr val="890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33928" y="1508760"/>
            <a:ext cx="2676144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 algn="ctr">
              <a:buNone/>
            </a:pPr>
            <a:r>
              <a:rPr sz="1100" b="1" i="0">
                <a:solidFill>
                  <a:srgbClr val="57068C"/>
                </a:solidFill>
                <a:latin typeface="Arial"/>
              </a:rPr>
              <a:t>HUGGING FACE 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3928" y="1746504"/>
            <a:ext cx="2676144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ctr">
              <a:buNone/>
            </a:pPr>
            <a:r>
              <a:rPr sz="900" b="0" i="1">
                <a:solidFill>
                  <a:srgbClr val="555566"/>
                </a:solidFill>
                <a:latin typeface="Arial"/>
              </a:rPr>
              <a:t>snapshot via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56376" y="1417320"/>
            <a:ext cx="2676144" cy="594360"/>
          </a:xfrm>
          <a:prstGeom prst="roundRect">
            <a:avLst/>
          </a:prstGeom>
          <a:solidFill>
            <a:srgbClr val="FA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56376" y="1417320"/>
            <a:ext cx="2676144" cy="64008"/>
          </a:xfrm>
          <a:prstGeom prst="rect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56376" y="1508760"/>
            <a:ext cx="2676144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 algn="ctr">
              <a:buNone/>
            </a:pPr>
            <a:r>
              <a:rPr sz="1100" b="1" i="0">
                <a:solidFill>
                  <a:srgbClr val="57068C"/>
                </a:solidFill>
                <a:latin typeface="Arial"/>
              </a:rPr>
              <a:t>PyPI / BIGQUERY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6376" y="1746504"/>
            <a:ext cx="2676144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ctr">
              <a:buNone/>
            </a:pPr>
            <a:r>
              <a:rPr sz="900" b="0" i="1">
                <a:solidFill>
                  <a:srgbClr val="555566"/>
                </a:solidFill>
                <a:latin typeface="Arial"/>
              </a:rPr>
              <a:t>monthly downloads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648968" y="2048256"/>
            <a:ext cx="201168" cy="201168"/>
          </a:xfrm>
          <a:prstGeom prst="downArrow">
            <a:avLst/>
          </a:prstGeom>
          <a:solidFill>
            <a:srgbClr val="890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Down Arrow 16"/>
          <p:cNvSpPr/>
          <p:nvPr/>
        </p:nvSpPr>
        <p:spPr>
          <a:xfrm>
            <a:off x="4471416" y="2048256"/>
            <a:ext cx="201168" cy="201168"/>
          </a:xfrm>
          <a:prstGeom prst="downArrow">
            <a:avLst/>
          </a:prstGeom>
          <a:solidFill>
            <a:srgbClr val="890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Down Arrow 17"/>
          <p:cNvSpPr/>
          <p:nvPr/>
        </p:nvSpPr>
        <p:spPr>
          <a:xfrm>
            <a:off x="7293864" y="2048256"/>
            <a:ext cx="201168" cy="201168"/>
          </a:xfrm>
          <a:prstGeom prst="downArrow">
            <a:avLst/>
          </a:prstGeom>
          <a:solidFill>
            <a:srgbClr val="890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11480" y="2331720"/>
            <a:ext cx="8321040" cy="640080"/>
          </a:xfrm>
          <a:prstGeom prst="round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2331720"/>
            <a:ext cx="8321040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 algn="ctr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SPARK CLEAN  &amp;  DEDUPLICATE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2697480"/>
            <a:ext cx="8321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ctr">
              <a:buNone/>
            </a:pPr>
            <a:r>
              <a:rPr sz="1000" b="0" i="1">
                <a:solidFill>
                  <a:srgbClr val="E6CFFF"/>
                </a:solidFill>
                <a:latin typeface="Arial"/>
              </a:rPr>
              <a:t>5 event types  ·  unified schema  ·  partitioned by event_date  ·  ignoreCorruptFiles=true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4471416" y="3008376"/>
            <a:ext cx="201168" cy="201168"/>
          </a:xfrm>
          <a:prstGeom prst="downArrow">
            <a:avLst/>
          </a:prstGeom>
          <a:solidFill>
            <a:srgbClr val="890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11480" y="3337560"/>
            <a:ext cx="1576425" cy="1097280"/>
          </a:xfrm>
          <a:prstGeom prst="roundRect">
            <a:avLst/>
          </a:prstGeom>
          <a:solidFill>
            <a:srgbClr val="F1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1480" y="3337560"/>
            <a:ext cx="1576425" cy="45720"/>
          </a:xfrm>
          <a:prstGeom prst="rect">
            <a:avLst/>
          </a:prstGeom>
          <a:solidFill>
            <a:srgbClr val="890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3429000"/>
            <a:ext cx="1484985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ctr">
              <a:buNone/>
            </a:pPr>
            <a:r>
              <a:rPr sz="1000" b="1" i="0">
                <a:solidFill>
                  <a:srgbClr val="57068C"/>
                </a:solidFill>
                <a:latin typeface="Arial"/>
              </a:rPr>
              <a:t>Job 01-03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703320"/>
            <a:ext cx="1484985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ctr">
              <a:buNone/>
            </a:pPr>
            <a:r>
              <a:rPr sz="900" b="0" i="0">
                <a:solidFill>
                  <a:srgbClr val="1E1E28"/>
                </a:solidFill>
                <a:latin typeface="Arial"/>
              </a:rPr>
              <a:t>Daily metrics
HF/GH join
Health score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97633" y="3337560"/>
            <a:ext cx="1576425" cy="1097280"/>
          </a:xfrm>
          <a:prstGeom prst="roundRect">
            <a:avLst/>
          </a:prstGeom>
          <a:solidFill>
            <a:srgbClr val="F1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097633" y="3337560"/>
            <a:ext cx="1576425" cy="45720"/>
          </a:xfrm>
          <a:prstGeom prst="rect">
            <a:avLst/>
          </a:prstGeom>
          <a:solidFill>
            <a:srgbClr val="890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143353" y="3429000"/>
            <a:ext cx="1484985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ctr">
              <a:buNone/>
            </a:pPr>
            <a:r>
              <a:rPr sz="1000" b="1" i="0">
                <a:solidFill>
                  <a:srgbClr val="57068C"/>
                </a:solidFill>
                <a:latin typeface="Arial"/>
              </a:rPr>
              <a:t>Job 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3353" y="3703320"/>
            <a:ext cx="1484985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ctr">
              <a:buNone/>
            </a:pPr>
            <a:r>
              <a:rPr sz="900" b="0" i="0">
                <a:solidFill>
                  <a:srgbClr val="1E1E28"/>
                </a:solidFill>
                <a:latin typeface="Arial"/>
              </a:rPr>
              <a:t>Top-1000 repos
(billion-record
shuffle)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83786" y="3337560"/>
            <a:ext cx="1576425" cy="1097280"/>
          </a:xfrm>
          <a:prstGeom prst="roundRect">
            <a:avLst/>
          </a:prstGeom>
          <a:solidFill>
            <a:srgbClr val="F1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783786" y="3337560"/>
            <a:ext cx="1576425" cy="45720"/>
          </a:xfrm>
          <a:prstGeom prst="rect">
            <a:avLst/>
          </a:prstGeom>
          <a:solidFill>
            <a:srgbClr val="890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829506" y="3429000"/>
            <a:ext cx="1484985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ctr">
              <a:buNone/>
            </a:pPr>
            <a:r>
              <a:rPr sz="1000" b="1" i="0">
                <a:solidFill>
                  <a:srgbClr val="57068C"/>
                </a:solidFill>
                <a:latin typeface="Arial"/>
              </a:rPr>
              <a:t>Job 05-07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29506" y="3703320"/>
            <a:ext cx="1484985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ctr">
              <a:buNone/>
            </a:pPr>
            <a:r>
              <a:rPr sz="900" b="0" i="0">
                <a:solidFill>
                  <a:srgbClr val="1E1E28"/>
                </a:solidFill>
                <a:latin typeface="Arial"/>
              </a:rPr>
              <a:t>AI vs General
Star hype
Contributor health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69939" y="3337560"/>
            <a:ext cx="1576425" cy="1097280"/>
          </a:xfrm>
          <a:prstGeom prst="roundRect">
            <a:avLst/>
          </a:prstGeom>
          <a:solidFill>
            <a:srgbClr val="F1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469939" y="3337560"/>
            <a:ext cx="1576425" cy="45720"/>
          </a:xfrm>
          <a:prstGeom prst="rect">
            <a:avLst/>
          </a:prstGeom>
          <a:solidFill>
            <a:srgbClr val="890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515659" y="3429000"/>
            <a:ext cx="1484985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ctr">
              <a:buNone/>
            </a:pPr>
            <a:r>
              <a:rPr sz="1000" b="1" i="0">
                <a:solidFill>
                  <a:srgbClr val="57068C"/>
                </a:solidFill>
                <a:latin typeface="Arial"/>
              </a:rPr>
              <a:t>Job 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15659" y="3703320"/>
            <a:ext cx="1484985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ctr">
              <a:buNone/>
            </a:pPr>
            <a:r>
              <a:rPr sz="900" b="0" i="0">
                <a:solidFill>
                  <a:srgbClr val="1E1E28"/>
                </a:solidFill>
                <a:latin typeface="Arial"/>
              </a:rPr>
              <a:t>5-year era
comparison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56092" y="3337560"/>
            <a:ext cx="1576425" cy="1097280"/>
          </a:xfrm>
          <a:prstGeom prst="roundRect">
            <a:avLst/>
          </a:prstGeom>
          <a:solidFill>
            <a:srgbClr val="F1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156092" y="3337560"/>
            <a:ext cx="1576425" cy="45720"/>
          </a:xfrm>
          <a:prstGeom prst="rect">
            <a:avLst/>
          </a:prstGeom>
          <a:solidFill>
            <a:srgbClr val="890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201812" y="3429000"/>
            <a:ext cx="1484985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ctr">
              <a:buNone/>
            </a:pPr>
            <a:r>
              <a:rPr sz="1000" b="1" i="0">
                <a:solidFill>
                  <a:srgbClr val="57068C"/>
                </a:solidFill>
                <a:latin typeface="Arial"/>
              </a:rPr>
              <a:t>Job 09-10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01812" y="3703320"/>
            <a:ext cx="1484985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ctr">
              <a:buNone/>
            </a:pPr>
            <a:r>
              <a:rPr sz="900" b="0" i="0">
                <a:solidFill>
                  <a:srgbClr val="1E1E28"/>
                </a:solidFill>
                <a:latin typeface="Arial"/>
              </a:rPr>
              <a:t>Repo deep-dive
Dev rhythm
(weekend gap)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sz="2400" b="1" i="0">
                <a:solidFill>
                  <a:srgbClr val="57068C"/>
                </a:solidFill>
                <a:latin typeface="Arial"/>
              </a:rPr>
              <a:t>CODE CHALLENGE  ·  JL17797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60704"/>
            <a:ext cx="8321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100" b="0" i="1">
                <a:solidFill>
                  <a:srgbClr val="555566"/>
                </a:solidFill>
                <a:latin typeface="Arial"/>
              </a:rPr>
              <a:t>HDFS quota &amp; per-era processing — surviving 5 years × Q1 in 500 GB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417320"/>
            <a:ext cx="4160520" cy="3017520"/>
          </a:xfrm>
          <a:prstGeom prst="roundRect">
            <a:avLst/>
          </a:prstGeom>
          <a:solidFill>
            <a:srgbClr val="FA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4160520" cy="384048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397764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ROLLING INGEST  ·  500 GB QUOTA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920240"/>
            <a:ext cx="3758184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000" b="1" i="0">
                <a:solidFill>
                  <a:srgbClr val="8900E1"/>
                </a:solidFill>
                <a:latin typeface="Arial"/>
              </a:rPr>
              <a:t>Problem  ·  </a:t>
            </a:r>
            <a:r>
              <a:rPr sz="1050" b="1" i="0">
                <a:solidFill>
                  <a:srgbClr val="E24A4A"/>
                </a:solidFill>
                <a:latin typeface="Arial"/>
              </a:rPr>
              <a:t>700 GB needed &gt; 500 GB quota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286000"/>
            <a:ext cx="1627632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570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2331720"/>
            <a:ext cx="144475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000" b="1" i="0">
                <a:solidFill>
                  <a:srgbClr val="57068C"/>
                </a:solidFill>
                <a:latin typeface="Arial"/>
              </a:rPr>
              <a:t>①  DOWNLOAD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578608"/>
            <a:ext cx="144475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900" b="0" i="0">
                <a:solidFill>
                  <a:srgbClr val="1E1E28"/>
                </a:solidFill>
                <a:latin typeface="Arial"/>
              </a:rPr>
              <a:t>Q1 raw .gz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276856" y="2446020"/>
            <a:ext cx="237744" cy="274320"/>
          </a:xfrm>
          <a:prstGeom prst="rightArrow">
            <a:avLst/>
          </a:prstGeom>
          <a:solidFill>
            <a:srgbClr val="890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551176" y="2286000"/>
            <a:ext cx="1627632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8900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42616" y="2331720"/>
            <a:ext cx="144475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000" b="1" i="0">
                <a:solidFill>
                  <a:srgbClr val="8900E1"/>
                </a:solidFill>
                <a:latin typeface="Arial"/>
              </a:rPr>
              <a:t>②  SPARK CLEAN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2616" y="2578608"/>
            <a:ext cx="144475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900" b="0" i="0">
                <a:solidFill>
                  <a:srgbClr val="1E1E28"/>
                </a:solidFill>
                <a:latin typeface="Arial"/>
              </a:rPr>
              <a:t>→ Parquet, 8× smaller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3813048" y="2898648"/>
            <a:ext cx="228600" cy="256032"/>
          </a:xfrm>
          <a:prstGeom prst="downArrow">
            <a:avLst/>
          </a:prstGeom>
          <a:solidFill>
            <a:srgbClr val="890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551176" y="3154680"/>
            <a:ext cx="1627632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88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42616" y="3200400"/>
            <a:ext cx="144475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000" b="1" i="0">
                <a:solidFill>
                  <a:srgbClr val="E88B00"/>
                </a:solidFill>
                <a:latin typeface="Arial"/>
              </a:rPr>
              <a:t>③  DELETE RAW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42616" y="3447288"/>
            <a:ext cx="144475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900" b="0" i="0">
                <a:solidFill>
                  <a:srgbClr val="1E1E28"/>
                </a:solidFill>
                <a:latin typeface="Arial"/>
              </a:rPr>
              <a:t>free ~150 GB</a:t>
            </a:r>
          </a:p>
        </p:txBody>
      </p:sp>
      <p:sp>
        <p:nvSpPr>
          <p:cNvPr id="19" name="Left Arrow 18"/>
          <p:cNvSpPr/>
          <p:nvPr/>
        </p:nvSpPr>
        <p:spPr>
          <a:xfrm>
            <a:off x="2276856" y="3314700"/>
            <a:ext cx="237744" cy="274320"/>
          </a:xfrm>
          <a:prstGeom prst="leftArrow">
            <a:avLst/>
          </a:prstGeom>
          <a:solidFill>
            <a:srgbClr val="890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12648" y="3154680"/>
            <a:ext cx="1627632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12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4088" y="3200400"/>
            <a:ext cx="144475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000" b="1" i="0">
                <a:solidFill>
                  <a:srgbClr val="129E9E"/>
                </a:solidFill>
                <a:latin typeface="Arial"/>
              </a:rPr>
              <a:t>④  NEXT YEAR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3447288"/>
            <a:ext cx="144475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900" b="0" i="0">
                <a:solidFill>
                  <a:srgbClr val="1E1E28"/>
                </a:solidFill>
                <a:latin typeface="Arial"/>
              </a:rPr>
              <a:t>loop ×5</a:t>
            </a:r>
          </a:p>
        </p:txBody>
      </p:sp>
      <p:sp>
        <p:nvSpPr>
          <p:cNvPr id="23" name="Up Arrow 22"/>
          <p:cNvSpPr/>
          <p:nvPr/>
        </p:nvSpPr>
        <p:spPr>
          <a:xfrm>
            <a:off x="749808" y="2898648"/>
            <a:ext cx="228600" cy="256032"/>
          </a:xfrm>
          <a:prstGeom prst="upArrow">
            <a:avLst/>
          </a:prstGeom>
          <a:solidFill>
            <a:srgbClr val="890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648" y="4069080"/>
            <a:ext cx="3758184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000" b="1" i="1">
                <a:solidFill>
                  <a:srgbClr val="57068C"/>
                </a:solidFill>
                <a:latin typeface="Arial"/>
              </a:rPr>
              <a:t>Outcome  ·  5-year timeline ingested within 500 GB 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0" y="1417320"/>
            <a:ext cx="4160520" cy="3017520"/>
          </a:xfrm>
          <a:prstGeom prst="roundRect">
            <a:avLst/>
          </a:prstGeom>
          <a:solidFill>
            <a:srgbClr val="FA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754880" y="1417320"/>
            <a:ext cx="4160520" cy="384048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37760" y="1417320"/>
            <a:ext cx="397764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PER-ERA PROCESSING  ·  90 GB ON 48 GB EXECUTORS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56048" y="1874520"/>
            <a:ext cx="3758184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050" b="0" i="0">
                <a:solidFill>
                  <a:srgbClr val="1E1E28"/>
                </a:solidFill>
                <a:latin typeface="Arial"/>
              </a:rPr>
              <a:t>Naive cache-all spilled to disk; YARN killed it after 1.5 h. Per-era compute + intermediate saves makes the job crash-safe and resumable.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56048" y="2423160"/>
            <a:ext cx="128016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63640" y="2423160"/>
            <a:ext cx="11887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>
              <a:buNone/>
            </a:pPr>
            <a:r>
              <a:rPr sz="950" b="1" i="0">
                <a:solidFill>
                  <a:srgbClr val="8900E1"/>
                </a:solidFill>
                <a:latin typeface="Arial"/>
              </a:rPr>
              <a:t>Union-first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0" y="2423160"/>
            <a:ext cx="132588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>
              <a:buNone/>
            </a:pPr>
            <a:r>
              <a:rPr sz="950" b="1" i="0">
                <a:solidFill>
                  <a:srgbClr val="8900E1"/>
                </a:solidFill>
                <a:latin typeface="Arial"/>
              </a:rPr>
              <a:t>Per-era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56048" y="2692400"/>
            <a:ext cx="3758184" cy="7620"/>
          </a:xfrm>
          <a:prstGeom prst="rect">
            <a:avLst/>
          </a:prstGeom>
          <a:solidFill>
            <a:srgbClr val="890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56048" y="2743200"/>
            <a:ext cx="128016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>
              <a:buNone/>
            </a:pPr>
            <a:r>
              <a:rPr sz="950" b="1" i="0">
                <a:solidFill>
                  <a:srgbClr val="1E1E28"/>
                </a:solidFill>
                <a:latin typeface="Arial"/>
              </a:rPr>
              <a:t>Peak memory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2743200"/>
            <a:ext cx="11887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>
              <a:buNone/>
            </a:pPr>
            <a:r>
              <a:rPr sz="950" b="0" i="0">
                <a:solidFill>
                  <a:srgbClr val="E24A4A"/>
                </a:solidFill>
                <a:latin typeface="Arial"/>
              </a:rPr>
              <a:t>90 GB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0" y="2743200"/>
            <a:ext cx="132588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>
              <a:buNone/>
            </a:pPr>
            <a:r>
              <a:rPr sz="950" b="1" i="0">
                <a:solidFill>
                  <a:srgbClr val="129E9E"/>
                </a:solidFill>
                <a:latin typeface="Arial"/>
              </a:rPr>
              <a:t>15-23 GB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56048" y="3012440"/>
            <a:ext cx="3758184" cy="5080"/>
          </a:xfrm>
          <a:prstGeom prst="rect">
            <a:avLst/>
          </a:prstGeom>
          <a:solidFill>
            <a:srgbClr val="E5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956048" y="3017520"/>
            <a:ext cx="128016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>
              <a:buNone/>
            </a:pPr>
            <a:r>
              <a:rPr sz="950" b="1" i="0">
                <a:solidFill>
                  <a:srgbClr val="1E1E28"/>
                </a:solidFill>
                <a:latin typeface="Arial"/>
              </a:rPr>
              <a:t>Runtime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3017520"/>
            <a:ext cx="11887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>
              <a:buNone/>
            </a:pPr>
            <a:r>
              <a:rPr sz="950" b="0" i="0">
                <a:solidFill>
                  <a:srgbClr val="E24A4A"/>
                </a:solidFill>
                <a:latin typeface="Arial"/>
              </a:rPr>
              <a:t>2-3 h (killed)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0" y="3017520"/>
            <a:ext cx="132588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>
              <a:buNone/>
            </a:pPr>
            <a:r>
              <a:rPr sz="950" b="1" i="0">
                <a:solidFill>
                  <a:srgbClr val="129E9E"/>
                </a:solidFill>
                <a:latin typeface="Arial"/>
              </a:rPr>
              <a:t>40-60 min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56048" y="3286760"/>
            <a:ext cx="3758184" cy="5080"/>
          </a:xfrm>
          <a:prstGeom prst="rect">
            <a:avLst/>
          </a:prstGeom>
          <a:solidFill>
            <a:srgbClr val="E5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956048" y="3291840"/>
            <a:ext cx="128016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>
              <a:buNone/>
            </a:pPr>
            <a:r>
              <a:rPr sz="950" b="1" i="0">
                <a:solidFill>
                  <a:srgbClr val="1E1E28"/>
                </a:solidFill>
                <a:latin typeface="Arial"/>
              </a:rPr>
              <a:t>Blast radius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3291840"/>
            <a:ext cx="11887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>
              <a:buNone/>
            </a:pPr>
            <a:r>
              <a:rPr sz="950" b="0" i="0">
                <a:solidFill>
                  <a:srgbClr val="E24A4A"/>
                </a:solidFill>
                <a:latin typeface="Arial"/>
              </a:rPr>
              <a:t>All eras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0" y="3291840"/>
            <a:ext cx="132588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>
              <a:buNone/>
            </a:pPr>
            <a:r>
              <a:rPr sz="950" b="1" i="0">
                <a:solidFill>
                  <a:srgbClr val="129E9E"/>
                </a:solidFill>
                <a:latin typeface="Arial"/>
              </a:rPr>
              <a:t>Only failed era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56048" y="3561080"/>
            <a:ext cx="3758184" cy="5080"/>
          </a:xfrm>
          <a:prstGeom prst="rect">
            <a:avLst/>
          </a:prstGeom>
          <a:solidFill>
            <a:srgbClr val="E5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956048" y="3566160"/>
            <a:ext cx="128016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>
              <a:buNone/>
            </a:pPr>
            <a:r>
              <a:rPr sz="950" b="1" i="0">
                <a:solidFill>
                  <a:srgbClr val="1E1E28"/>
                </a:solidFill>
                <a:latin typeface="Arial"/>
              </a:rPr>
              <a:t>Shuffle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566160"/>
            <a:ext cx="11887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>
              <a:buNone/>
            </a:pPr>
            <a:r>
              <a:rPr sz="950" b="0" i="0">
                <a:solidFill>
                  <a:srgbClr val="E24A4A"/>
                </a:solidFill>
                <a:latin typeface="Arial"/>
              </a:rPr>
              <a:t>90 GB / pass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80" y="3566160"/>
            <a:ext cx="132588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>
              <a:buNone/>
            </a:pPr>
            <a:r>
              <a:rPr sz="950" b="1" i="0">
                <a:solidFill>
                  <a:srgbClr val="129E9E"/>
                </a:solidFill>
                <a:latin typeface="Arial"/>
              </a:rPr>
              <a:t>15-23 GB / pass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56048" y="3835400"/>
            <a:ext cx="3758184" cy="5080"/>
          </a:xfrm>
          <a:prstGeom prst="rect">
            <a:avLst/>
          </a:prstGeom>
          <a:solidFill>
            <a:srgbClr val="E5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sz="2400" b="1" i="0">
                <a:solidFill>
                  <a:srgbClr val="57068C"/>
                </a:solidFill>
                <a:latin typeface="Arial"/>
              </a:rPr>
              <a:t>CODE CHALLENGE  ·  BY2566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60704"/>
            <a:ext cx="8321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100" b="0" i="1">
                <a:solidFill>
                  <a:srgbClr val="555566"/>
                </a:solidFill>
                <a:latin typeface="Arial"/>
              </a:rPr>
              <a:t>Billion-record shuffle — group by repo across 334 date partitions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371600"/>
            <a:ext cx="1956816" cy="868680"/>
          </a:xfrm>
          <a:prstGeom prst="roundRect">
            <a:avLst/>
          </a:prstGeom>
          <a:solidFill>
            <a:srgbClr val="FA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371600"/>
            <a:ext cx="1956816" cy="64008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463040"/>
            <a:ext cx="1956816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 algn="ctr">
              <a:buNone/>
            </a:pPr>
            <a:r>
              <a:rPr sz="2400" b="1" i="0">
                <a:solidFill>
                  <a:srgbClr val="57068C"/>
                </a:solidFill>
                <a:latin typeface="Arial"/>
              </a:rPr>
              <a:t>72 GB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20240"/>
            <a:ext cx="1956816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ctr">
              <a:buNone/>
            </a:pPr>
            <a:r>
              <a:rPr sz="950" b="1" i="0">
                <a:solidFill>
                  <a:srgbClr val="555566"/>
                </a:solidFill>
                <a:latin typeface="Arial"/>
              </a:rPr>
              <a:t>INPUT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32888" y="1371600"/>
            <a:ext cx="1956816" cy="868680"/>
          </a:xfrm>
          <a:prstGeom prst="roundRect">
            <a:avLst/>
          </a:prstGeom>
          <a:solidFill>
            <a:srgbClr val="FA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532888" y="1371600"/>
            <a:ext cx="1956816" cy="64008"/>
          </a:xfrm>
          <a:prstGeom prst="rect">
            <a:avLst/>
          </a:prstGeom>
          <a:solidFill>
            <a:srgbClr val="E2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32888" y="1463040"/>
            <a:ext cx="1956816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 algn="ctr">
              <a:buNone/>
            </a:pPr>
            <a:r>
              <a:rPr sz="2400" b="1" i="0">
                <a:solidFill>
                  <a:srgbClr val="E24A4A"/>
                </a:solidFill>
                <a:latin typeface="Arial"/>
              </a:rPr>
              <a:t>83 GB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2888" y="1920240"/>
            <a:ext cx="1956816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ctr">
              <a:buNone/>
            </a:pPr>
            <a:r>
              <a:rPr sz="950" b="1" i="0">
                <a:solidFill>
                  <a:srgbClr val="555566"/>
                </a:solidFill>
                <a:latin typeface="Arial"/>
              </a:rPr>
              <a:t>SHUFFLE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54296" y="1371600"/>
            <a:ext cx="1956816" cy="868680"/>
          </a:xfrm>
          <a:prstGeom prst="roundRect">
            <a:avLst/>
          </a:prstGeom>
          <a:solidFill>
            <a:srgbClr val="FA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54296" y="1371600"/>
            <a:ext cx="1956816" cy="64008"/>
          </a:xfrm>
          <a:prstGeom prst="rect">
            <a:avLst/>
          </a:prstGeom>
          <a:solidFill>
            <a:srgbClr val="890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54296" y="1463040"/>
            <a:ext cx="1956816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 algn="ctr">
              <a:buNone/>
            </a:pPr>
            <a:r>
              <a:rPr sz="2400" b="1" i="0">
                <a:solidFill>
                  <a:srgbClr val="8900E1"/>
                </a:solidFill>
                <a:latin typeface="Arial"/>
              </a:rPr>
              <a:t>1B+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1920240"/>
            <a:ext cx="1956816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ctr">
              <a:buNone/>
            </a:pPr>
            <a:r>
              <a:rPr sz="950" b="1" i="0">
                <a:solidFill>
                  <a:srgbClr val="555566"/>
                </a:solidFill>
                <a:latin typeface="Arial"/>
              </a:rPr>
              <a:t>RECORDS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1371600"/>
            <a:ext cx="1956816" cy="868680"/>
          </a:xfrm>
          <a:prstGeom prst="roundRect">
            <a:avLst/>
          </a:prstGeom>
          <a:solidFill>
            <a:srgbClr val="FA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775704" y="1371600"/>
            <a:ext cx="1956816" cy="64008"/>
          </a:xfrm>
          <a:prstGeom prst="rect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75704" y="1463040"/>
            <a:ext cx="1956816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 algn="ctr">
              <a:buNone/>
            </a:pPr>
            <a:r>
              <a:rPr sz="2400" b="1" i="0">
                <a:solidFill>
                  <a:srgbClr val="330066"/>
                </a:solidFill>
                <a:latin typeface="Arial"/>
              </a:rPr>
              <a:t>3+ 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75704" y="1920240"/>
            <a:ext cx="1956816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ctr">
              <a:buNone/>
            </a:pPr>
            <a:r>
              <a:rPr sz="950" b="1" i="0">
                <a:solidFill>
                  <a:srgbClr val="555566"/>
                </a:solidFill>
                <a:latin typeface="Arial"/>
              </a:rPr>
              <a:t>WALL CLOCK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2423160"/>
            <a:ext cx="4078224" cy="1920240"/>
          </a:xfrm>
          <a:prstGeom prst="roundRect">
            <a:avLst/>
          </a:prstGeom>
          <a:solidFill>
            <a:srgbClr val="FA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2532888"/>
            <a:ext cx="3712464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000" b="1" i="0">
                <a:solidFill>
                  <a:srgbClr val="8900E1"/>
                </a:solidFill>
                <a:latin typeface="Arial"/>
              </a:rPr>
              <a:t>WHAT WE DID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2807208"/>
            <a:ext cx="3712464" cy="1463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1100" b="0" i="0">
                <a:solidFill>
                  <a:srgbClr val="1E1E28"/>
                </a:solidFill>
                <a:latin typeface="Arial"/>
              </a:rPr>
              <a:t>• Tuned </a:t>
            </a:r>
            <a:r>
              <a:rPr sz="1100" b="0" i="0">
                <a:solidFill>
                  <a:srgbClr val="1E1E28"/>
                </a:solidFill>
                <a:latin typeface="Consolas"/>
              </a:rPr>
              <a:t>spark.sql.shuffle.partitions</a:t>
            </a:r>
            <a:r>
              <a:rPr sz="1100" b="0" i="0">
                <a:solidFill>
                  <a:srgbClr val="1E1E28"/>
                </a:solidFill>
                <a:latin typeface="Arial"/>
              </a:rPr>
              <a:t> (400 → 200) to cluster size</a:t>
            </a:r>
          </a:p>
          <a:p>
            <a:pPr marL="0" indent="0">
              <a:spcAft>
                <a:spcPts val="400"/>
              </a:spcAft>
              <a:buNone/>
            </a:pPr>
            <a:r>
              <a:rPr sz="1100" b="0" i="0">
                <a:solidFill>
                  <a:srgbClr val="1E1E28"/>
                </a:solidFill>
                <a:latin typeface="Arial"/>
              </a:rPr>
              <a:t>• .cache() on aggregated DataFrame so multi-write actions don't re-shuffle (3× redundancy gone)</a:t>
            </a:r>
          </a:p>
          <a:p>
            <a:pPr marL="0" indent="0">
              <a:spcAft>
                <a:spcPts val="400"/>
              </a:spcAft>
              <a:buNone/>
            </a:pPr>
            <a:r>
              <a:rPr sz="1100" b="0" i="0">
                <a:solidFill>
                  <a:srgbClr val="1E1E28"/>
                </a:solidFill>
                <a:latin typeface="Arial"/>
              </a:rPr>
              <a:t>• Replaced Python UDFs with native </a:t>
            </a:r>
            <a:r>
              <a:rPr sz="1100" b="0" i="0">
                <a:solidFill>
                  <a:srgbClr val="1E1E28"/>
                </a:solidFill>
                <a:latin typeface="Consolas"/>
              </a:rPr>
              <a:t>F.col().isin()</a:t>
            </a:r>
          </a:p>
          <a:p>
            <a:pPr marL="0" indent="0">
              <a:buNone/>
            </a:pPr>
            <a:r>
              <a:rPr sz="1100" b="0" i="0">
                <a:solidFill>
                  <a:srgbClr val="1E1E28"/>
                </a:solidFill>
                <a:latin typeface="Arial"/>
              </a:rPr>
              <a:t>• Restructured Jobs 05–07 to read pre-aggregated Job 04 output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54296" y="2423160"/>
            <a:ext cx="4078224" cy="1920240"/>
          </a:xfrm>
          <a:prstGeom prst="roundRect">
            <a:avLst/>
          </a:prstGeom>
          <a:solidFill>
            <a:srgbClr val="F1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37176" y="2532888"/>
            <a:ext cx="3712464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000" b="1" i="0">
                <a:solidFill>
                  <a:srgbClr val="8900E1"/>
                </a:solidFill>
                <a:latin typeface="Arial"/>
              </a:rPr>
              <a:t>WHAT WE'D DO DIFFERENTLY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37176" y="2807208"/>
            <a:ext cx="3712464" cy="1417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sz="1100" b="0" i="0">
                <a:solidFill>
                  <a:srgbClr val="1E1E28"/>
                </a:solidFill>
                <a:latin typeface="Arial"/>
              </a:rPr>
              <a:t>Bucket cleaned data by repo_name at ingest:</a:t>
            </a:r>
          </a:p>
          <a:p>
            <a:pPr marL="0" indent="0">
              <a:spcAft>
                <a:spcPts val="600"/>
              </a:spcAft>
              <a:buNone/>
            </a:pPr>
            <a:r>
              <a:rPr sz="1000" b="0" i="0">
                <a:solidFill>
                  <a:srgbClr val="1E1E28"/>
                </a:solidFill>
                <a:latin typeface="Consolas"/>
              </a:rPr>
              <a:t>cleaned.write
  .bucketBy(256, "repo_name")
  .sortBy("repo_name")
  .saveAsTable("gharchive_cleaned")</a:t>
            </a:r>
          </a:p>
          <a:p>
            <a:pPr marL="0" indent="0">
              <a:buNone/>
            </a:pPr>
            <a:r>
              <a:rPr sz="1100" b="1" i="0">
                <a:solidFill>
                  <a:srgbClr val="57068C"/>
                </a:solidFill>
                <a:latin typeface="Arial"/>
              </a:rPr>
              <a:t>Eliminates the 83 GB shuffle entirely</a:t>
            </a:r>
            <a:r>
              <a:rPr sz="1100" b="0" i="0">
                <a:solidFill>
                  <a:srgbClr val="1E1E28"/>
                </a:solidFill>
                <a:latin typeface="Arial"/>
              </a:rPr>
              <a:t>  —  hours → minutes.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4498848"/>
            <a:ext cx="5897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r">
              <a:buNone/>
            </a:pPr>
            <a:r>
              <a:rPr sz="1000" b="0" i="1">
                <a:solidFill>
                  <a:srgbClr val="57068C"/>
                </a:solidFill>
                <a:latin typeface="Arial"/>
              </a:rPr>
              <a:t>Lesson — at billion-record scale, network I/O dominates compute. Partition strategy at ingest determines query cost.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sz="2400" b="1" i="0">
                <a:solidFill>
                  <a:srgbClr val="57068C"/>
                </a:solidFill>
                <a:latin typeface="Arial"/>
              </a:rPr>
              <a:t>CODE CHALLENGE  ·  2026 SCHEMA BREAKING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60704"/>
            <a:ext cx="8321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100" b="0" i="1">
                <a:solidFill>
                  <a:srgbClr val="555566"/>
                </a:solidFill>
                <a:latin typeface="Arial"/>
              </a:rPr>
              <a:t>Job 08 reported merged_prs = 0 for 2026-Q1 — what happened?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417320"/>
            <a:ext cx="4078224" cy="1828800"/>
          </a:xfrm>
          <a:prstGeom prst="roundRect">
            <a:avLst/>
          </a:prstGeom>
          <a:solidFill>
            <a:srgbClr val="FA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527048"/>
            <a:ext cx="3712464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000" b="1" i="0">
                <a:solidFill>
                  <a:srgbClr val="8900E1"/>
                </a:solidFill>
                <a:latin typeface="Arial"/>
              </a:rPr>
              <a:t>THE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01368"/>
            <a:ext cx="3712464" cy="1325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sz="1100" b="0" i="0">
                <a:solidFill>
                  <a:srgbClr val="1E1E28"/>
                </a:solidFill>
                <a:latin typeface="Arial"/>
              </a:rPr>
              <a:t>Job 08 reported merged_prs = 0 for 2026-Q1. Investigation revealed the GitHub Archive payload schema changed.</a:t>
            </a:r>
          </a:p>
          <a:p>
            <a:pPr marL="0" indent="0">
              <a:spcAft>
                <a:spcPts val="800"/>
              </a:spcAft>
              <a:buNone/>
            </a:pPr>
            <a:r>
              <a:rPr sz="1100" b="1" i="0">
                <a:solidFill>
                  <a:srgbClr val="57068C"/>
                </a:solidFill>
                <a:latin typeface="Arial"/>
              </a:rPr>
              <a:t>Root cause: </a:t>
            </a:r>
            <a:r>
              <a:rPr sz="1100" b="0" i="0">
                <a:solidFill>
                  <a:srgbClr val="1E1E28"/>
                </a:solidFill>
                <a:latin typeface="Arial"/>
              </a:rPr>
              <a:t>GitHub API simplification — announced 2025-08-08, effective 2025-10-07.</a:t>
            </a:r>
          </a:p>
          <a:p>
            <a:pPr marL="0" indent="0">
              <a:buNone/>
            </a:pPr>
            <a:r>
              <a:rPr sz="1100" b="1" i="0">
                <a:solidFill>
                  <a:srgbClr val="57068C"/>
                </a:solidFill>
                <a:latin typeface="Arial"/>
              </a:rPr>
              <a:t>Verification: </a:t>
            </a:r>
            <a:r>
              <a:rPr sz="1100" b="0" i="0">
                <a:solidFill>
                  <a:srgbClr val="1E1E28"/>
                </a:solidFill>
                <a:latin typeface="Arial"/>
              </a:rPr>
              <a:t>downloaded raw JSON from both eras and compared payload keys directly.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54296" y="1417320"/>
            <a:ext cx="4078224" cy="1828800"/>
          </a:xfrm>
          <a:prstGeom prst="roundRect">
            <a:avLst/>
          </a:prstGeom>
          <a:solidFill>
            <a:srgbClr val="F1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37176" y="1527048"/>
            <a:ext cx="3712464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000" b="1" i="0">
                <a:solidFill>
                  <a:srgbClr val="8900E1"/>
                </a:solidFill>
                <a:latin typeface="Arial"/>
              </a:rPr>
              <a:t>SCHEMA DIFF  ·  2025  vs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37176" y="1828800"/>
            <a:ext cx="1691640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1" i="0">
                <a:solidFill>
                  <a:srgbClr val="8900E1"/>
                </a:solidFill>
                <a:latin typeface="Consolas"/>
              </a:rPr>
              <a:t>Field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3096" y="1828800"/>
            <a:ext cx="1005840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1" i="0">
                <a:solidFill>
                  <a:srgbClr val="8900E1"/>
                </a:solidFill>
                <a:latin typeface="Consolas"/>
              </a:rPr>
              <a:t>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88936" y="1828800"/>
            <a:ext cx="1097280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1" i="0">
                <a:solidFill>
                  <a:srgbClr val="8900E1"/>
                </a:solidFill>
                <a:latin typeface="Consolas"/>
              </a:rPr>
              <a:t>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7176" y="2075688"/>
            <a:ext cx="1691640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0" i="0">
                <a:solidFill>
                  <a:srgbClr val="1E1E28"/>
                </a:solidFill>
                <a:latin typeface="Consolas"/>
              </a:rPr>
              <a:t>payload.distinct_size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2075688"/>
            <a:ext cx="1005840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0" i="0">
                <a:solidFill>
                  <a:srgbClr val="129E9E"/>
                </a:solidFill>
                <a:latin typeface="Consolas"/>
              </a:rPr>
              <a:t>✓ present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88936" y="2075688"/>
            <a:ext cx="1097280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1" i="0">
                <a:solidFill>
                  <a:srgbClr val="E24A4A"/>
                </a:solidFill>
                <a:latin typeface="Consolas"/>
              </a:rPr>
              <a:t>✗ removed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37176" y="2317496"/>
            <a:ext cx="3712464" cy="5080"/>
          </a:xfrm>
          <a:prstGeom prst="rect">
            <a:avLst/>
          </a:prstGeom>
          <a:solidFill>
            <a:srgbClr val="E5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37176" y="2322576"/>
            <a:ext cx="1691640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0" i="0">
                <a:solidFill>
                  <a:srgbClr val="1E1E28"/>
                </a:solidFill>
                <a:latin typeface="Consolas"/>
              </a:rPr>
              <a:t>payload.commits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2322576"/>
            <a:ext cx="1005840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0" i="0">
                <a:solidFill>
                  <a:srgbClr val="129E9E"/>
                </a:solidFill>
                <a:latin typeface="Consolas"/>
              </a:rPr>
              <a:t>✓ present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88936" y="2322576"/>
            <a:ext cx="1097280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1" i="0">
                <a:solidFill>
                  <a:srgbClr val="E24A4A"/>
                </a:solidFill>
                <a:latin typeface="Consolas"/>
              </a:rPr>
              <a:t>✗ removed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37176" y="2564384"/>
            <a:ext cx="3712464" cy="5080"/>
          </a:xfrm>
          <a:prstGeom prst="rect">
            <a:avLst/>
          </a:prstGeom>
          <a:solidFill>
            <a:srgbClr val="E5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37176" y="2569464"/>
            <a:ext cx="1691640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0" i="0">
                <a:solidFill>
                  <a:srgbClr val="1E1E28"/>
                </a:solidFill>
                <a:latin typeface="Consolas"/>
              </a:rPr>
              <a:t>pr.merged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3096" y="2569464"/>
            <a:ext cx="1005840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0" i="0">
                <a:solidFill>
                  <a:srgbClr val="129E9E"/>
                </a:solidFill>
                <a:latin typeface="Consolas"/>
              </a:rPr>
              <a:t>true / false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8936" y="2569464"/>
            <a:ext cx="1097280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1" i="0">
                <a:solidFill>
                  <a:srgbClr val="E24A4A"/>
                </a:solidFill>
                <a:latin typeface="Consolas"/>
              </a:rPr>
              <a:t>✗ NULL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37176" y="2811272"/>
            <a:ext cx="3712464" cy="5080"/>
          </a:xfrm>
          <a:prstGeom prst="rect">
            <a:avLst/>
          </a:prstGeom>
          <a:solidFill>
            <a:srgbClr val="E5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37176" y="2816352"/>
            <a:ext cx="1691640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0" i="0">
                <a:solidFill>
                  <a:srgbClr val="1E1E28"/>
                </a:solidFill>
                <a:latin typeface="Consolas"/>
              </a:rPr>
              <a:t>payload.action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3096" y="2816352"/>
            <a:ext cx="1005840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0" i="0">
                <a:solidFill>
                  <a:srgbClr val="129E9E"/>
                </a:solidFill>
                <a:latin typeface="Consolas"/>
              </a:rPr>
              <a:t>opened/closed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88936" y="2816352"/>
            <a:ext cx="1097280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marL="0" indent="0">
              <a:buNone/>
            </a:pPr>
            <a:r>
              <a:rPr sz="950" b="1" i="0">
                <a:solidFill>
                  <a:srgbClr val="57068C"/>
                </a:solidFill>
                <a:latin typeface="Consolas"/>
              </a:rPr>
              <a:t>+ "merged"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37176" y="3058160"/>
            <a:ext cx="3712464" cy="5080"/>
          </a:xfrm>
          <a:prstGeom prst="rect">
            <a:avLst/>
          </a:prstGeom>
          <a:solidFill>
            <a:srgbClr val="E5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11480" y="3337560"/>
            <a:ext cx="8321040" cy="1188720"/>
          </a:xfrm>
          <a:prstGeom prst="roundRect">
            <a:avLst/>
          </a:prstGeom>
          <a:solidFill>
            <a:srgbClr val="FA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1480" y="3337560"/>
            <a:ext cx="118872" cy="11887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3429000"/>
            <a:ext cx="79095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000" b="1" i="0">
                <a:solidFill>
                  <a:srgbClr val="8900E1"/>
                </a:solidFill>
                <a:latin typeface="Arial"/>
              </a:rPr>
              <a:t>BACKWARD-COMPATIBLE FIX  ·  CODE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3703320"/>
            <a:ext cx="790956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000" b="0" i="0">
                <a:solidFill>
                  <a:srgbClr val="1E1E28"/>
                </a:solidFill>
                <a:latin typeface="Consolas"/>
              </a:rPr>
              <a:t># Backward-compatible merged-PR detection
((F.col("payload_action") == "closed") &amp; F.col("pr_merged").eqNullSafe(True))
  | (F.col("payload_action") == "merged")  # 2026+ schema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4590288"/>
            <a:ext cx="5897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r">
              <a:buNone/>
            </a:pPr>
            <a:r>
              <a:rPr sz="1000" b="0" i="1">
                <a:solidFill>
                  <a:srgbClr val="57068C"/>
                </a:solidFill>
                <a:latin typeface="Arial"/>
              </a:rPr>
              <a:t>Validation  ·  re-cleaned all 2,160 raw files, diff &lt; 0.39% (corrupt-file tolerance).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sz="2200" b="1" i="0">
                <a:solidFill>
                  <a:srgbClr val="57068C"/>
                </a:solidFill>
                <a:latin typeface="Arial"/>
              </a:rPr>
              <a:t>RESULT · STARS  ≠ 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60704"/>
            <a:ext cx="8321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100" b="0" i="1">
                <a:solidFill>
                  <a:srgbClr val="555566"/>
                </a:solidFill>
                <a:latin typeface="Arial"/>
              </a:rPr>
              <a:t>Bubble chart  ·  PyPI downloads × GH stars · size = HF model count</a:t>
            </a:r>
          </a:p>
        </p:txBody>
      </p:sp>
      <p:pic>
        <p:nvPicPr>
          <p:cNvPr id="4" name="Picture 3" descr="01_stars_vs_heal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5349240" cy="3017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897880" y="1417320"/>
            <a:ext cx="2834640" cy="3017520"/>
          </a:xfrm>
          <a:prstGeom prst="roundRect">
            <a:avLst/>
          </a:prstGeom>
          <a:solidFill>
            <a:srgbClr val="F1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80760" y="1554480"/>
            <a:ext cx="2468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000" b="1" i="0">
                <a:solidFill>
                  <a:srgbClr val="8900E1"/>
                </a:solidFill>
                <a:latin typeface="Arial"/>
              </a:rPr>
              <a:t>FINDING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1828800"/>
            <a:ext cx="2468880" cy="2514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1100" b="0" i="1">
                <a:solidFill>
                  <a:srgbClr val="555566"/>
                </a:solidFill>
                <a:latin typeface="Arial"/>
              </a:rPr>
              <a:t>Three archetypes from one chart:</a:t>
            </a:r>
          </a:p>
          <a:p>
            <a:pPr marL="0" indent="0">
              <a:spcAft>
                <a:spcPts val="500"/>
              </a:spcAft>
              <a:buNone/>
            </a:pPr>
            <a:r>
              <a:rPr sz="1100" b="1" i="0">
                <a:solidFill>
                  <a:srgbClr val="129E9E"/>
                </a:solidFill>
                <a:latin typeface="Arial"/>
              </a:rPr>
              <a:t>True leader  ·  </a:t>
            </a:r>
            <a:r>
              <a:rPr sz="1100" b="1" i="0">
                <a:solidFill>
                  <a:srgbClr val="57068C"/>
                </a:solidFill>
                <a:latin typeface="Arial"/>
              </a:rPr>
              <a:t>transformers </a:t>
            </a:r>
            <a:r>
              <a:rPr sz="1050" b="0" i="0">
                <a:solidFill>
                  <a:srgbClr val="1E1E28"/>
                </a:solidFill>
                <a:latin typeface="Arial"/>
              </a:rPr>
              <a:t>13 K stars · 938 M PyPI · 835 K HF models — wins on all three signals.</a:t>
            </a:r>
          </a:p>
          <a:p>
            <a:pPr marL="0" indent="0">
              <a:spcAft>
                <a:spcPts val="500"/>
              </a:spcAft>
              <a:buNone/>
            </a:pPr>
            <a:r>
              <a:rPr sz="1100" b="1" i="0">
                <a:solidFill>
                  <a:srgbClr val="8900E1"/>
                </a:solidFill>
                <a:latin typeface="Arial"/>
              </a:rPr>
              <a:t>Quiet powerhouse  ·  </a:t>
            </a:r>
            <a:r>
              <a:rPr sz="1100" b="1" i="0">
                <a:solidFill>
                  <a:srgbClr val="57068C"/>
                </a:solidFill>
                <a:latin typeface="Arial"/>
              </a:rPr>
              <a:t>sentence-transformers </a:t>
            </a:r>
            <a:r>
              <a:rPr sz="1050" b="0" i="0">
                <a:solidFill>
                  <a:srgbClr val="1E1E28"/>
                </a:solidFill>
                <a:latin typeface="Arial"/>
              </a:rPr>
              <a:t>1.6 K stars  →  519 M HF downloads — </a:t>
            </a:r>
            <a:r>
              <a:rPr sz="1100" b="1" i="0">
                <a:solidFill>
                  <a:srgbClr val="8900E1"/>
                </a:solidFill>
                <a:latin typeface="Arial"/>
              </a:rPr>
              <a:t>327,014× </a:t>
            </a:r>
            <a:r>
              <a:rPr sz="1050" b="0" i="0">
                <a:solidFill>
                  <a:srgbClr val="1E1E28"/>
                </a:solidFill>
                <a:latin typeface="Arial"/>
              </a:rPr>
              <a:t>downloads / star.</a:t>
            </a:r>
          </a:p>
          <a:p>
            <a:pPr marL="0" indent="0">
              <a:spcAft>
                <a:spcPts val="800"/>
              </a:spcAft>
              <a:buNone/>
            </a:pPr>
            <a:r>
              <a:rPr sz="1100" b="1" i="0">
                <a:solidFill>
                  <a:srgbClr val="E88B00"/>
                </a:solidFill>
                <a:latin typeface="Arial"/>
              </a:rPr>
              <a:t>Asymmetric adoption  ·  </a:t>
            </a:r>
            <a:r>
              <a:rPr sz="1100" b="1" i="0">
                <a:solidFill>
                  <a:srgbClr val="57068C"/>
                </a:solidFill>
                <a:latin typeface="Arial"/>
              </a:rPr>
              <a:t>ollama </a:t>
            </a:r>
            <a:r>
              <a:rPr sz="1050" b="0" i="0">
                <a:solidFill>
                  <a:srgbClr val="1E1E28"/>
                </a:solidFill>
                <a:latin typeface="Arial"/>
              </a:rPr>
              <a:t>44.5 K stars + 47.9 M PyPI but only 241 HF downloads — it's a runtime, not a model library.</a:t>
            </a:r>
          </a:p>
          <a:p>
            <a:pPr marL="0" indent="0">
              <a:buNone/>
            </a:pPr>
            <a:r>
              <a:rPr sz="1100" b="1" i="1">
                <a:solidFill>
                  <a:srgbClr val="57068C"/>
                </a:solidFill>
                <a:latin typeface="Arial"/>
              </a:rPr>
              <a:t>“No single signal captures every project — triangulation is the point.”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sz="2200" b="1" i="0">
                <a:solidFill>
                  <a:srgbClr val="57068C"/>
                </a:solidFill>
                <a:latin typeface="Arial"/>
              </a:rPr>
              <a:t>RESULT · EVENT COMPOSITION ACROSS 5 ERAS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60704"/>
            <a:ext cx="8321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100" b="0" i="1">
                <a:solidFill>
                  <a:srgbClr val="555566"/>
                </a:solidFill>
                <a:latin typeface="Arial"/>
              </a:rPr>
              <a:t>Stacked bar  ·  Push · PR · Watch · Issues · Fork by Q1, 2022–2026</a:t>
            </a:r>
          </a:p>
        </p:txBody>
      </p:sp>
      <p:pic>
        <p:nvPicPr>
          <p:cNvPr id="4" name="Picture 3" descr="07_even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5349240" cy="3017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897880" y="1417320"/>
            <a:ext cx="2834640" cy="3017520"/>
          </a:xfrm>
          <a:prstGeom prst="roundRect">
            <a:avLst/>
          </a:prstGeom>
          <a:solidFill>
            <a:srgbClr val="F1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80760" y="1554480"/>
            <a:ext cx="2468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000" b="1" i="0">
                <a:solidFill>
                  <a:srgbClr val="8900E1"/>
                </a:solidFill>
                <a:latin typeface="Arial"/>
              </a:rPr>
              <a:t>FINDING 1b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1828800"/>
            <a:ext cx="2468880" cy="2514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sz="1100" b="0" i="1">
                <a:solidFill>
                  <a:srgbClr val="555566"/>
                </a:solidFill>
                <a:latin typeface="Arial"/>
              </a:rPr>
              <a:t>Stacked composition by event type:</a:t>
            </a:r>
          </a:p>
          <a:p>
            <a:pPr marL="0" indent="0">
              <a:spcAft>
                <a:spcPts val="400"/>
              </a:spcAft>
              <a:buNone/>
            </a:pPr>
            <a:r>
              <a:rPr sz="1100" b="1" i="0">
                <a:solidFill>
                  <a:srgbClr val="57068C"/>
                </a:solidFill>
                <a:latin typeface="Arial"/>
              </a:rPr>
              <a:t>Push holds steady   </a:t>
            </a:r>
            <a:r>
              <a:rPr sz="1050" b="0" i="0">
                <a:solidFill>
                  <a:srgbClr val="1E1E28"/>
                </a:solidFill>
                <a:latin typeface="Arial"/>
              </a:rPr>
              <a:t>146 M  →  225 M  </a:t>
            </a:r>
            <a:r>
              <a:rPr sz="1050" b="1" i="0">
                <a:solidFill>
                  <a:srgbClr val="129E9E"/>
                </a:solidFill>
                <a:latin typeface="Arial"/>
              </a:rPr>
              <a:t>(+54%)</a:t>
            </a:r>
          </a:p>
          <a:p>
            <a:pPr marL="0" indent="0">
              <a:spcAft>
                <a:spcPts val="400"/>
              </a:spcAft>
              <a:buNone/>
            </a:pPr>
            <a:r>
              <a:rPr sz="1100" b="1" i="0">
                <a:solidFill>
                  <a:srgbClr val="57068C"/>
                </a:solidFill>
                <a:latin typeface="Arial"/>
              </a:rPr>
              <a:t>Watch (Star) collapses   </a:t>
            </a:r>
            <a:r>
              <a:rPr sz="1050" b="0" i="0">
                <a:solidFill>
                  <a:srgbClr val="1E1E28"/>
                </a:solidFill>
                <a:latin typeface="Arial"/>
              </a:rPr>
              <a:t>19.6 M  →  7.2 M  </a:t>
            </a:r>
            <a:r>
              <a:rPr sz="1050" b="1" i="0">
                <a:solidFill>
                  <a:srgbClr val="E24A4A"/>
                </a:solidFill>
                <a:latin typeface="Arial"/>
              </a:rPr>
              <a:t>(−63%)</a:t>
            </a:r>
          </a:p>
          <a:p>
            <a:pPr marL="0" indent="0">
              <a:spcAft>
                <a:spcPts val="1000"/>
              </a:spcAft>
              <a:buNone/>
            </a:pPr>
            <a:r>
              <a:rPr sz="1100" b="1" i="0">
                <a:solidFill>
                  <a:srgbClr val="57068C"/>
                </a:solidFill>
                <a:latin typeface="Arial"/>
              </a:rPr>
              <a:t>Fork collapses   </a:t>
            </a:r>
            <a:r>
              <a:rPr sz="1050" b="0" i="0">
                <a:solidFill>
                  <a:srgbClr val="1E1E28"/>
                </a:solidFill>
                <a:latin typeface="Arial"/>
              </a:rPr>
              <a:t>4.6 M  →  1.5 M  </a:t>
            </a:r>
            <a:r>
              <a:rPr sz="1050" b="1" i="0">
                <a:solidFill>
                  <a:srgbClr val="E24A4A"/>
                </a:solidFill>
                <a:latin typeface="Arial"/>
              </a:rPr>
              <a:t>(−67%)</a:t>
            </a:r>
          </a:p>
          <a:p>
            <a:pPr marL="0" indent="0">
              <a:spcAft>
                <a:spcPts val="600"/>
              </a:spcAft>
              <a:buNone/>
            </a:pPr>
            <a:r>
              <a:rPr sz="1050" b="0" i="1">
                <a:solidFill>
                  <a:srgbClr val="1E1E28"/>
                </a:solidFill>
                <a:latin typeface="Arial"/>
              </a:rPr>
              <a:t>The 2026 “drop” isn't real engineering decline — it's the social-signal events evaporating.</a:t>
            </a:r>
          </a:p>
          <a:p>
            <a:pPr marL="0" indent="0">
              <a:buNone/>
            </a:pPr>
            <a:r>
              <a:rPr sz="1050" b="1" i="1">
                <a:solidFill>
                  <a:srgbClr val="57068C"/>
                </a:solidFill>
                <a:latin typeface="Arial"/>
              </a:rPr>
              <a:t>Push events stayed flat → developers kept committing.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sz="2200" b="1" i="0">
                <a:solidFill>
                  <a:srgbClr val="57068C"/>
                </a:solidFill>
                <a:latin typeface="Arial"/>
              </a:rPr>
              <a:t>RESULT · THE 5-YEAR ECOSYSTEM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60704"/>
            <a:ext cx="8321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100" b="0" i="1">
                <a:solidFill>
                  <a:srgbClr val="555566"/>
                </a:solidFill>
                <a:latin typeface="Arial"/>
              </a:rPr>
              <a:t>Multi-line chart  ·  developers (M) and total events (M) by Q1, 2022–2026</a:t>
            </a:r>
          </a:p>
        </p:txBody>
      </p:sp>
      <p:pic>
        <p:nvPicPr>
          <p:cNvPr id="4" name="Picture 3" descr="03_era_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5349240" cy="3017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897880" y="1417320"/>
            <a:ext cx="2834640" cy="3017520"/>
          </a:xfrm>
          <a:prstGeom prst="roundRect">
            <a:avLst/>
          </a:prstGeom>
          <a:solidFill>
            <a:srgbClr val="F1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80760" y="1554480"/>
            <a:ext cx="2468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000" b="1" i="0">
                <a:solidFill>
                  <a:srgbClr val="8900E1"/>
                </a:solidFill>
                <a:latin typeface="Arial"/>
              </a:rPr>
              <a:t>FINDING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1828800"/>
            <a:ext cx="2468880" cy="2514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sz="1100" b="0" i="1">
                <a:solidFill>
                  <a:srgbClr val="555566"/>
                </a:solidFill>
                <a:latin typeface="Arial"/>
              </a:rPr>
              <a:t>1.46 B events tell one story:</a:t>
            </a:r>
          </a:p>
          <a:p>
            <a:pPr marL="0" indent="0">
              <a:spcAft>
                <a:spcPts val="400"/>
              </a:spcAft>
              <a:buNone/>
            </a:pPr>
            <a:r>
              <a:rPr sz="1100" b="1" i="0">
                <a:solidFill>
                  <a:srgbClr val="57068C"/>
                </a:solidFill>
                <a:latin typeface="Arial"/>
              </a:rPr>
              <a:t>Developers  </a:t>
            </a:r>
            <a:r>
              <a:rPr sz="1100" b="0" i="0">
                <a:solidFill>
                  <a:srgbClr val="1E1E28"/>
                </a:solidFill>
                <a:latin typeface="Arial"/>
              </a:rPr>
              <a:t>7.0 M  →  10.6 M  </a:t>
            </a:r>
            <a:r>
              <a:rPr sz="1100" b="1" i="0">
                <a:solidFill>
                  <a:srgbClr val="129E9E"/>
                </a:solidFill>
                <a:latin typeface="Arial"/>
              </a:rPr>
              <a:t>(+51%)</a:t>
            </a:r>
          </a:p>
          <a:p>
            <a:pPr marL="0" indent="0">
              <a:spcAft>
                <a:spcPts val="400"/>
              </a:spcAft>
              <a:buNone/>
            </a:pPr>
            <a:r>
              <a:rPr sz="1100" b="1" i="0">
                <a:solidFill>
                  <a:srgbClr val="57068C"/>
                </a:solidFill>
                <a:latin typeface="Arial"/>
              </a:rPr>
              <a:t>Total events  </a:t>
            </a:r>
            <a:r>
              <a:rPr sz="1100" b="0" i="0">
                <a:solidFill>
                  <a:srgbClr val="1E1E28"/>
                </a:solidFill>
                <a:latin typeface="Arial"/>
              </a:rPr>
              <a:t>207 M  →  266 M  </a:t>
            </a:r>
            <a:r>
              <a:rPr sz="1100" b="1" i="0">
                <a:solidFill>
                  <a:srgbClr val="8900E1"/>
                </a:solidFill>
                <a:latin typeface="Arial"/>
              </a:rPr>
              <a:t>(peaked 376 M in 2025)</a:t>
            </a:r>
          </a:p>
          <a:p>
            <a:pPr marL="0" indent="0">
              <a:spcAft>
                <a:spcPts val="1000"/>
              </a:spcAft>
              <a:buNone/>
            </a:pPr>
            <a:r>
              <a:rPr sz="1100" b="1" i="0">
                <a:solidFill>
                  <a:srgbClr val="57068C"/>
                </a:solidFill>
                <a:latin typeface="Arial"/>
              </a:rPr>
              <a:t>Avg contributors / repo  </a:t>
            </a:r>
            <a:r>
              <a:rPr sz="1100" b="0" i="0">
                <a:solidFill>
                  <a:srgbClr val="1E1E28"/>
                </a:solidFill>
                <a:latin typeface="Arial"/>
              </a:rPr>
              <a:t>4.88  →  2.84  </a:t>
            </a:r>
            <a:r>
              <a:rPr sz="1100" b="1" i="0">
                <a:solidFill>
                  <a:srgbClr val="E24A4A"/>
                </a:solidFill>
                <a:latin typeface="Arial"/>
              </a:rPr>
              <a:t>(-42%)</a:t>
            </a:r>
          </a:p>
          <a:p>
            <a:pPr marL="0" indent="0">
              <a:spcAft>
                <a:spcPts val="800"/>
              </a:spcAft>
              <a:buNone/>
            </a:pPr>
            <a:r>
              <a:rPr sz="1050" b="0" i="0">
                <a:solidFill>
                  <a:srgbClr val="1E1E28"/>
                </a:solidFill>
                <a:latin typeface="Arial"/>
              </a:rPr>
              <a:t>More developers, more repos — but each repo gets less work and fewer contributors. Development is getting “lighter.”</a:t>
            </a:r>
          </a:p>
          <a:p>
            <a:pPr marL="0" indent="0">
              <a:buNone/>
            </a:pPr>
            <a:r>
              <a:rPr sz="900" b="0" i="1">
                <a:solidFill>
                  <a:srgbClr val="555566"/>
                </a:solidFill>
                <a:latin typeface="Arial"/>
              </a:rPr>
              <a:t>Caveat  ·  2026 WatchEvent −63% / ForkEvent −67% align with He et al. (arXiv:2412.13459): 90% of flagged repos observed deleted (16× normal rate), suggesting platform enforcement.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sz="2400" b="1" i="0">
                <a:solidFill>
                  <a:srgbClr val="57068C"/>
                </a:solidFill>
                <a:latin typeface="Arial"/>
              </a:rPr>
              <a:t>PAPER REFERENCE  ·  EXTERNAL EVIDENCE FOR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60704"/>
            <a:ext cx="8321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100" b="0" i="1">
                <a:solidFill>
                  <a:srgbClr val="555566"/>
                </a:solidFill>
                <a:latin typeface="Arial"/>
              </a:rPr>
              <a:t>Why our 2026 WatchEvent / ForkEvent collapse is consistent with the literature</a:t>
            </a:r>
          </a:p>
        </p:txBody>
      </p:sp>
      <p:pic>
        <p:nvPicPr>
          <p:cNvPr id="4" name="Picture 3" descr="arx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8321040" cy="960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1480" y="2423160"/>
            <a:ext cx="2663952" cy="1188720"/>
          </a:xfrm>
          <a:prstGeom prst="roundRect">
            <a:avLst/>
          </a:prstGeom>
          <a:solidFill>
            <a:srgbClr val="FA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2423160"/>
            <a:ext cx="2663952" cy="64008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2532888"/>
            <a:ext cx="2663952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 algn="ctr">
              <a:buNone/>
            </a:pPr>
            <a:r>
              <a:rPr sz="2600" b="1" i="0">
                <a:solidFill>
                  <a:srgbClr val="57068C"/>
                </a:solidFill>
                <a:latin typeface="Arial"/>
              </a:rPr>
              <a:t>~6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2971800"/>
            <a:ext cx="2444496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ctr">
              <a:buNone/>
            </a:pPr>
            <a:r>
              <a:rPr sz="850" b="1" i="0">
                <a:solidFill>
                  <a:srgbClr val="555566"/>
                </a:solidFill>
                <a:latin typeface="Arial"/>
              </a:rPr>
              <a:t>FAKE STARS IDENTIFIED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3209544"/>
            <a:ext cx="2444496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ctr">
              <a:buNone/>
            </a:pPr>
            <a:r>
              <a:rPr sz="900" b="0" i="0">
                <a:solidFill>
                  <a:srgbClr val="1E1E28"/>
                </a:solidFill>
                <a:latin typeface="Arial"/>
              </a:rPr>
              <a:t>Inauthentic stars detected by their classifier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0024" y="2423160"/>
            <a:ext cx="2663952" cy="1188720"/>
          </a:xfrm>
          <a:prstGeom prst="roundRect">
            <a:avLst/>
          </a:prstGeom>
          <a:solidFill>
            <a:srgbClr val="FA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40024" y="2423160"/>
            <a:ext cx="2663952" cy="64008"/>
          </a:xfrm>
          <a:prstGeom prst="rect">
            <a:avLst/>
          </a:prstGeom>
          <a:solidFill>
            <a:srgbClr val="890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40024" y="2532888"/>
            <a:ext cx="2663952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 algn="ctr">
              <a:buNone/>
            </a:pPr>
            <a:r>
              <a:rPr sz="2600" b="1" i="0">
                <a:solidFill>
                  <a:srgbClr val="8900E1"/>
                </a:solidFill>
                <a:latin typeface="Arial"/>
              </a:rPr>
              <a:t>90%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9752" y="2971800"/>
            <a:ext cx="2444496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ctr">
              <a:buNone/>
            </a:pPr>
            <a:r>
              <a:rPr sz="850" b="1" i="0">
                <a:solidFill>
                  <a:srgbClr val="555566"/>
                </a:solidFill>
                <a:latin typeface="Arial"/>
              </a:rPr>
              <a:t>FLAGGED REPOS  ·  observed deleted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9752" y="3209544"/>
            <a:ext cx="2444496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ctr">
              <a:buNone/>
            </a:pPr>
            <a:r>
              <a:rPr sz="900" b="0" i="0">
                <a:solidFill>
                  <a:srgbClr val="1E1E28"/>
                </a:solidFill>
                <a:latin typeface="Arial"/>
              </a:rPr>
              <a:t>Authors re-checked and observed deletion at 16× the normal repo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68568" y="2423160"/>
            <a:ext cx="2663952" cy="1188720"/>
          </a:xfrm>
          <a:prstGeom prst="roundRect">
            <a:avLst/>
          </a:prstGeom>
          <a:solidFill>
            <a:srgbClr val="FA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68568" y="2423160"/>
            <a:ext cx="2663952" cy="64008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68568" y="2532888"/>
            <a:ext cx="2663952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 algn="ctr">
              <a:buNone/>
            </a:pPr>
            <a:r>
              <a:rPr sz="2600" b="1" i="0">
                <a:solidFill>
                  <a:srgbClr val="E88B00"/>
                </a:solidFill>
                <a:latin typeface="Arial"/>
              </a:rPr>
              <a:t>57%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8296" y="2971800"/>
            <a:ext cx="2444496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ctr">
              <a:buNone/>
            </a:pPr>
            <a:r>
              <a:rPr sz="850" b="1" i="0">
                <a:solidFill>
                  <a:srgbClr val="555566"/>
                </a:solidFill>
                <a:latin typeface="Arial"/>
              </a:rPr>
              <a:t>FLAGGED ACCOUNTS  ·  observed deleted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8296" y="3209544"/>
            <a:ext cx="2444496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ctr">
              <a:buNone/>
            </a:pPr>
            <a:r>
              <a:rPr sz="900" b="0" i="0">
                <a:solidFill>
                  <a:srgbClr val="1E1E28"/>
                </a:solidFill>
                <a:latin typeface="Arial"/>
              </a:rPr>
              <a:t>Same re-check on the user accounts that posted flagged stars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703320"/>
            <a:ext cx="8321040" cy="777240"/>
          </a:xfrm>
          <a:prstGeom prst="roundRect">
            <a:avLst/>
          </a:prstGeom>
          <a:solidFill>
            <a:srgbClr val="F1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794760"/>
            <a:ext cx="79095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000" b="1" i="0">
                <a:solidFill>
                  <a:srgbClr val="8900E1"/>
                </a:solidFill>
                <a:latin typeface="Arial"/>
              </a:rPr>
              <a:t>WHY WE CITE  ·  HONESTY ABOUT THE 2026 ANOMALY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032504"/>
            <a:ext cx="79095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000" b="0" i="0">
                <a:solidFill>
                  <a:srgbClr val="1E1E28"/>
                </a:solidFill>
                <a:latin typeface="Arial"/>
              </a:rPr>
              <a:t>Our 2026 </a:t>
            </a:r>
            <a:r>
              <a:rPr sz="1000" b="1" i="0">
                <a:solidFill>
                  <a:srgbClr val="57068C"/>
                </a:solidFill>
                <a:latin typeface="Arial"/>
              </a:rPr>
              <a:t>WatchEvent −63% / ForkEvent −67% </a:t>
            </a:r>
            <a:r>
              <a:rPr sz="1000" b="0" i="0">
                <a:solidFill>
                  <a:srgbClr val="1E1E28"/>
                </a:solidFill>
                <a:latin typeface="Arial"/>
              </a:rPr>
              <a:t>aligns with their observations. The paper </a:t>
            </a:r>
            <a:r>
              <a:rPr sz="1000" b="0" i="1">
                <a:solidFill>
                  <a:srgbClr val="8900E1"/>
                </a:solidFill>
                <a:latin typeface="Arial"/>
              </a:rPr>
              <a:t>observes </a:t>
            </a:r>
            <a:r>
              <a:rPr sz="1000" b="0" i="0">
                <a:solidFill>
                  <a:srgbClr val="1E1E28"/>
                </a:solidFill>
                <a:latin typeface="Arial"/>
              </a:rPr>
              <a:t>a 16× anomalous deletion rate and </a:t>
            </a:r>
            <a:r>
              <a:rPr sz="1000" b="0" i="1">
                <a:solidFill>
                  <a:srgbClr val="8900E1"/>
                </a:solidFill>
                <a:latin typeface="Arial"/>
              </a:rPr>
              <a:t>suggests </a:t>
            </a:r>
            <a:r>
              <a:rPr sz="1000" b="0" i="0">
                <a:solidFill>
                  <a:srgbClr val="1E1E28"/>
                </a:solidFill>
                <a:latin typeface="Arial"/>
              </a:rPr>
              <a:t>active platform enforcement — not an official GitHub announcement.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4572000"/>
            <a:ext cx="5897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r">
              <a:buNone/>
            </a:pPr>
            <a:r>
              <a:rPr sz="950" b="0" i="1">
                <a:solidFill>
                  <a:srgbClr val="57068C"/>
                </a:solidFill>
                <a:latin typeface="Arial"/>
              </a:rPr>
              <a:t>External validation supports our era-shift caveat — we report observations, not official cleanup.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sz="2200" b="1" i="0">
                <a:solidFill>
                  <a:srgbClr val="57068C"/>
                </a:solidFill>
                <a:latin typeface="Arial"/>
              </a:rPr>
              <a:t>RESULT · BUS-FACTOR BY REPO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60704"/>
            <a:ext cx="8321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100" b="0" i="1">
                <a:solidFill>
                  <a:srgbClr val="555566"/>
                </a:solidFill>
                <a:latin typeface="Arial"/>
              </a:rPr>
              <a:t>Horizontal bars  ·  top-1 push ratio · color = single-point risk</a:t>
            </a:r>
          </a:p>
        </p:txBody>
      </p:sp>
      <p:pic>
        <p:nvPicPr>
          <p:cNvPr id="4" name="Picture 3" descr="02_contributor_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5349240" cy="3017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897880" y="1417320"/>
            <a:ext cx="2834640" cy="3017520"/>
          </a:xfrm>
          <a:prstGeom prst="roundRect">
            <a:avLst/>
          </a:prstGeom>
          <a:solidFill>
            <a:srgbClr val="F1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80760" y="1554480"/>
            <a:ext cx="2468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000" b="1" i="0">
                <a:solidFill>
                  <a:srgbClr val="8900E1"/>
                </a:solidFill>
                <a:latin typeface="Arial"/>
              </a:rPr>
              <a:t>FINDING 2b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1828800"/>
            <a:ext cx="2468880" cy="2514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sz="1100" b="0" i="1">
                <a:solidFill>
                  <a:srgbClr val="555566"/>
                </a:solidFill>
                <a:latin typeface="Arial"/>
              </a:rPr>
              <a:t>Top-1 push ratio across selected AI repos:</a:t>
            </a:r>
          </a:p>
          <a:p>
            <a:pPr marL="0" indent="0">
              <a:spcAft>
                <a:spcPts val="400"/>
              </a:spcAft>
              <a:buNone/>
            </a:pPr>
            <a:r>
              <a:rPr sz="1100" b="1" i="0">
                <a:solidFill>
                  <a:srgbClr val="E24A4A"/>
                </a:solidFill>
                <a:latin typeface="Arial"/>
              </a:rPr>
              <a:t>Red  ·  </a:t>
            </a:r>
            <a:r>
              <a:rPr sz="1050" b="0" i="0">
                <a:solidFill>
                  <a:srgbClr val="1E1E28"/>
                </a:solidFill>
                <a:latin typeface="Arial"/>
              </a:rPr>
              <a:t>&gt; 0.95   </a:t>
            </a:r>
            <a:r>
              <a:rPr sz="1000" b="1" i="0">
                <a:solidFill>
                  <a:srgbClr val="1E1E28"/>
                </a:solidFill>
                <a:latin typeface="Arial"/>
              </a:rPr>
              <a:t>open-webui · tensorflow · awesome</a:t>
            </a:r>
          </a:p>
          <a:p>
            <a:pPr marL="0" indent="0">
              <a:spcAft>
                <a:spcPts val="400"/>
              </a:spcAft>
              <a:buNone/>
            </a:pPr>
            <a:r>
              <a:rPr sz="1100" b="1" i="0">
                <a:solidFill>
                  <a:srgbClr val="E88B00"/>
                </a:solidFill>
                <a:latin typeface="Arial"/>
              </a:rPr>
              <a:t>Orange  ·  </a:t>
            </a:r>
            <a:r>
              <a:rPr sz="1050" b="0" i="0">
                <a:solidFill>
                  <a:srgbClr val="1E1E28"/>
                </a:solidFill>
                <a:latin typeface="Arial"/>
              </a:rPr>
              <a:t>0.4–0.95   </a:t>
            </a:r>
            <a:r>
              <a:rPr sz="1000" b="1" i="0">
                <a:solidFill>
                  <a:srgbClr val="1E1E28"/>
                </a:solidFill>
                <a:latin typeface="Arial"/>
              </a:rPr>
              <a:t>claude-code · n8n · langchain · deepseek-r1</a:t>
            </a:r>
          </a:p>
          <a:p>
            <a:pPr marL="0" indent="0">
              <a:spcAft>
                <a:spcPts val="1000"/>
              </a:spcAft>
              <a:buNone/>
            </a:pPr>
            <a:r>
              <a:rPr sz="1100" b="1" i="0">
                <a:solidFill>
                  <a:srgbClr val="129E9E"/>
                </a:solidFill>
                <a:latin typeface="Arial"/>
              </a:rPr>
              <a:t>Green  ·  </a:t>
            </a:r>
            <a:r>
              <a:rPr sz="1050" b="0" i="0">
                <a:solidFill>
                  <a:srgbClr val="1E1E28"/>
                </a:solidFill>
                <a:latin typeface="Arial"/>
              </a:rPr>
              <a:t>&lt; 0.4   </a:t>
            </a:r>
            <a:r>
              <a:rPr sz="1000" b="1" i="0">
                <a:solidFill>
                  <a:srgbClr val="1E1E28"/>
                </a:solidFill>
                <a:latin typeface="Arial"/>
              </a:rPr>
              <a:t>ollama · cline · vllm · transformers · pytorch</a:t>
            </a:r>
          </a:p>
          <a:p>
            <a:pPr marL="0" indent="0">
              <a:spcAft>
                <a:spcPts val="600"/>
              </a:spcAft>
              <a:buNone/>
            </a:pPr>
            <a:r>
              <a:rPr sz="1050" b="1" i="0">
                <a:solidFill>
                  <a:srgbClr val="57068C"/>
                </a:solidFill>
                <a:latin typeface="Arial"/>
              </a:rPr>
              <a:t>Read together with PR contributors  —  </a:t>
            </a:r>
            <a:r>
              <a:rPr sz="1050" b="0" i="0">
                <a:solidFill>
                  <a:srgbClr val="1E1E28"/>
                </a:solidFill>
                <a:latin typeface="Arial"/>
              </a:rPr>
              <a:t>tensorflow’s 0.99 is CI bot automation; metagpt’s 0.93 with only 22 PR contributors is real risk.</a:t>
            </a:r>
          </a:p>
          <a:p>
            <a:pPr marL="0" indent="0">
              <a:buNone/>
            </a:pPr>
            <a:r>
              <a:rPr sz="1050" b="1" i="1">
                <a:solidFill>
                  <a:srgbClr val="57068C"/>
                </a:solidFill>
                <a:latin typeface="Arial"/>
              </a:rPr>
              <a:t>“Concentration alone doesn't prove fragility.”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sz="2200" b="1" i="0">
                <a:solidFill>
                  <a:srgbClr val="57068C"/>
                </a:solidFill>
                <a:latin typeface="Arial"/>
              </a:rPr>
              <a:t>RESULT · THE WEEKEND GAP DISAPPEARED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60704"/>
            <a:ext cx="8321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100" b="0" i="1">
                <a:solidFill>
                  <a:srgbClr val="555566"/>
                </a:solidFill>
                <a:latin typeface="Arial"/>
              </a:rPr>
              <a:t>Bar chart  ·  weekend event share vs 28.9% natural baseline</a:t>
            </a:r>
          </a:p>
        </p:txBody>
      </p:sp>
      <p:pic>
        <p:nvPicPr>
          <p:cNvPr id="4" name="Picture 3" descr="04_weekend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5349240" cy="3017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897880" y="1417320"/>
            <a:ext cx="2834640" cy="3017520"/>
          </a:xfrm>
          <a:prstGeom prst="roundRect">
            <a:avLst/>
          </a:prstGeom>
          <a:solidFill>
            <a:srgbClr val="F1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80760" y="1554480"/>
            <a:ext cx="2468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000" b="1" i="0">
                <a:solidFill>
                  <a:srgbClr val="8900E1"/>
                </a:solidFill>
                <a:latin typeface="Arial"/>
              </a:rPr>
              <a:t>FINDING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1828800"/>
            <a:ext cx="2468880" cy="2514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sz="1100" b="0" i="1">
                <a:solidFill>
                  <a:srgbClr val="555566"/>
                </a:solidFill>
                <a:latin typeface="Arial"/>
              </a:rPr>
              <a:t>Weekend share of all events, by era:</a:t>
            </a:r>
          </a:p>
          <a:p>
            <a:pPr marL="0" indent="0">
              <a:spcAft>
                <a:spcPts val="200"/>
              </a:spcAft>
              <a:buNone/>
            </a:pPr>
            <a:r>
              <a:rPr sz="1100" b="1" i="0">
                <a:solidFill>
                  <a:srgbClr val="57068C"/>
                </a:solidFill>
                <a:latin typeface="Arial"/>
              </a:rPr>
              <a:t>2022 </a:t>
            </a:r>
            <a:r>
              <a:rPr sz="1100" b="1" i="0">
                <a:solidFill>
                  <a:srgbClr val="1E1E28"/>
                </a:solidFill>
                <a:latin typeface="Arial"/>
              </a:rPr>
              <a:t>25.8%   </a:t>
            </a:r>
            <a:r>
              <a:rPr sz="1000" b="0" i="0">
                <a:solidFill>
                  <a:srgbClr val="555566"/>
                </a:solidFill>
                <a:latin typeface="Arial"/>
              </a:rPr>
              <a:t>(−3.1 pp vs natural)</a:t>
            </a:r>
          </a:p>
          <a:p>
            <a:pPr marL="0" indent="0">
              <a:spcAft>
                <a:spcPts val="200"/>
              </a:spcAft>
              <a:buNone/>
            </a:pPr>
            <a:r>
              <a:rPr sz="1100" b="1" i="0">
                <a:solidFill>
                  <a:srgbClr val="57068C"/>
                </a:solidFill>
                <a:latin typeface="Arial"/>
              </a:rPr>
              <a:t>2024 </a:t>
            </a:r>
            <a:r>
              <a:rPr sz="1100" b="1" i="0">
                <a:solidFill>
                  <a:srgbClr val="1E1E28"/>
                </a:solidFill>
                <a:latin typeface="Arial"/>
              </a:rPr>
              <a:t>26.3%   </a:t>
            </a:r>
            <a:r>
              <a:rPr sz="1000" b="0" i="0">
                <a:solidFill>
                  <a:srgbClr val="555566"/>
                </a:solidFill>
                <a:latin typeface="Arial"/>
              </a:rPr>
              <a:t>(−2.6 pp)</a:t>
            </a:r>
          </a:p>
          <a:p>
            <a:pPr marL="0" indent="0">
              <a:spcAft>
                <a:spcPts val="800"/>
              </a:spcAft>
              <a:buNone/>
            </a:pPr>
            <a:r>
              <a:rPr sz="1100" b="1" i="0">
                <a:solidFill>
                  <a:srgbClr val="57068C"/>
                </a:solidFill>
                <a:latin typeface="Arial"/>
              </a:rPr>
              <a:t>2026 </a:t>
            </a:r>
            <a:r>
              <a:rPr sz="1300" b="1" i="0">
                <a:solidFill>
                  <a:srgbClr val="8900E1"/>
                </a:solidFill>
                <a:latin typeface="Arial"/>
              </a:rPr>
              <a:t>29.7%   </a:t>
            </a:r>
            <a:r>
              <a:rPr sz="1000" b="1" i="0">
                <a:solidFill>
                  <a:srgbClr val="129E9E"/>
                </a:solidFill>
                <a:latin typeface="Arial"/>
              </a:rPr>
              <a:t>(+0.8 pp — gap gone)</a:t>
            </a:r>
          </a:p>
          <a:p>
            <a:pPr marL="0" indent="0">
              <a:spcAft>
                <a:spcPts val="800"/>
              </a:spcAft>
              <a:buNone/>
            </a:pPr>
            <a:r>
              <a:rPr sz="1050" b="0" i="0">
                <a:solidFill>
                  <a:srgbClr val="1E1E28"/>
                </a:solidFill>
                <a:latin typeface="Arial"/>
              </a:rPr>
              <a:t>Push-specific weekend share rose 24.8% → 29.4% — the strongest signal, since pushes mean writing code.</a:t>
            </a:r>
          </a:p>
          <a:p>
            <a:pPr marL="0" indent="0">
              <a:buNone/>
            </a:pPr>
            <a:r>
              <a:rPr sz="1100" b="1" i="1">
                <a:solidFill>
                  <a:srgbClr val="57068C"/>
                </a:solidFill>
                <a:latin typeface="Arial"/>
              </a:rPr>
              <a:t>“In 2026, GitHub doesn't know what day of the week it is anymore.”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sz="2200" b="1" i="0">
                <a:solidFill>
                  <a:srgbClr val="57068C"/>
                </a:solidFill>
                <a:latin typeface="Arial"/>
              </a:rPr>
              <a:t>RESULT · TWO PHASES OF THE AGENT 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60704"/>
            <a:ext cx="8321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100" b="0" i="1">
                <a:solidFill>
                  <a:srgbClr val="555566"/>
                </a:solidFill>
                <a:latin typeface="Arial"/>
              </a:rPr>
              <a:t>Dual-axis  ·  push actors (M, bars) + &gt;50 pushes/day accounts (line)</a:t>
            </a:r>
          </a:p>
        </p:txBody>
      </p:sp>
      <p:pic>
        <p:nvPicPr>
          <p:cNvPr id="4" name="Picture 3" descr="05_agent_ph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5349240" cy="3017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897880" y="1417320"/>
            <a:ext cx="2834640" cy="3017520"/>
          </a:xfrm>
          <a:prstGeom prst="roundRect">
            <a:avLst/>
          </a:prstGeom>
          <a:solidFill>
            <a:srgbClr val="F1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80760" y="1554480"/>
            <a:ext cx="2468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000" b="1" i="0">
                <a:solidFill>
                  <a:srgbClr val="8900E1"/>
                </a:solidFill>
                <a:latin typeface="Arial"/>
              </a:rPr>
              <a:t>FINDING 3b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1828800"/>
            <a:ext cx="2468880" cy="2514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sz="1100" b="0" i="1">
                <a:solidFill>
                  <a:srgbClr val="555566"/>
                </a:solidFill>
                <a:latin typeface="Arial"/>
              </a:rPr>
              <a:t>Push actors vs high-frequency accounts:</a:t>
            </a:r>
          </a:p>
          <a:p>
            <a:pPr marL="0" indent="0">
              <a:spcAft>
                <a:spcPts val="200"/>
              </a:spcAft>
              <a:buNone/>
            </a:pPr>
            <a:r>
              <a:rPr sz="1100" b="1" i="0">
                <a:solidFill>
                  <a:srgbClr val="E24A4A"/>
                </a:solidFill>
                <a:latin typeface="Arial"/>
              </a:rPr>
              <a:t>Phase 1  ·  2025 explosion   </a:t>
            </a:r>
          </a:p>
          <a:p>
            <a:pPr marL="0" indent="0">
              <a:spcAft>
                <a:spcPts val="800"/>
              </a:spcAft>
              <a:buNone/>
            </a:pPr>
            <a:r>
              <a:rPr sz="1050" b="0" i="0">
                <a:solidFill>
                  <a:srgbClr val="1E1E28"/>
                </a:solidFill>
                <a:latin typeface="Arial"/>
              </a:rPr>
              <a:t>&gt;50 pushes/day accounts </a:t>
            </a:r>
            <a:r>
              <a:rPr sz="1050" b="1" i="0">
                <a:solidFill>
                  <a:srgbClr val="57068C"/>
                </a:solidFill>
                <a:latin typeface="Arial"/>
              </a:rPr>
              <a:t>6,197  →  12,743  </a:t>
            </a:r>
            <a:r>
              <a:rPr sz="1050" b="1" i="0">
                <a:solidFill>
                  <a:srgbClr val="E24A4A"/>
                </a:solidFill>
                <a:latin typeface="Arial"/>
              </a:rPr>
              <a:t>(+106%)</a:t>
            </a:r>
          </a:p>
          <a:p>
            <a:pPr marL="0" indent="0">
              <a:spcAft>
                <a:spcPts val="200"/>
              </a:spcAft>
              <a:buNone/>
            </a:pPr>
            <a:r>
              <a:rPr sz="1100" b="1" i="0">
                <a:solidFill>
                  <a:srgbClr val="129E9E"/>
                </a:solidFill>
                <a:latin typeface="Arial"/>
              </a:rPr>
              <a:t>Phase 2  ·  2026 normalization   </a:t>
            </a:r>
          </a:p>
          <a:p>
            <a:pPr marL="0" indent="0">
              <a:spcAft>
                <a:spcPts val="200"/>
              </a:spcAft>
              <a:buNone/>
            </a:pPr>
            <a:r>
              <a:rPr sz="1050" b="0" i="0">
                <a:solidFill>
                  <a:srgbClr val="1E1E28"/>
                </a:solidFill>
                <a:latin typeface="Arial"/>
              </a:rPr>
              <a:t>Push actors </a:t>
            </a:r>
            <a:r>
              <a:rPr sz="1050" b="1" i="0">
                <a:solidFill>
                  <a:srgbClr val="57068C"/>
                </a:solidFill>
                <a:latin typeface="Arial"/>
              </a:rPr>
              <a:t>6.95 M  →  8.71 M  </a:t>
            </a:r>
            <a:r>
              <a:rPr sz="1050" b="1" i="0">
                <a:solidFill>
                  <a:srgbClr val="129E9E"/>
                </a:solidFill>
                <a:latin typeface="Arial"/>
              </a:rPr>
              <a:t>(+25%)</a:t>
            </a:r>
          </a:p>
          <a:p>
            <a:pPr marL="0" indent="0">
              <a:spcAft>
                <a:spcPts val="800"/>
              </a:spcAft>
              <a:buNone/>
            </a:pPr>
            <a:r>
              <a:rPr sz="1050" b="0" i="0">
                <a:solidFill>
                  <a:srgbClr val="1E1E28"/>
                </a:solidFill>
                <a:latin typeface="Arial"/>
              </a:rPr>
              <a:t>but &gt;50 pushes/day  </a:t>
            </a:r>
            <a:r>
              <a:rPr sz="1050" b="1" i="0">
                <a:solidFill>
                  <a:srgbClr val="57068C"/>
                </a:solidFill>
                <a:latin typeface="Arial"/>
              </a:rPr>
              <a:t>12,743  →  6,575  </a:t>
            </a:r>
            <a:r>
              <a:rPr sz="1050" b="1" i="0">
                <a:solidFill>
                  <a:srgbClr val="129E9E"/>
                </a:solidFill>
                <a:latin typeface="Arial"/>
              </a:rPr>
              <a:t>(−48%)</a:t>
            </a:r>
          </a:p>
          <a:p>
            <a:pPr marL="0" indent="0">
              <a:buNone/>
            </a:pPr>
            <a:r>
              <a:rPr sz="1050" b="1" i="1">
                <a:solidFill>
                  <a:srgbClr val="57068C"/>
                </a:solidFill>
                <a:latin typeface="Arial"/>
              </a:rPr>
              <a:t>Bots peaked, then GitHub cleaned them. Real broadening of participation took over.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sz="2400" b="1" i="0">
                <a:solidFill>
                  <a:srgbClr val="57068C"/>
                </a:solidFill>
                <a:latin typeface="Arial"/>
              </a:rPr>
              <a:t>OBSTACLES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60704"/>
            <a:ext cx="8321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100" b="0" i="1">
                <a:solidFill>
                  <a:srgbClr val="555566"/>
                </a:solidFill>
                <a:latin typeface="Arial"/>
              </a:rPr>
              <a:t>Three engineering pain points and how we worked around them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417320"/>
            <a:ext cx="8321040" cy="1051560"/>
          </a:xfrm>
          <a:prstGeom prst="roundRect">
            <a:avLst/>
          </a:prstGeom>
          <a:solidFill>
            <a:srgbClr val="FA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118872" cy="105156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777240" cy="10515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 algn="l">
              <a:buNone/>
            </a:pPr>
            <a:r>
              <a:rPr sz="2800" b="1" i="0">
                <a:solidFill>
                  <a:srgbClr val="57068C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08760"/>
            <a:ext cx="7132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200" b="1" i="0">
                <a:solidFill>
                  <a:srgbClr val="57068C"/>
                </a:solidFill>
                <a:latin typeface="Arial"/>
              </a:rPr>
              <a:t>HDFS PERMISSION BOUNDARY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783080"/>
            <a:ext cx="713232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sz="1050" b="0" i="0">
                <a:solidFill>
                  <a:srgbClr val="1E1E28"/>
                </a:solidFill>
                <a:latin typeface="Arial"/>
              </a:rPr>
              <a:t>jl17797 has read-only access to by2566's HDFS directory — neither can write to the other.</a:t>
            </a:r>
          </a:p>
          <a:p>
            <a:pPr marL="0" indent="0">
              <a:buNone/>
            </a:pPr>
            <a:r>
              <a:rPr sz="1050" b="1" i="0">
                <a:solidFill>
                  <a:srgbClr val="57068C"/>
                </a:solidFill>
                <a:latin typeface="Arial"/>
              </a:rPr>
              <a:t>Workaround  ·  </a:t>
            </a:r>
            <a:r>
              <a:rPr sz="1050" b="0" i="0">
                <a:solidFill>
                  <a:srgbClr val="1E1E28"/>
                </a:solidFill>
                <a:latin typeface="Arial"/>
              </a:rPr>
              <a:t>Each member writes outputs under their own path; Spark jobs union both paths at read time so the analysis is still combined.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560320"/>
            <a:ext cx="8321040" cy="1051560"/>
          </a:xfrm>
          <a:prstGeom prst="roundRect">
            <a:avLst/>
          </a:prstGeom>
          <a:solidFill>
            <a:srgbClr val="FA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2560320"/>
            <a:ext cx="118872" cy="1051560"/>
          </a:xfrm>
          <a:prstGeom prst="rect">
            <a:avLst/>
          </a:prstGeom>
          <a:solidFill>
            <a:srgbClr val="890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777240" cy="10515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 algn="l">
              <a:buNone/>
            </a:pPr>
            <a:r>
              <a:rPr sz="2800" b="1" i="0">
                <a:solidFill>
                  <a:srgbClr val="8900E1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651760"/>
            <a:ext cx="7132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200" b="1" i="0">
                <a:solidFill>
                  <a:srgbClr val="57068C"/>
                </a:solidFill>
                <a:latin typeface="Arial"/>
              </a:rPr>
              <a:t>DATA FRESHNESS MISMATCH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926080"/>
            <a:ext cx="713232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sz="1050" b="0" i="0">
                <a:solidFill>
                  <a:srgbClr val="1E1E28"/>
                </a:solidFill>
                <a:latin typeface="Arial"/>
              </a:rPr>
              <a:t>GH Archive originally only covered 2025; HF Hub snapshot was April 2026 — a 5-month gap.</a:t>
            </a:r>
          </a:p>
          <a:p>
            <a:pPr marL="0" indent="0">
              <a:buNone/>
            </a:pPr>
            <a:r>
              <a:rPr sz="1050" b="1" i="0">
                <a:solidFill>
                  <a:srgbClr val="8900E1"/>
                </a:solidFill>
                <a:latin typeface="Arial"/>
              </a:rPr>
              <a:t>Workaround  ·  </a:t>
            </a:r>
            <a:r>
              <a:rPr sz="1050" b="0" i="0">
                <a:solidFill>
                  <a:srgbClr val="1E1E28"/>
                </a:solidFill>
                <a:latin typeface="Arial"/>
              </a:rPr>
              <a:t>Backfilled 151 days (Dec 2025 – Apr 2026) — ~3,600 hourly files streamed to HDFS; ~580 corrupt April .gz files tolerated via spark.sql.files.ignoreCorruptFiles=true.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703320"/>
            <a:ext cx="8321040" cy="1051560"/>
          </a:xfrm>
          <a:prstGeom prst="roundRect">
            <a:avLst/>
          </a:prstGeom>
          <a:solidFill>
            <a:srgbClr val="FA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11480" y="3703320"/>
            <a:ext cx="118872" cy="1051560"/>
          </a:xfrm>
          <a:prstGeom prst="rect">
            <a:avLst/>
          </a:prstGeom>
          <a:solidFill>
            <a:srgbClr val="E8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703320"/>
            <a:ext cx="777240" cy="10515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indent="0" algn="l">
              <a:buNone/>
            </a:pPr>
            <a:r>
              <a:rPr sz="2800" b="1" i="0">
                <a:solidFill>
                  <a:srgbClr val="E88B00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794760"/>
            <a:ext cx="7132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200" b="1" i="0">
                <a:solidFill>
                  <a:srgbClr val="57068C"/>
                </a:solidFill>
                <a:latin typeface="Arial"/>
              </a:rPr>
              <a:t>GITHUB API SCHEMA BREAKING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069080"/>
            <a:ext cx="713232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sz="1050" b="0" i="0">
                <a:solidFill>
                  <a:srgbClr val="1E1E28"/>
                </a:solidFill>
                <a:latin typeface="Arial"/>
              </a:rPr>
              <a:t>GitHub simplified its event payload (effective 2025-10-07): pr.merged removed, payload.action == "merged" added. Job 08 silently reported 0 merged PRs for 2026 until caught.</a:t>
            </a:r>
          </a:p>
          <a:p>
            <a:pPr marL="0" indent="0">
              <a:buNone/>
            </a:pPr>
            <a:r>
              <a:rPr sz="1050" b="1" i="0">
                <a:solidFill>
                  <a:srgbClr val="E88B00"/>
                </a:solidFill>
                <a:latin typeface="Arial"/>
              </a:rPr>
              <a:t>Fix  ·  </a:t>
            </a:r>
            <a:r>
              <a:rPr sz="1050" b="0" i="0">
                <a:solidFill>
                  <a:srgbClr val="1E1E28"/>
                </a:solidFill>
                <a:latin typeface="Arial"/>
              </a:rPr>
              <a:t>Backward-compatible OR-clause (see Slide 9). Re-validation diff &lt; 0.39% confirms the fix preserves semantics.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846320"/>
            <a:ext cx="5897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r">
              <a:buNone/>
            </a:pPr>
            <a:r>
              <a:rPr sz="1000" b="0" i="1">
                <a:solidFill>
                  <a:srgbClr val="57068C"/>
                </a:solidFill>
                <a:latin typeface="Arial"/>
              </a:rPr>
              <a:t>All three resolved without losing data fidelity.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sz="2400" b="1" i="0">
                <a:solidFill>
                  <a:srgbClr val="57068C"/>
                </a:solidFill>
                <a:latin typeface="Arial"/>
              </a:rPr>
              <a:t>SUMMARY  &amp;  ACKNOWLEDGEMENTS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60704"/>
            <a:ext cx="8321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100" b="0" i="1">
                <a:solidFill>
                  <a:srgbClr val="555566"/>
                </a:solidFill>
                <a:latin typeface="Arial"/>
              </a:rPr>
              <a:t>Three takeaways from 1.46 B events on Spark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417320"/>
            <a:ext cx="2663952" cy="2606040"/>
          </a:xfrm>
          <a:prstGeom prst="roundRect">
            <a:avLst/>
          </a:prstGeom>
          <a:solidFill>
            <a:srgbClr val="FA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2663952" cy="64008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581912"/>
            <a:ext cx="2298192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l">
              <a:buNone/>
            </a:pPr>
            <a:r>
              <a:rPr sz="3400" b="1" i="0">
                <a:solidFill>
                  <a:srgbClr val="57068C"/>
                </a:solidFill>
                <a:latin typeface="Arial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2298192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200" b="1" i="0">
                <a:solidFill>
                  <a:srgbClr val="57068C"/>
                </a:solidFill>
                <a:latin typeface="Arial"/>
              </a:rPr>
              <a:t>STARS  ≠  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06040"/>
            <a:ext cx="2298192" cy="1325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000" b="0" i="0">
                <a:solidFill>
                  <a:srgbClr val="1E1E28"/>
                </a:solidFill>
                <a:latin typeface="Arial"/>
              </a:rPr>
              <a:t>No single signal captures every project. transformers leads on all three; sentence-transformers ships 327,014 HF downloads / star; runtime tools like Ollama need PyPI to be measured at all.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0024" y="1417320"/>
            <a:ext cx="2663952" cy="2606040"/>
          </a:xfrm>
          <a:prstGeom prst="roundRect">
            <a:avLst/>
          </a:prstGeom>
          <a:solidFill>
            <a:srgbClr val="FA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40024" y="1417320"/>
            <a:ext cx="2663952" cy="64008"/>
          </a:xfrm>
          <a:prstGeom prst="rect">
            <a:avLst/>
          </a:prstGeom>
          <a:solidFill>
            <a:srgbClr val="890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22904" y="1581912"/>
            <a:ext cx="2298192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l">
              <a:buNone/>
            </a:pPr>
            <a:r>
              <a:rPr sz="3400" b="1" i="0">
                <a:solidFill>
                  <a:srgbClr val="8900E1"/>
                </a:solidFill>
                <a:latin typeface="Arial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2904" y="2194560"/>
            <a:ext cx="2298192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200" b="1" i="0">
                <a:solidFill>
                  <a:srgbClr val="57068C"/>
                </a:solidFill>
                <a:latin typeface="Arial"/>
              </a:rPr>
              <a:t>5-YEAR ECOSYSTEM SHIFT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2904" y="2606040"/>
            <a:ext cx="2298192" cy="1325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000" b="0" i="0">
                <a:solidFill>
                  <a:srgbClr val="1E1E28"/>
                </a:solidFill>
                <a:latin typeface="Arial"/>
              </a:rPr>
              <a:t>Developers grew +51% but contributors-per-repo fell 42%. Development is broadening and lightening simultaneously.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68568" y="1417320"/>
            <a:ext cx="2663952" cy="2606040"/>
          </a:xfrm>
          <a:prstGeom prst="roundRect">
            <a:avLst/>
          </a:prstGeom>
          <a:solidFill>
            <a:srgbClr val="FA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68568" y="1417320"/>
            <a:ext cx="2663952" cy="64008"/>
          </a:xfrm>
          <a:prstGeom prst="rect">
            <a:avLst/>
          </a:prstGeom>
          <a:solidFill>
            <a:srgbClr val="12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51448" y="1581912"/>
            <a:ext cx="2298192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 algn="l">
              <a:buNone/>
            </a:pPr>
            <a:r>
              <a:rPr sz="3400" b="1" i="0">
                <a:solidFill>
                  <a:srgbClr val="129E9E"/>
                </a:solidFill>
                <a:latin typeface="Arial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1448" y="2194560"/>
            <a:ext cx="2298192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200" b="1" i="0">
                <a:solidFill>
                  <a:srgbClr val="57068C"/>
                </a:solidFill>
                <a:latin typeface="Arial"/>
              </a:rPr>
              <a:t>WEEKEND GAP DISAPPEARED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1448" y="2606040"/>
            <a:ext cx="2298192" cy="1325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000" b="0" i="0">
                <a:solidFill>
                  <a:srgbClr val="1E1E28"/>
                </a:solidFill>
                <a:latin typeface="Arial"/>
              </a:rPr>
              <a:t>2026 weekend activity hit 29.7%, finally reaching the natural 28.9% baseline. Coding agents work 24/7.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160520"/>
            <a:ext cx="8321040" cy="685800"/>
          </a:xfrm>
          <a:prstGeom prst="roundRect">
            <a:avLst/>
          </a:prstGeom>
          <a:solidFill>
            <a:srgbClr val="F1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4251960"/>
            <a:ext cx="79095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000" b="1" i="0">
                <a:solidFill>
                  <a:srgbClr val="8900E1"/>
                </a:solidFill>
                <a:latin typeface="Arial"/>
              </a:rPr>
              <a:t>ACKNOWLEDGEMENTS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507992"/>
            <a:ext cx="79095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indent="0">
              <a:buNone/>
            </a:pPr>
            <a:r>
              <a:rPr sz="1000" b="0" i="0">
                <a:solidFill>
                  <a:srgbClr val="1E1E28"/>
                </a:solidFill>
                <a:latin typeface="Arial"/>
              </a:rPr>
              <a:t>NYU High Performance Computing — Google Cloud Dataproc cluster access  ·  GH Archive · Hugging Face Hub · PyPI / BigQuery — public data APIs that made this triangulation possible.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YU Bold">
  <a:themeElements>
    <a:clrScheme name="Simple Light">
      <a:dk1>
        <a:srgbClr val="57068C"/>
      </a:dk1>
      <a:lt1>
        <a:srgbClr val="FFFFFF"/>
      </a:lt1>
      <a:dk2>
        <a:srgbClr val="333333"/>
      </a:dk2>
      <a:lt2>
        <a:srgbClr val="E2E1DD"/>
      </a:lt2>
      <a:accent1>
        <a:srgbClr val="9A6ABA"/>
      </a:accent1>
      <a:accent2>
        <a:srgbClr val="6D6D6D"/>
      </a:accent2>
      <a:accent3>
        <a:srgbClr val="8900E1"/>
      </a:accent3>
      <a:accent4>
        <a:srgbClr val="E97300"/>
      </a:accent4>
      <a:accent5>
        <a:srgbClr val="799A05"/>
      </a:accent5>
      <a:accent6>
        <a:srgbClr val="C50F3C"/>
      </a:accent6>
      <a:hlink>
        <a:srgbClr val="57068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2465</Words>
  <Application>Microsoft Macintosh PowerPoint</Application>
  <PresentationFormat>如螢幕大小 (16:9)</PresentationFormat>
  <Paragraphs>331</Paragraphs>
  <Slides>19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5" baseType="lpstr">
      <vt:lpstr>Arial</vt:lpstr>
      <vt:lpstr>Montserrat ExtraBold</vt:lpstr>
      <vt:lpstr>Consolas</vt:lpstr>
      <vt:lpstr>Montserrat</vt:lpstr>
      <vt:lpstr>Montserrat Black</vt:lpstr>
      <vt:lpstr>NYU Bold</vt:lpstr>
      <vt:lpstr>OSS PULSE From Hype to Health</vt:lpstr>
      <vt:lpstr>ABSTRACT  &amp;  PLATFORM</vt:lpstr>
      <vt:lpstr>MOTIVATION</vt:lpstr>
      <vt:lpstr>GOODNESS  ·  WHY OUR RESULTS CAN BE TRUSTED</vt:lpstr>
      <vt:lpstr>DATA SOURCES</vt:lpstr>
      <vt:lpstr>DATA SAMPLES  ·  GITHUB ARCHIVE · HF HUB · PYPI</vt:lpstr>
      <vt:lpstr>DESIGN DIAGRAM  ·  PIPELINE ARCHITECTURE</vt:lpstr>
      <vt:lpstr>CODE CHALLENGE  ·  JL17797</vt:lpstr>
      <vt:lpstr>CODE CHALLENGE  ·  BY2566</vt:lpstr>
      <vt:lpstr>CODE CHALLENGE  ·  2026 SCHEMA BREAKING CHANGE</vt:lpstr>
      <vt:lpstr>RESULT · STARS  ≠  HEALTH</vt:lpstr>
      <vt:lpstr>RESULT · EVENT COMPOSITION ACROSS 5 ERAS</vt:lpstr>
      <vt:lpstr>RESULT · THE 5-YEAR ECOSYSTEM SHIFT</vt:lpstr>
      <vt:lpstr>PAPER REFERENCE  ·  EXTERNAL EVIDENCE FOR 2026</vt:lpstr>
      <vt:lpstr>RESULT · BUS-FACTOR BY REPO</vt:lpstr>
      <vt:lpstr>RESULT · THE WEEKEND GAP DISAPPEARED</vt:lpstr>
      <vt:lpstr>RESULT · TWO PHASES OF THE AGENT ERA</vt:lpstr>
      <vt:lpstr>OBSTACLES</vt:lpstr>
      <vt:lpstr>SUMMARY  &amp;  ACKNOWLEDGEMENTS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Microsoft Office User</cp:lastModifiedBy>
  <cp:revision>1</cp:revision>
  <dcterms:modified xsi:type="dcterms:W3CDTF">2026-05-05T18:07:47Z</dcterms:modified>
</cp:coreProperties>
</file>