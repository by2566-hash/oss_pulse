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23"/>
      <p:bold r:id="rId24"/>
      <p:italic r:id="rId25"/>
      <p:boldItalic r:id="rId26"/>
    </p:embeddedFont>
    <p:embeddedFont>
      <p:font typeface="Montserrat" pitchFamily="2" charset="0"/>
      <p:regular r:id="rId27"/>
      <p:bold r:id="rId28"/>
      <p:italic r:id="rId29"/>
      <p:boldItalic r:id="rId30"/>
    </p:embeddedFont>
    <p:embeddedFont>
      <p:font typeface="Montserrat Black" panose="020F0502020204030204" pitchFamily="34" charset="0"/>
      <p:bold r:id="rId31"/>
      <p:italic r:id="rId32"/>
      <p:boldItalic r:id="rId33"/>
    </p:embeddedFont>
    <p:embeddedFont>
      <p:font typeface="Montserrat ExtraBold" panose="020F0502020204030204" pitchFamily="34" charset="0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98"/>
    <p:restoredTop sz="94685"/>
  </p:normalViewPr>
  <p:slideViewPr>
    <p:cSldViewPr snapToGrid="0">
      <p:cViewPr varScale="1">
        <p:scale>
          <a:sx n="157" d="100"/>
          <a:sy n="157" d="100"/>
        </p:scale>
        <p:origin x="184" y="1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1" type="title">
  <p:cSld name="TITLE">
    <p:bg>
      <p:bgPr>
        <a:solidFill>
          <a:srgbClr val="57068C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11" name="Google Shape;11;p2" descr="New York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lvl="1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2">
  <p:cSld name="TITLE_1">
    <p:bg>
      <p:bgPr>
        <a:solidFill>
          <a:srgbClr val="57068C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17" name="Google Shape;17;p3" descr="New York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lvl="1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4">
  <p:cSld name="TITLE_1_1_1">
    <p:bg>
      <p:bgPr>
        <a:solidFill>
          <a:srgbClr val="57068C"/>
        </a:solid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23" name="Google Shape;23;p4" descr="New York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lvl="1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05">
  <p:cSld name="TITLE_1_1_1_1">
    <p:bg>
      <p:bgPr>
        <a:solidFill>
          <a:srgbClr val="57068C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pic>
        <p:nvPicPr>
          <p:cNvPr id="29" name="Google Shape;29;p5" descr="New York University 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5"/>
          <p:cNvSpPr txBox="1">
            <a:spLocks noGrp="1"/>
          </p:cNvSpPr>
          <p:nvPr>
            <p:ph type="subTitle" idx="1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L="914400" lvl="1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57068C"/>
        </a:solid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7" cy="514348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4" name="Google Shape;34;p6" descr=" "/>
          <p:cNvCxnSpPr/>
          <p:nvPr/>
        </p:nvCxnSpPr>
        <p:spPr>
          <a:xfrm>
            <a:off x="407168" y="2618527"/>
            <a:ext cx="5214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5" name="Google Shape;35;p6" descr=" 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6"/>
          <p:cNvSpPr txBox="1">
            <a:spLocks noGrp="1"/>
          </p:cNvSpPr>
          <p:nvPr>
            <p:ph type="title"/>
          </p:nvPr>
        </p:nvSpPr>
        <p:spPr>
          <a:xfrm>
            <a:off x="316950" y="457200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6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subTitle" idx="1"/>
          </p:nvPr>
        </p:nvSpPr>
        <p:spPr>
          <a:xfrm>
            <a:off x="316950" y="2938025"/>
            <a:ext cx="40317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311700" y="1152475"/>
            <a:ext cx="3345900" cy="319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 algn="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4114800" y="1175683"/>
            <a:ext cx="4192800" cy="312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2" name="Google Shape;42;p7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592">
          <p15:clr>
            <a:srgbClr val="FA7B17"/>
          </p15:clr>
        </p15:guide>
        <p15:guide id="2" pos="2304">
          <p15:clr>
            <a:srgbClr val="FA7B17"/>
          </p15:clr>
        </p15:guide>
        <p15:guide id="3" orient="horz" pos="720">
          <p15:clr>
            <a:srgbClr val="FA7B17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114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pic>
        <p:nvPicPr>
          <p:cNvPr id="46" name="Google Shape;46;p8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8"/>
          <p:cNvSpPr txBox="1">
            <a:spLocks noGrp="1"/>
          </p:cNvSpPr>
          <p:nvPr>
            <p:ph type="body" idx="1"/>
          </p:nvPr>
        </p:nvSpPr>
        <p:spPr>
          <a:xfrm>
            <a:off x="1376250" y="1828800"/>
            <a:ext cx="3330300" cy="244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2"/>
          </p:nvPr>
        </p:nvSpPr>
        <p:spPr>
          <a:xfrm>
            <a:off x="5051175" y="1828800"/>
            <a:ext cx="3330300" cy="244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9" name="Google Shape;49;p8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0" name="Google Shape;5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52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pic>
        <p:nvPicPr>
          <p:cNvPr id="53" name="Google Shape;53;p9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9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5" name="Google Shape;55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>
            <a:spLocks noGrp="1"/>
          </p:cNvSpPr>
          <p:nvPr>
            <p:ph type="title"/>
          </p:nvPr>
        </p:nvSpPr>
        <p:spPr>
          <a:xfrm>
            <a:off x="311700" y="426408"/>
            <a:ext cx="4308300" cy="105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3600"/>
              <a:buFont typeface="Montserrat Black"/>
              <a:buNone/>
              <a:defRPr sz="36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311700" y="1646230"/>
            <a:ext cx="3350400" cy="24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pic>
        <p:nvPicPr>
          <p:cNvPr id="59" name="Google Shape;59;p10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0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1" name="Google Shape;61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FFFFFF"/>
        </a:soli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1"/>
          <p:cNvSpPr txBox="1">
            <a:spLocks noGrp="1"/>
          </p:cNvSpPr>
          <p:nvPr>
            <p:ph type="title"/>
          </p:nvPr>
        </p:nvSpPr>
        <p:spPr>
          <a:xfrm>
            <a:off x="407175" y="450150"/>
            <a:ext cx="8329500" cy="382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6000"/>
              <a:buFont typeface="Montserrat Black"/>
              <a:buNone/>
              <a:defRPr sz="60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pic>
        <p:nvPicPr>
          <p:cNvPr id="65" name="Google Shape;65;p11" descr=" 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1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">
          <p15:clr>
            <a:srgbClr val="FA7B17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2" descr=" 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294375" y="1233175"/>
            <a:ext cx="40791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3600"/>
              <a:buFont typeface="Montserrat Black"/>
              <a:buNone/>
              <a:defRPr sz="36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subTitle" idx="1"/>
          </p:nvPr>
        </p:nvSpPr>
        <p:spPr>
          <a:xfrm>
            <a:off x="294375" y="2803075"/>
            <a:ext cx="39558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6ABA"/>
              </a:buClr>
              <a:buSzPts val="1800"/>
              <a:buNone/>
              <a:defRPr>
                <a:solidFill>
                  <a:srgbClr val="9A6ABA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55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72" name="Google Shape;72;p12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2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lf-page image">
  <p:cSld name="CUSTOM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3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803100" cy="114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body" idx="1"/>
          </p:nvPr>
        </p:nvSpPr>
        <p:spPr>
          <a:xfrm>
            <a:off x="311700" y="2750150"/>
            <a:ext cx="3466500" cy="15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78" name="Google Shape;78;p13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9" name="Google Shape;7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4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4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" name="Google Shape;83;p14"/>
          <p:cNvSpPr txBox="1">
            <a:spLocks noGrp="1"/>
          </p:cNvSpPr>
          <p:nvPr>
            <p:ph type="title"/>
          </p:nvPr>
        </p:nvSpPr>
        <p:spPr>
          <a:xfrm>
            <a:off x="311700" y="3564945"/>
            <a:ext cx="4491300" cy="60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None/>
              <a:defRPr sz="1400"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1">
    <p:bg>
      <p:bgPr>
        <a:solidFill>
          <a:schemeClr val="dk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5"/>
          <p:cNvSpPr txBox="1">
            <a:spLocks noGrp="1"/>
          </p:cNvSpPr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88" name="Google Shape;88;p15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89" name="Google Shape;89;p15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" name="Google Shape;90;p15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1">
  <p:cSld name="CUSTOM_1_1">
    <p:bg>
      <p:bgPr>
        <a:solidFill>
          <a:schemeClr val="dk1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6"/>
          <p:cNvSpPr txBox="1">
            <a:spLocks noGrp="1"/>
          </p:cNvSpPr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5" name="Google Shape;95;p16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96" name="Google Shape;96;p16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" name="Google Shape;97;p16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1 1">
  <p:cSld name="CUSTOM_1_1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>
            <a:spLocks noGrp="1"/>
          </p:cNvSpPr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02" name="Google Shape;102;p17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103" name="Google Shape;103;p17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w="76200" cap="flat" cmpd="sng">
            <a:solidFill>
              <a:srgbClr val="8900E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" name="Google Shape;104;p17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>
            <a:spLocks noGrp="1"/>
          </p:cNvSpPr>
          <p:nvPr>
            <p:ph type="title" hasCustomPrompt="1"/>
          </p:nvPr>
        </p:nvSpPr>
        <p:spPr>
          <a:xfrm>
            <a:off x="311700" y="407700"/>
            <a:ext cx="8520600" cy="193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15000"/>
              <a:buFont typeface="Montserrat Black"/>
              <a:buNone/>
              <a:defRPr sz="150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07" name="Google Shape;107;p18"/>
          <p:cNvSpPr txBox="1">
            <a:spLocks noGrp="1"/>
          </p:cNvSpPr>
          <p:nvPr>
            <p:ph type="body" idx="1"/>
          </p:nvPr>
        </p:nvSpPr>
        <p:spPr>
          <a:xfrm>
            <a:off x="2475675" y="3360362"/>
            <a:ext cx="4192800" cy="71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pic>
        <p:nvPicPr>
          <p:cNvPr id="108" name="Google Shape;108;p18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8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0" name="Google Shape;110;p18"/>
          <p:cNvSpPr txBox="1">
            <a:spLocks noGrp="1"/>
          </p:cNvSpPr>
          <p:nvPr>
            <p:ph type="subTitle" idx="2"/>
          </p:nvPr>
        </p:nvSpPr>
        <p:spPr>
          <a:xfrm>
            <a:off x="407175" y="2537800"/>
            <a:ext cx="8329200" cy="71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111" name="Google Shape;11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with folio" type="blank">
  <p:cSld name="BLANK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9" descr=" 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9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700" b="1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700" b="1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_1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ExtraBold"/>
              <a:buNone/>
              <a:defRPr sz="4200">
                <a:solidFill>
                  <a:srgbClr val="57068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424900" cy="31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1800"/>
              <a:buFont typeface="Montserrat"/>
              <a:buChar char="●"/>
              <a:defRPr sz="1800"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●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●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256">
          <p15:clr>
            <a:srgbClr val="EA4335"/>
          </p15:clr>
        </p15:guide>
        <p15:guide id="2" orient="horz" pos="3025">
          <p15:clr>
            <a:srgbClr val="EA4335"/>
          </p15:clr>
        </p15:guide>
        <p15:guide id="3" pos="5503">
          <p15:clr>
            <a:srgbClr val="EA4335"/>
          </p15:clr>
        </p15:guide>
        <p15:guide id="4" orient="horz" pos="2693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5400" b="1" i="0">
                <a:solidFill>
                  <a:srgbClr val="FFFFFF"/>
                </a:solidFill>
                <a:latin typeface="Arial"/>
              </a:rPr>
              <a:t>OSS PULSE</a:t>
            </a:r>
          </a:p>
          <a:p>
            <a:pPr marL="0" indent="0">
              <a:buNone/>
            </a:pPr>
            <a:r>
              <a:rPr sz="2200" b="0" i="0">
                <a:solidFill>
                  <a:srgbClr val="FFFFFF"/>
                </a:solidFill>
                <a:latin typeface="Arial"/>
              </a:rPr>
              <a:t>How Coding Agents Reshaped</a:t>
            </a:r>
          </a:p>
          <a:p>
            <a:pPr marL="0" indent="0">
              <a:buNone/>
            </a:pPr>
            <a:r>
              <a:rPr sz="2200" b="0" i="0">
                <a:solidFill>
                  <a:srgbClr val="FFFFFF"/>
                </a:solidFill>
                <a:latin typeface="Arial"/>
              </a:rPr>
              <a:t>Open-Source Development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7600" y="3119750"/>
            <a:ext cx="5583402" cy="779400"/>
          </a:xfrm>
        </p:spPr>
        <p:txBody>
          <a:bodyPr/>
          <a:lstStyle/>
          <a:p>
            <a:pPr marL="0" indent="0">
              <a:buNone/>
            </a:pPr>
            <a:r>
              <a:rPr sz="1300" b="0" i="0" dirty="0">
                <a:solidFill>
                  <a:srgbClr val="E6CFFF"/>
                </a:solidFill>
                <a:latin typeface="Arial"/>
              </a:rPr>
              <a:t>Tracking 1.46 billion GitHub events across the 2022–2026 agent era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>
              <a:buNone/>
            </a:pPr>
            <a:r>
              <a:rPr sz="900" b="1" i="0">
                <a:solidFill>
                  <a:srgbClr val="FFFFFF"/>
                </a:solidFill>
                <a:latin typeface="Arial"/>
              </a:rPr>
              <a:t>GROUP 9  ·  BDAD SPRING 2026</a:t>
            </a:r>
          </a:p>
          <a:p>
            <a:pPr marL="0" indent="0">
              <a:buNone/>
            </a:pPr>
            <a:r>
              <a:rPr sz="900" b="0" i="0">
                <a:solidFill>
                  <a:srgbClr val="FFFFFF"/>
                </a:solidFill>
                <a:latin typeface="Arial"/>
              </a:rPr>
              <a:t>Jhe Chen Li · Bo Yu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ABSTRACT  &amp; 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What we built · how big · what it found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5067604" cy="33375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118872" cy="333756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581912"/>
            <a:ext cx="465612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ABSTRACT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20"/>
            <a:ext cx="4656124" cy="2788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200" b="0" i="0" dirty="0">
                <a:solidFill>
                  <a:srgbClr val="1E1E28"/>
                </a:solidFill>
                <a:latin typeface="Arial"/>
              </a:rPr>
              <a:t>Coding agents are fundamentally reshaping open-source development. We tracked 1.46 B GitHub events across 5 × Q1 snapshots (2022–2026) and found three shifts: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50" b="1" i="0" dirty="0">
                <a:solidFill>
                  <a:srgbClr val="8900E1"/>
                </a:solidFill>
                <a:latin typeface="Arial"/>
              </a:rPr>
              <a:t>①  </a:t>
            </a:r>
            <a:r>
              <a:rPr sz="1150" b="1" i="0" dirty="0">
                <a:solidFill>
                  <a:srgbClr val="57068C"/>
                </a:solidFill>
                <a:latin typeface="Arial"/>
              </a:rPr>
              <a:t>Development got lighter  —  </a:t>
            </a:r>
            <a:r>
              <a:rPr sz="1150" b="0" i="0" dirty="0">
                <a:solidFill>
                  <a:srgbClr val="1E1E28"/>
                </a:solidFill>
                <a:latin typeface="Arial"/>
              </a:rPr>
              <a:t>more developers, fewer contributors per repo.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50" b="1" i="0" dirty="0">
                <a:solidFill>
                  <a:srgbClr val="8900E1"/>
                </a:solidFill>
                <a:latin typeface="Arial"/>
              </a:rPr>
              <a:t>②  </a:t>
            </a:r>
            <a:r>
              <a:rPr sz="1150" b="1" i="0" dirty="0">
                <a:solidFill>
                  <a:srgbClr val="57068C"/>
                </a:solidFill>
                <a:latin typeface="Arial"/>
              </a:rPr>
              <a:t>Weekends disappeared  —  </a:t>
            </a:r>
            <a:r>
              <a:rPr sz="1150" b="0" i="0" dirty="0">
                <a:solidFill>
                  <a:srgbClr val="1E1E28"/>
                </a:solidFill>
                <a:latin typeface="Arial"/>
              </a:rPr>
              <a:t>activity hit the natural 28.9% baseline in 2026.</a:t>
            </a:r>
          </a:p>
          <a:p>
            <a:pPr marL="0" indent="0">
              <a:spcAft>
                <a:spcPts val="800"/>
              </a:spcAft>
              <a:buNone/>
            </a:pPr>
            <a:r>
              <a:rPr sz="1150" b="1" i="0" dirty="0">
                <a:solidFill>
                  <a:srgbClr val="8900E1"/>
                </a:solidFill>
                <a:latin typeface="Arial"/>
              </a:rPr>
              <a:t>③  </a:t>
            </a:r>
            <a:r>
              <a:rPr sz="1150" b="1" i="0" dirty="0">
                <a:solidFill>
                  <a:srgbClr val="57068C"/>
                </a:solidFill>
                <a:latin typeface="Arial"/>
              </a:rPr>
              <a:t>Two-phase agent adoption  —  </a:t>
            </a:r>
            <a:r>
              <a:rPr sz="1150" b="0" i="0" dirty="0">
                <a:solidFill>
                  <a:srgbClr val="1E1E28"/>
                </a:solidFill>
                <a:latin typeface="Arial"/>
              </a:rPr>
              <a:t>2025 explosion → 2026 normalization.</a:t>
            </a:r>
          </a:p>
          <a:p>
            <a:pPr marL="0" indent="0">
              <a:buNone/>
            </a:pPr>
            <a:r>
              <a:rPr sz="1100" b="0" i="1" dirty="0">
                <a:solidFill>
                  <a:srgbClr val="555566"/>
                </a:solidFill>
                <a:latin typeface="Arial"/>
              </a:rPr>
              <a:t>Traditional metrics like stars fail to capture this transformation.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1964" y="1417320"/>
            <a:ext cx="3070555" cy="160020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844844" y="1554480"/>
            <a:ext cx="270479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4844" y="1828800"/>
            <a:ext cx="2704795" cy="46884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300" b="1" i="0" dirty="0">
                <a:solidFill>
                  <a:srgbClr val="57068C"/>
                </a:solidFill>
                <a:latin typeface="Arial"/>
              </a:rPr>
              <a:t>Apache Spark 3.x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0" i="0" dirty="0">
                <a:solidFill>
                  <a:srgbClr val="1E1E28"/>
                </a:solidFill>
                <a:latin typeface="Arial"/>
              </a:rPr>
              <a:t>Google Cloud </a:t>
            </a:r>
            <a:r>
              <a:rPr sz="1100" b="0" i="0" dirty="0" err="1">
                <a:solidFill>
                  <a:srgbClr val="1E1E28"/>
                </a:solidFill>
                <a:latin typeface="Arial"/>
              </a:rPr>
              <a:t>Dataproc</a:t>
            </a:r>
            <a:r>
              <a:rPr lang="en-US" sz="1100" dirty="0">
                <a:solidFill>
                  <a:srgbClr val="1E1E28"/>
                </a:solidFill>
              </a:rPr>
              <a:t> </a:t>
            </a:r>
            <a:r>
              <a:rPr sz="1000" b="0" i="1" dirty="0">
                <a:solidFill>
                  <a:srgbClr val="555566"/>
                </a:solidFill>
                <a:latin typeface="Arial"/>
              </a:rPr>
              <a:t>(NYU HPC</a:t>
            </a:r>
            <a:r>
              <a:rPr lang="en-US" altLang="zh-TW" sz="1000" b="0" i="1" dirty="0">
                <a:solidFill>
                  <a:srgbClr val="555566"/>
                </a:solidFill>
                <a:latin typeface="Arial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1964" y="3154680"/>
            <a:ext cx="3070555" cy="160020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44844" y="3291840"/>
            <a:ext cx="270479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8900E1"/>
                </a:solidFill>
                <a:latin typeface="Arial"/>
              </a:rPr>
              <a:t>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4844" y="3566160"/>
            <a:ext cx="2704795" cy="10972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500" b="1" i="0">
                <a:solidFill>
                  <a:srgbClr val="57068C"/>
                </a:solidFill>
                <a:latin typeface="Arial"/>
              </a:rPr>
              <a:t>1.46 B 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events</a:t>
            </a:r>
          </a:p>
          <a:p>
            <a:pPr marL="0" indent="0">
              <a:spcAft>
                <a:spcPts val="400"/>
              </a:spcAft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930 GB 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raw → </a:t>
            </a:r>
            <a:r>
              <a:rPr sz="1300" b="1" i="0">
                <a:solidFill>
                  <a:srgbClr val="57068C"/>
                </a:solidFill>
                <a:latin typeface="Arial"/>
              </a:rPr>
              <a:t>87.9 GB</a:t>
            </a:r>
            <a:r>
              <a:rPr sz="1100" b="0" i="0">
                <a:solidFill>
                  <a:srgbClr val="1E1E28"/>
                </a:solidFill>
                <a:latin typeface="Arial"/>
              </a:rPr>
              <a:t> cleaned</a:t>
            </a:r>
          </a:p>
          <a:p>
            <a:pPr marL="0" indent="0"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10 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Spark analytics jobs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Who needs this · what problem · why now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2663952" cy="14173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2663952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229819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WHO USES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2298192" cy="41242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lang="en-US" sz="1100" b="0" i="0" dirty="0">
                <a:solidFill>
                  <a:srgbClr val="1E1E28"/>
                </a:solidFill>
                <a:latin typeface="Arial"/>
              </a:rPr>
              <a:t>Developers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 · researchers · maintainers · VCs evaluating OSS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0024" y="1417320"/>
            <a:ext cx="2663952" cy="14173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40024" y="1417320"/>
            <a:ext cx="2663952" cy="64008"/>
          </a:xfrm>
          <a:prstGeom prst="rect">
            <a:avLst/>
          </a:prstGeom>
          <a:solidFill>
            <a:srgbClr val="E2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22904" y="1600200"/>
            <a:ext cx="229819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WHAT'S BROKEN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2904" y="1920240"/>
            <a:ext cx="2298192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Single signals mislead. DeepSeek-R1 ranks #2 by stars but has no PyPI library, only 5 push contributors. Hype ≠ ecosystem.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8568" y="1417320"/>
            <a:ext cx="2663952" cy="14173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68568" y="1417320"/>
            <a:ext cx="2663952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51448" y="1600200"/>
            <a:ext cx="229819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1448" y="1920240"/>
            <a:ext cx="2298192" cy="8229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The coding-agent era (2024–2026) is reshaping open-source rhythm — and stars miss it entirely.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017520"/>
            <a:ext cx="8321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5-YEAR Q1 TIMELINE  ·  AI ECOSYSTEM EVOLUTION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383280"/>
            <a:ext cx="1591056" cy="10058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3474720"/>
            <a:ext cx="159105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000" b="1" i="0">
                <a:solidFill>
                  <a:srgbClr val="57068C"/>
                </a:solidFill>
                <a:latin typeface="Arial"/>
              </a:rPr>
              <a:t>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886200"/>
            <a:ext cx="140817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Pre-ChatGPT
baseline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93976" y="3383280"/>
            <a:ext cx="1591056" cy="10058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093976" y="3474720"/>
            <a:ext cx="159105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000" b="1" i="0">
                <a:solidFill>
                  <a:srgbClr val="57068C"/>
                </a:solidFill>
                <a:latin typeface="Arial"/>
              </a:rPr>
              <a:t>2023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85416" y="3886200"/>
            <a:ext cx="140817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ChatGPT
explosion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76472" y="3383280"/>
            <a:ext cx="1591056" cy="10058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76472" y="3474720"/>
            <a:ext cx="159105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000" b="1" i="0">
                <a:solidFill>
                  <a:srgbClr val="57068C"/>
                </a:solidFill>
                <a:latin typeface="Arial"/>
              </a:rPr>
              <a:t>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67912" y="3886200"/>
            <a:ext cx="140817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LLM bloom
GPT-4 / Claude / Gemini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58968" y="3383280"/>
            <a:ext cx="1591056" cy="10058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58968" y="3474720"/>
            <a:ext cx="159105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000" b="1" i="0">
                <a:solidFill>
                  <a:srgbClr val="57068C"/>
                </a:solidFill>
                <a:latin typeface="Arial"/>
              </a:rPr>
              <a:t>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50408" y="3886200"/>
            <a:ext cx="140817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Year of agents
Cursor / Claude Code / Devin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41464" y="3383280"/>
            <a:ext cx="1591056" cy="10058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41464" y="3474720"/>
            <a:ext cx="159105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000" b="1" i="0">
                <a:solidFill>
                  <a:srgbClr val="57068C"/>
                </a:solidFill>
                <a:latin typeface="Arial"/>
              </a:rPr>
              <a:t>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2904" y="3886200"/>
            <a:ext cx="1408176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Coding-agent
saturation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GOODNESS  ·  WHY OUR RESULTS CAN BE TRUSTED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Five-era data quality validation across 1.46 B events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2663952" cy="13258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2663952" cy="64008"/>
          </a:xfrm>
          <a:prstGeom prst="rect">
            <a:avLst/>
          </a:prstGeom>
          <a:solidFill>
            <a:srgbClr val="12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481328"/>
            <a:ext cx="2663952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2389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NULLS IN CORE FIELDS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76272"/>
            <a:ext cx="238963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event_type · event_date · actor_login · repo_name
across all 5 eras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0024" y="1371600"/>
            <a:ext cx="2663952" cy="13258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40024" y="1371600"/>
            <a:ext cx="2663952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0024" y="1481328"/>
            <a:ext cx="2663952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&lt; 0.39%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77184" y="1938528"/>
            <a:ext cx="2389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2026 RE-VALIDATION DIFF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7184" y="2176272"/>
            <a:ext cx="238963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Re-downloaded 2,160 raw files, re-cleaned,
compared to original output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68568" y="1371600"/>
            <a:ext cx="2663952" cy="13258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68568" y="1371600"/>
            <a:ext cx="2663952" cy="64008"/>
          </a:xfrm>
          <a:prstGeom prst="rect">
            <a:avLst/>
          </a:prstGeom>
          <a:solidFill>
            <a:srgbClr val="E8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68568" y="1481328"/>
            <a:ext cx="2663952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E88B00"/>
                </a:solidFill>
                <a:latin typeface="Arial"/>
              </a:rPr>
              <a:t>580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5728" y="1938528"/>
            <a:ext cx="2389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CORRUPT FILES TOLERATED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5728" y="2176272"/>
            <a:ext cx="238963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April 2026 raw .gz files rescued via
spark.sql.files.ignoreCorruptFiles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834640"/>
            <a:ext cx="8321040" cy="329184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2834640"/>
            <a:ext cx="7955280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FFFFFF"/>
                </a:solidFill>
                <a:latin typeface="Arial"/>
              </a:rPr>
              <a:t>DATA QUALITY  ·  EVENT VOLUME &amp; FIELD COMPLETENESS BY ERA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218688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Era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218688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Total events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3218688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Push events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19" y="3218688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PR events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218688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null core (4 fields)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3218688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Schema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438144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2022-Q1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3438144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206.8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3438144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146.4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19" y="3438144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35.0 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7800" y="3438144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438144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✓ stable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3652520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3657600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2023-Q1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08760" y="3657600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247.4 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3657600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185.6 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60519" y="3657600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29.5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800" y="3657600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3657600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✓ stable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" y="3871976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94360" y="3877056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2024-Q1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3877056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364.4 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3877056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307.6 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0519" y="3877056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26.4 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7800" y="3877056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5160" y="3877056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✓ stable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4091432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94360" y="4096512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2025-Q1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4096512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376.4 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34640" y="4096512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313.6 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60519" y="4096512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30.5 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7800" y="4096512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60" y="4096512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✓ stable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4310888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94360" y="4315968"/>
            <a:ext cx="91440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2026-Q1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08760" y="4315968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265.9 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34640" y="4315968"/>
            <a:ext cx="13258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224.6 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60519" y="4315968"/>
            <a:ext cx="10972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23.8 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57800" y="4315968"/>
            <a:ext cx="169164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95160" y="4315968"/>
            <a:ext cx="1783080" cy="2194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E88B00"/>
                </a:solidFill>
                <a:latin typeface="Arial"/>
              </a:rPr>
              <a:t>⚠ schema break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4360" y="4530344"/>
            <a:ext cx="7955280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286000" y="4526280"/>
            <a:ext cx="5897880" cy="2200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r">
              <a:buNone/>
            </a:pPr>
            <a:r>
              <a:rPr sz="950" b="0" i="1" dirty="0">
                <a:solidFill>
                  <a:srgbClr val="555566"/>
                </a:solidFill>
                <a:latin typeface="Arial"/>
              </a:rPr>
              <a:t>2026 schema change details on Slide </a:t>
            </a:r>
            <a:r>
              <a:rPr lang="en-US" sz="950" i="1" dirty="0">
                <a:solidFill>
                  <a:srgbClr val="555566"/>
                </a:solidFill>
              </a:rPr>
              <a:t>9</a:t>
            </a:r>
            <a:r>
              <a:rPr sz="950" b="0" i="1" dirty="0">
                <a:solidFill>
                  <a:srgbClr val="555566"/>
                </a:solidFill>
                <a:latin typeface="Arial"/>
              </a:rPr>
              <a:t>  ·  full quality report in backup.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DATA SOURCES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417320"/>
            <a:ext cx="2663952" cy="32461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417320"/>
            <a:ext cx="118872" cy="32461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81912"/>
            <a:ext cx="2298192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GITHUB ARCHIVE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22981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1">
                <a:solidFill>
                  <a:srgbClr val="8900E1"/>
                </a:solidFill>
                <a:latin typeface="Arial"/>
              </a:rPr>
              <a:t>Hourly event logs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2298192" cy="1051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Watch · Fork · Push · PR · Issue events from the public GitHub event firehose, archived hourly as compressed JSON.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337560"/>
            <a:ext cx="2298192" cy="635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FORMAT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42900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Hourly .json.gz 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0332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70332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5 × Q1 snapshots, 2022–2026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7764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VOLUME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97764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1.46 B events  ·  930 GB raw  ·  87.9 GB cleaned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0024" y="1417320"/>
            <a:ext cx="2663952" cy="32461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40024" y="1417320"/>
            <a:ext cx="118872" cy="32461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68624" y="1581912"/>
            <a:ext cx="2298192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HUGGING FACE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8624" y="1874520"/>
            <a:ext cx="22981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1">
                <a:solidFill>
                  <a:srgbClr val="8900E1"/>
                </a:solidFill>
                <a:latin typeface="Arial"/>
              </a:rPr>
              <a:t>Model metadata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68624" y="2148840"/>
            <a:ext cx="2298192" cy="1051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Snapshot of every public model on Hugging Face Hub via the huggingface_hub API, including library, downloads, and parameter counts.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68624" y="3337560"/>
            <a:ext cx="2298192" cy="635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68624" y="342900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FORMAT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45864" y="342900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JSONL snapshot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8624" y="370332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COVERAGE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5864" y="370332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All public models, April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8624" y="397764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45864" y="397764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2,815,064 models  ·  229 MB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68568" y="1417320"/>
            <a:ext cx="2663952" cy="32461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068568" y="1417320"/>
            <a:ext cx="118872" cy="32461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97168" y="1581912"/>
            <a:ext cx="2298192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300" b="1" i="0">
                <a:solidFill>
                  <a:srgbClr val="57068C"/>
                </a:solidFill>
                <a:latin typeface="Arial"/>
              </a:rPr>
              <a:t>PYPI / BIGQUERY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7168" y="1874520"/>
            <a:ext cx="22981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1">
                <a:solidFill>
                  <a:srgbClr val="8900E1"/>
                </a:solidFill>
                <a:latin typeface="Arial"/>
              </a:rPr>
              <a:t>Monthly download counts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7168" y="2148840"/>
            <a:ext cx="2298192" cy="1051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Per-library install counts pulled from the public BigQuery PyPI dataset — the closest proxy we have to real engineering adoption.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97168" y="3337560"/>
            <a:ext cx="2298192" cy="635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97168" y="342900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FORMAT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74408" y="342900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CSV (project · month · downloads)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7168" y="370332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COVERAGE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74408" y="370332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46 AI / ML libraries × 12 months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7168" y="3977640"/>
            <a:ext cx="7772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00" b="1" i="0">
                <a:solidFill>
                  <a:srgbClr val="8900E1"/>
                </a:solidFill>
                <a:latin typeface="Arial"/>
              </a:rPr>
              <a:t>VOLUME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74408" y="3977640"/>
            <a:ext cx="1520952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Arial"/>
              </a:rPr>
              <a:t>552 rows  ·  9 GB BigQuery scan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DATA SAMPLES  ·  GITHUB ARCHIVE · HF HUB · PYPI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Three sources, three schemas — five-row sample of each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8321040" cy="11887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118872" cy="11887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08176"/>
            <a:ext cx="228600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GH ARCHIVE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7909560" cy="8961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850" b="1" i="0">
                <a:solidFill>
                  <a:srgbClr val="57068C"/>
                </a:solidFill>
                <a:latin typeface="Consolas"/>
              </a:rPr>
              <a:t>event_type        event_date   actor_login   repo_name                  push  pr_merged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WatchEvent        2025-03-15   user_abc      huggingface/transformers   —     —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PushEvent         2025-03-15   dev_xyz       pytorch/pytorch            3     —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PullRequestEvent  2025-03-15   contrib_1     tensorflow/tensorflow      —     true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ForkEvent         2025-03-15   forker_3      openai/whisper             —     —</a:t>
            </a:r>
          </a:p>
          <a:p>
            <a:pPr marL="0" indent="0">
              <a:spcBef>
                <a:spcPts val="200"/>
              </a:spcBef>
              <a:buNone/>
            </a:pPr>
            <a:r>
              <a:rPr sz="750" b="0" i="1">
                <a:solidFill>
                  <a:srgbClr val="555566"/>
                </a:solidFill>
                <a:latin typeface="Consolas"/>
              </a:rPr>
              <a:t>schema  ·  event_type, event_date, actor_login, repo_name, push_size, push_distinct_size, pr_merged, issue_state, pr_number, payload_action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606040"/>
            <a:ext cx="8321040" cy="10058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1480" y="2606040"/>
            <a:ext cx="118872" cy="100584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642616"/>
            <a:ext cx="228600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HUGGING FACE 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62072"/>
            <a:ext cx="7909560" cy="7132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850" b="1" i="0">
                <a:solidFill>
                  <a:srgbClr val="57068C"/>
                </a:solidFill>
                <a:latin typeface="Consolas"/>
              </a:rPr>
              <a:t>model_id                      library_name  pipeline_tag       downloads     likes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meta-llama/Llama-3-8B         transformers  text-generation    1,234,567     8,920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stabilityai/stable-diffusion  diffusers     image-generation     890,123     5,430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openai/whisper-large-v3       transformers  automatic-speech     456,789     3,210</a:t>
            </a:r>
          </a:p>
          <a:p>
            <a:pPr marL="0" indent="0">
              <a:spcBef>
                <a:spcPts val="200"/>
              </a:spcBef>
              <a:buNone/>
            </a:pPr>
            <a:r>
              <a:rPr sz="750" b="0" i="1">
                <a:solidFill>
                  <a:srgbClr val="555566"/>
                </a:solidFill>
                <a:latin typeface="Consolas"/>
              </a:rPr>
              <a:t>schema  ·  model_id, author, library_name, pipeline_tag, downloads, likes, created_at, parameter_count, has_safetensors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657600"/>
            <a:ext cx="8321040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1480" y="3657600"/>
            <a:ext cx="118872" cy="86868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694176"/>
            <a:ext cx="2286000" cy="23774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PYPI / BIGQUERY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13632"/>
            <a:ext cx="7909560" cy="5760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sz="850" b="1" i="0">
                <a:solidFill>
                  <a:srgbClr val="57068C"/>
                </a:solidFill>
                <a:latin typeface="Consolas"/>
              </a:rPr>
              <a:t>project        month         downloads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transformers   2025-01-01    12,345,678</a:t>
            </a:r>
          </a:p>
          <a:p>
            <a:pPr marL="0" indent="0">
              <a:spcAft>
                <a:spcPts val="0"/>
              </a:spcAft>
              <a:buNone/>
            </a:pPr>
            <a:r>
              <a:rPr sz="850" b="0" i="0">
                <a:solidFill>
                  <a:srgbClr val="1E1E28"/>
                </a:solidFill>
                <a:latin typeface="Consolas"/>
              </a:rPr>
              <a:t>torch          2025-01-01    45,123,456</a:t>
            </a:r>
          </a:p>
          <a:p>
            <a:pPr marL="0" indent="0">
              <a:spcBef>
                <a:spcPts val="200"/>
              </a:spcBef>
              <a:buNone/>
            </a:pPr>
            <a:r>
              <a:rPr sz="750" b="0" i="1">
                <a:solidFill>
                  <a:srgbClr val="555566"/>
                </a:solidFill>
                <a:latin typeface="Consolas"/>
              </a:rPr>
              <a:t>schema  ·  project, month (YYYY-MM-01), downloads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590288"/>
            <a:ext cx="5897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r">
              <a:buNone/>
            </a:pPr>
            <a:r>
              <a:rPr sz="1000" b="0" i="1">
                <a:solidFill>
                  <a:srgbClr val="57068C"/>
                </a:solidFill>
                <a:latin typeface="Arial"/>
              </a:rPr>
              <a:t>Total cleaned scale  ·  87.9 GB Parquet · 2.81 M HF rows · 552 PyPI rows.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DESIGN DIAGRAM  ·  PIPELINE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3 sources  →  Spark cleaning  →  10 analytics jobs  →  CSV / Tableau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2676144" cy="5943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2676144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508760"/>
            <a:ext cx="2676144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GH ARCHIVE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746504"/>
            <a:ext cx="2676144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1">
                <a:solidFill>
                  <a:srgbClr val="555566"/>
                </a:solidFill>
                <a:latin typeface="Arial"/>
              </a:rPr>
              <a:t>hourly .json.gz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33928" y="1417320"/>
            <a:ext cx="2676144" cy="5943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33928" y="1417320"/>
            <a:ext cx="2676144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33928" y="1508760"/>
            <a:ext cx="2676144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HUGGING FACE 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33928" y="1746504"/>
            <a:ext cx="2676144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1">
                <a:solidFill>
                  <a:srgbClr val="555566"/>
                </a:solidFill>
                <a:latin typeface="Arial"/>
              </a:rPr>
              <a:t>snapshot via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6376" y="1417320"/>
            <a:ext cx="2676144" cy="5943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56376" y="1417320"/>
            <a:ext cx="2676144" cy="64008"/>
          </a:xfrm>
          <a:prstGeom prst="rect">
            <a:avLst/>
          </a:prstGeom>
          <a:solidFill>
            <a:srgbClr val="33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56376" y="1508760"/>
            <a:ext cx="2676144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PyPI / BIGQUERY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6376" y="1746504"/>
            <a:ext cx="2676144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1">
                <a:solidFill>
                  <a:srgbClr val="555566"/>
                </a:solidFill>
                <a:latin typeface="Arial"/>
              </a:rPr>
              <a:t>monthly downloads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648968" y="2048256"/>
            <a:ext cx="201168" cy="201168"/>
          </a:xfrm>
          <a:prstGeom prst="down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own Arrow 16"/>
          <p:cNvSpPr/>
          <p:nvPr/>
        </p:nvSpPr>
        <p:spPr>
          <a:xfrm>
            <a:off x="4471416" y="2048256"/>
            <a:ext cx="201168" cy="201168"/>
          </a:xfrm>
          <a:prstGeom prst="down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Down Arrow 17"/>
          <p:cNvSpPr/>
          <p:nvPr/>
        </p:nvSpPr>
        <p:spPr>
          <a:xfrm>
            <a:off x="7293864" y="2048256"/>
            <a:ext cx="201168" cy="201168"/>
          </a:xfrm>
          <a:prstGeom prst="down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11480" y="2331720"/>
            <a:ext cx="8321040" cy="640080"/>
          </a:xfrm>
          <a:prstGeom prst="round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11480" y="2331720"/>
            <a:ext cx="8321040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SPARK CLEAN  &amp;  DEDUPLICATE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2697480"/>
            <a:ext cx="8321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0" i="1">
                <a:solidFill>
                  <a:srgbClr val="E6CFFF"/>
                </a:solidFill>
                <a:latin typeface="Arial"/>
              </a:rPr>
              <a:t>5 event types  ·  unified schema  ·  partitioned by event_date  ·  ignoreCorruptFiles=true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4471416" y="3008376"/>
            <a:ext cx="201168" cy="201168"/>
          </a:xfrm>
          <a:prstGeom prst="down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11480" y="3337560"/>
            <a:ext cx="1576425" cy="1097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1480" y="3337560"/>
            <a:ext cx="1576425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3429000"/>
            <a:ext cx="148498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Job 01-03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703320"/>
            <a:ext cx="1484985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Daily metrics
HF/GH join
Health score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97633" y="3337560"/>
            <a:ext cx="1576425" cy="1097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097633" y="3337560"/>
            <a:ext cx="1576425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143353" y="3429000"/>
            <a:ext cx="148498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Job 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3353" y="3703320"/>
            <a:ext cx="1484985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Top-1000 repos
(billion-record
shuffle)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83786" y="3337560"/>
            <a:ext cx="1576425" cy="1097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783786" y="3337560"/>
            <a:ext cx="1576425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29506" y="3429000"/>
            <a:ext cx="148498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Job 05-07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29506" y="3703320"/>
            <a:ext cx="1484985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AI vs General
Star hype
Contributor health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69939" y="3337560"/>
            <a:ext cx="1576425" cy="1097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469939" y="3337560"/>
            <a:ext cx="1576425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515659" y="3429000"/>
            <a:ext cx="148498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Job 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15659" y="3703320"/>
            <a:ext cx="1484985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5-year era
comparison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56092" y="3337560"/>
            <a:ext cx="1576425" cy="109728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156092" y="3337560"/>
            <a:ext cx="1576425" cy="457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01812" y="3429000"/>
            <a:ext cx="1484985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Job 09-10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01812" y="3703320"/>
            <a:ext cx="1484985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Repo deep-dive
Dev rhythm
(weekend gap)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 dirty="0">
                <a:solidFill>
                  <a:srgbClr val="57068C"/>
                </a:solidFill>
                <a:latin typeface="Arial"/>
              </a:rPr>
              <a:t>CODE CHALLENGE  ·  </a:t>
            </a:r>
            <a:r>
              <a:rPr lang="en-US" sz="2400" b="1" i="0" dirty="0">
                <a:solidFill>
                  <a:srgbClr val="57068C"/>
                </a:solidFill>
                <a:latin typeface="Arial"/>
              </a:rPr>
              <a:t>Jhe Chen Li</a:t>
            </a:r>
            <a:endParaRPr sz="2400" b="1" i="0" dirty="0">
              <a:solidFill>
                <a:srgbClr val="57068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HDFS quota &amp; per-era processing — surviving 5 years × Q1 in 500 GB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4160520" cy="30175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4160520" cy="38404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397764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ROLLING INGEST  ·  500 GB QUOTA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920240"/>
            <a:ext cx="3758184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Problem  ·  </a:t>
            </a:r>
            <a:r>
              <a:rPr sz="1050" b="1" i="0">
                <a:solidFill>
                  <a:srgbClr val="E24A4A"/>
                </a:solidFill>
                <a:latin typeface="Arial"/>
              </a:rPr>
              <a:t>700 GB needed &gt; 500 GB quota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2286000"/>
            <a:ext cx="1627632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570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4088" y="2331720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57068C"/>
                </a:solidFill>
                <a:latin typeface="Arial"/>
              </a:rPr>
              <a:t>①  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578608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Q1 raw .gz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76856" y="2446020"/>
            <a:ext cx="237744" cy="274320"/>
          </a:xfrm>
          <a:prstGeom prst="right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551176" y="2286000"/>
            <a:ext cx="1627632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8900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42616" y="2331720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②  SPARK CLEAN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2616" y="2578608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→ Parquet, 8× smaller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813048" y="2898648"/>
            <a:ext cx="228600" cy="256032"/>
          </a:xfrm>
          <a:prstGeom prst="down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551176" y="3154680"/>
            <a:ext cx="1627632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E88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42616" y="3200400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E88B00"/>
                </a:solidFill>
                <a:latin typeface="Arial"/>
              </a:rPr>
              <a:t>③  DELETE RAW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42616" y="3447288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free ~150 GB</a:t>
            </a:r>
          </a:p>
        </p:txBody>
      </p:sp>
      <p:sp>
        <p:nvSpPr>
          <p:cNvPr id="19" name="Left Arrow 18"/>
          <p:cNvSpPr/>
          <p:nvPr/>
        </p:nvSpPr>
        <p:spPr>
          <a:xfrm>
            <a:off x="2276856" y="3314700"/>
            <a:ext cx="237744" cy="274320"/>
          </a:xfrm>
          <a:prstGeom prst="left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12648" y="3154680"/>
            <a:ext cx="1627632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2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4088" y="3200400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129E9E"/>
                </a:solidFill>
                <a:latin typeface="Arial"/>
              </a:rPr>
              <a:t>④  NEXT YEAR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3447288"/>
            <a:ext cx="1444752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loop ×5</a:t>
            </a:r>
          </a:p>
        </p:txBody>
      </p:sp>
      <p:sp>
        <p:nvSpPr>
          <p:cNvPr id="23" name="Up Arrow 22"/>
          <p:cNvSpPr/>
          <p:nvPr/>
        </p:nvSpPr>
        <p:spPr>
          <a:xfrm>
            <a:off x="749808" y="2898648"/>
            <a:ext cx="228600" cy="256032"/>
          </a:xfrm>
          <a:prstGeom prst="upArrow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2648" y="4069080"/>
            <a:ext cx="375818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1">
                <a:solidFill>
                  <a:srgbClr val="57068C"/>
                </a:solidFill>
                <a:latin typeface="Arial"/>
              </a:rPr>
              <a:t>Outcome  ·  5-year timeline ingested within 500 GB 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0" y="1417320"/>
            <a:ext cx="4160520" cy="30175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754880" y="1417320"/>
            <a:ext cx="4160520" cy="38404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37760" y="1417320"/>
            <a:ext cx="397764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FFFFFF"/>
                </a:solidFill>
                <a:latin typeface="Arial"/>
              </a:rPr>
              <a:t>PER-ERA PROCESSING  ·  90 GB ON 48 GB EXECUTORS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1874520"/>
            <a:ext cx="3758184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Naive cache-all spilled to disk; YARN killed it after 1.5 h. Per-era compute + intermediate saves makes the job crash-safe and resumable.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2423160"/>
            <a:ext cx="12801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63640" y="2423160"/>
            <a:ext cx="1188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Union-first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2423160"/>
            <a:ext cx="1325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Arial"/>
              </a:rPr>
              <a:t>Per-era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56048" y="2692400"/>
            <a:ext cx="3758184" cy="762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56048" y="2743200"/>
            <a:ext cx="12801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Peak memory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2743200"/>
            <a:ext cx="1188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E24A4A"/>
                </a:solidFill>
                <a:latin typeface="Arial"/>
              </a:rPr>
              <a:t>90 GB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0" y="2743200"/>
            <a:ext cx="1325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15-23 GB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56048" y="3012440"/>
            <a:ext cx="375818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956048" y="3017520"/>
            <a:ext cx="12801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Runtime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017520"/>
            <a:ext cx="1188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E24A4A"/>
                </a:solidFill>
                <a:latin typeface="Arial"/>
              </a:rPr>
              <a:t>2-3 h (killed)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0" y="3017520"/>
            <a:ext cx="1325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40-60 min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56048" y="3286760"/>
            <a:ext cx="375818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956048" y="3291840"/>
            <a:ext cx="12801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Blast radius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3291840"/>
            <a:ext cx="1188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E24A4A"/>
                </a:solidFill>
                <a:latin typeface="Arial"/>
              </a:rPr>
              <a:t>All eras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0" y="3291840"/>
            <a:ext cx="1325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Only failed era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56048" y="3561080"/>
            <a:ext cx="375818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956048" y="3566160"/>
            <a:ext cx="128016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E1E28"/>
                </a:solidFill>
                <a:latin typeface="Arial"/>
              </a:rPr>
              <a:t>Shuffle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3566160"/>
            <a:ext cx="11887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E24A4A"/>
                </a:solidFill>
                <a:latin typeface="Arial"/>
              </a:rPr>
              <a:t>90 GB / pass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0" y="3566160"/>
            <a:ext cx="132588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129E9E"/>
                </a:solidFill>
                <a:latin typeface="Arial"/>
              </a:rPr>
              <a:t>15-23 GB / pass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56048" y="3835400"/>
            <a:ext cx="375818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 dirty="0">
                <a:solidFill>
                  <a:srgbClr val="57068C"/>
                </a:solidFill>
                <a:latin typeface="Arial"/>
              </a:rPr>
              <a:t>CODE CHALLENGE  ·  2026 SCHEMA CHANGE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Job 08 reported merged_prs = 0 for 2026-Q1 — what happened?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4078224" cy="182880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527048"/>
            <a:ext cx="3712464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THE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01368"/>
            <a:ext cx="3712464" cy="1325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Job 08 reported merged_prs = 0 for 2026-Q1. Investigation revealed the GitHub Archive payload schema changed.</a:t>
            </a:r>
          </a:p>
          <a:p>
            <a:pPr marL="0" indent="0">
              <a:spcAft>
                <a:spcPts val="8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Root cause: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GitHub API simplification — announced 2025-08-08, effective 2025-10-07.</a:t>
            </a:r>
          </a:p>
          <a:p>
            <a:pPr marL="0" indent="0"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Verification: </a:t>
            </a:r>
            <a:r>
              <a:rPr sz="1100" b="0" i="0">
                <a:solidFill>
                  <a:srgbClr val="1E1E28"/>
                </a:solidFill>
                <a:latin typeface="Arial"/>
              </a:rPr>
              <a:t>downloaded raw JSON from both eras and compared payload keys directly.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54296" y="1417320"/>
            <a:ext cx="4078224" cy="182880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37176" y="1527048"/>
            <a:ext cx="3712464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SCHEMA DIFF  ·  2025  vs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37176" y="1828800"/>
            <a:ext cx="16916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Consolas"/>
              </a:rPr>
              <a:t>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1828800"/>
            <a:ext cx="10058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Consolas"/>
              </a:rPr>
              <a:t>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936" y="1828800"/>
            <a:ext cx="109728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8900E1"/>
                </a:solidFill>
                <a:latin typeface="Consolas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37176" y="2075688"/>
            <a:ext cx="16916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Consolas"/>
              </a:rPr>
              <a:t>payload.distinct_size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2075688"/>
            <a:ext cx="10058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29E9E"/>
                </a:solidFill>
                <a:latin typeface="Consolas"/>
              </a:rPr>
              <a:t>✓ present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936" y="2075688"/>
            <a:ext cx="109728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E24A4A"/>
                </a:solidFill>
                <a:latin typeface="Consolas"/>
              </a:rPr>
              <a:t>✗ removed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37176" y="2317496"/>
            <a:ext cx="371246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37176" y="2322576"/>
            <a:ext cx="16916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Consolas"/>
              </a:rPr>
              <a:t>payload.commits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2322576"/>
            <a:ext cx="10058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29E9E"/>
                </a:solidFill>
                <a:latin typeface="Consolas"/>
              </a:rPr>
              <a:t>✓ present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8936" y="2322576"/>
            <a:ext cx="109728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E24A4A"/>
                </a:solidFill>
                <a:latin typeface="Consolas"/>
              </a:rPr>
              <a:t>✗ removed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37176" y="2564384"/>
            <a:ext cx="371246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37176" y="2569464"/>
            <a:ext cx="16916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Consolas"/>
              </a:rPr>
              <a:t>pr.merged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569464"/>
            <a:ext cx="10058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29E9E"/>
                </a:solidFill>
                <a:latin typeface="Consolas"/>
              </a:rPr>
              <a:t>true / false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936" y="2569464"/>
            <a:ext cx="109728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E24A4A"/>
                </a:solidFill>
                <a:latin typeface="Consolas"/>
              </a:rPr>
              <a:t>✗ NULL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37176" y="2811272"/>
            <a:ext cx="371246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37176" y="2816352"/>
            <a:ext cx="16916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E1E28"/>
                </a:solidFill>
                <a:latin typeface="Consolas"/>
              </a:rPr>
              <a:t>payload.action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2816352"/>
            <a:ext cx="100584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0" i="0">
                <a:solidFill>
                  <a:srgbClr val="129E9E"/>
                </a:solidFill>
                <a:latin typeface="Consolas"/>
              </a:rPr>
              <a:t>opened/closed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88936" y="2816352"/>
            <a:ext cx="1097280" cy="2468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marL="0" indent="0">
              <a:buNone/>
            </a:pPr>
            <a:r>
              <a:rPr sz="950" b="1" i="0">
                <a:solidFill>
                  <a:srgbClr val="57068C"/>
                </a:solidFill>
                <a:latin typeface="Consolas"/>
              </a:rPr>
              <a:t>+ "merged"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37176" y="3058160"/>
            <a:ext cx="3712464" cy="5080"/>
          </a:xfrm>
          <a:prstGeom prst="rect">
            <a:avLst/>
          </a:prstGeom>
          <a:solidFill>
            <a:srgbClr val="E5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11480" y="3337560"/>
            <a:ext cx="8321040" cy="11887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11480" y="3337560"/>
            <a:ext cx="118872" cy="11887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3429000"/>
            <a:ext cx="79095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BACKWARD-COMPATIBLE FIX  · 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703320"/>
            <a:ext cx="790956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Consolas"/>
              </a:rPr>
              <a:t># Backward-compatible merged-PR detection
((F.col("payload_action") == "closed") &amp; F.col("pr_merged").eqNullSafe(True))
  | (F.col("payload_action") == "merged")  # 2026+ schema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4590288"/>
            <a:ext cx="5897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r">
              <a:buNone/>
            </a:pPr>
            <a:r>
              <a:rPr sz="1000" b="0" i="1">
                <a:solidFill>
                  <a:srgbClr val="57068C"/>
                </a:solidFill>
                <a:latin typeface="Arial"/>
              </a:rPr>
              <a:t>Validation  ·  re-cleaned all 2,160 raw files, diff &lt; 0.39% (corrupt-file tolerance).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 dirty="0">
                <a:solidFill>
                  <a:srgbClr val="57068C"/>
                </a:solidFill>
                <a:latin typeface="Arial"/>
              </a:rPr>
              <a:t>CODE CHALLENGE  ·  </a:t>
            </a:r>
            <a:r>
              <a:rPr lang="en-US" sz="2400" b="1" i="0" dirty="0">
                <a:solidFill>
                  <a:srgbClr val="57068C"/>
                </a:solidFill>
                <a:latin typeface="Arial"/>
              </a:rPr>
              <a:t>Bo Yu</a:t>
            </a:r>
            <a:endParaRPr sz="2400" b="1" i="0" dirty="0">
              <a:solidFill>
                <a:srgbClr val="57068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Billion-record shuffle — group by repo across 334 date partitions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1956816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1956816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463040"/>
            <a:ext cx="1956816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72 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20240"/>
            <a:ext cx="195681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32888" y="1371600"/>
            <a:ext cx="1956816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532888" y="1371600"/>
            <a:ext cx="1956816" cy="64008"/>
          </a:xfrm>
          <a:prstGeom prst="rect">
            <a:avLst/>
          </a:prstGeom>
          <a:solidFill>
            <a:srgbClr val="E2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32888" y="1463040"/>
            <a:ext cx="1956816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400" b="1" i="0">
                <a:solidFill>
                  <a:srgbClr val="E24A4A"/>
                </a:solidFill>
                <a:latin typeface="Arial"/>
              </a:rPr>
              <a:t>83 GB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32888" y="1920240"/>
            <a:ext cx="195681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SHUFFLE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54296" y="1371600"/>
            <a:ext cx="1956816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654296" y="1371600"/>
            <a:ext cx="1956816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54296" y="1463040"/>
            <a:ext cx="1956816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400" b="1" i="0">
                <a:solidFill>
                  <a:srgbClr val="8900E1"/>
                </a:solidFill>
                <a:latin typeface="Arial"/>
              </a:rPr>
              <a:t>1B+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1920240"/>
            <a:ext cx="195681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RECORDS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1371600"/>
            <a:ext cx="1956816" cy="8686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775704" y="1371600"/>
            <a:ext cx="1956816" cy="64008"/>
          </a:xfrm>
          <a:prstGeom prst="rect">
            <a:avLst/>
          </a:prstGeom>
          <a:solidFill>
            <a:srgbClr val="33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75704" y="1463040"/>
            <a:ext cx="1956816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400" b="1" i="0">
                <a:solidFill>
                  <a:srgbClr val="330066"/>
                </a:solidFill>
                <a:latin typeface="Arial"/>
              </a:rPr>
              <a:t>3+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75704" y="1920240"/>
            <a:ext cx="195681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50" b="1" i="0">
                <a:solidFill>
                  <a:srgbClr val="555566"/>
                </a:solidFill>
                <a:latin typeface="Arial"/>
              </a:rPr>
              <a:t>WALL CLOCK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2423160"/>
            <a:ext cx="4078224" cy="19202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2532888"/>
            <a:ext cx="3712464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WHAT WE DID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2807208"/>
            <a:ext cx="3712464" cy="1463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• Tuned </a:t>
            </a:r>
            <a:r>
              <a:rPr sz="1100" b="0" i="0">
                <a:solidFill>
                  <a:srgbClr val="1E1E28"/>
                </a:solidFill>
                <a:latin typeface="Consolas"/>
              </a:rPr>
              <a:t>spark.sql.shuffle.partitions</a:t>
            </a:r>
            <a:r>
              <a:rPr sz="1100" b="0" i="0">
                <a:solidFill>
                  <a:srgbClr val="1E1E28"/>
                </a:solidFill>
                <a:latin typeface="Arial"/>
              </a:rPr>
              <a:t> (400 → 200) to cluster size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• .cache() on aggregated DataFrame so multi-write actions don't re-shuffle (3× redundancy gone)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• Replaced Python UDFs with native </a:t>
            </a:r>
            <a:r>
              <a:rPr sz="1100" b="0" i="0">
                <a:solidFill>
                  <a:srgbClr val="1E1E28"/>
                </a:solidFill>
                <a:latin typeface="Consolas"/>
              </a:rPr>
              <a:t>F.col().isin()</a:t>
            </a:r>
          </a:p>
          <a:p>
            <a:pPr marL="0" indent="0">
              <a:buNone/>
            </a:pPr>
            <a:r>
              <a:rPr sz="1100" b="0" i="0">
                <a:solidFill>
                  <a:srgbClr val="1E1E28"/>
                </a:solidFill>
                <a:latin typeface="Arial"/>
              </a:rPr>
              <a:t>• Restructured Jobs 05–07 to read pre-aggregated Job 04 output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54296" y="2423160"/>
            <a:ext cx="4078224" cy="19202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37176" y="2532888"/>
            <a:ext cx="3712464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WHAT WE'D DO DIFFERENTLY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7176" y="2807208"/>
            <a:ext cx="3712464" cy="111517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sz="1100" b="0" i="0" dirty="0">
                <a:solidFill>
                  <a:srgbClr val="1E1E28"/>
                </a:solidFill>
                <a:latin typeface="Arial"/>
              </a:rPr>
              <a:t>Bucket cleaned data by </a:t>
            </a:r>
            <a:r>
              <a:rPr sz="1100" b="0" i="0" dirty="0" err="1">
                <a:solidFill>
                  <a:srgbClr val="1E1E28"/>
                </a:solidFill>
                <a:latin typeface="Arial"/>
              </a:rPr>
              <a:t>repo_name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 at ingest:</a:t>
            </a:r>
          </a:p>
          <a:p>
            <a:pPr marL="0" indent="0">
              <a:spcAft>
                <a:spcPts val="600"/>
              </a:spcAft>
              <a:buNone/>
            </a:pPr>
            <a:r>
              <a:rPr sz="1000" b="0" i="0" dirty="0" err="1">
                <a:solidFill>
                  <a:srgbClr val="1E1E28"/>
                </a:solidFill>
                <a:latin typeface="Consolas"/>
              </a:rPr>
              <a:t>cleaned.write</a:t>
            </a:r>
            <a:r>
              <a:rPr sz="1000" b="0" i="0" dirty="0">
                <a:solidFill>
                  <a:srgbClr val="1E1E28"/>
                </a:solidFill>
                <a:latin typeface="Consolas"/>
              </a:rPr>
              <a:t>
  .</a:t>
            </a:r>
            <a:r>
              <a:rPr sz="1000" b="0" i="0" dirty="0" err="1">
                <a:solidFill>
                  <a:srgbClr val="1E1E28"/>
                </a:solidFill>
                <a:latin typeface="Consolas"/>
              </a:rPr>
              <a:t>bucketBy</a:t>
            </a:r>
            <a:r>
              <a:rPr sz="1000" b="0" i="0" dirty="0">
                <a:solidFill>
                  <a:srgbClr val="1E1E28"/>
                </a:solidFill>
                <a:latin typeface="Consolas"/>
              </a:rPr>
              <a:t>(256, "</a:t>
            </a:r>
            <a:r>
              <a:rPr sz="1000" b="0" i="0" dirty="0" err="1">
                <a:solidFill>
                  <a:srgbClr val="1E1E28"/>
                </a:solidFill>
                <a:latin typeface="Consolas"/>
              </a:rPr>
              <a:t>repo_name</a:t>
            </a:r>
            <a:r>
              <a:rPr sz="1000" b="0" i="0" dirty="0">
                <a:solidFill>
                  <a:srgbClr val="1E1E28"/>
                </a:solidFill>
                <a:latin typeface="Consolas"/>
              </a:rPr>
              <a:t>")
  .</a:t>
            </a:r>
            <a:r>
              <a:rPr sz="1000" b="0" i="0" dirty="0" err="1">
                <a:solidFill>
                  <a:srgbClr val="1E1E28"/>
                </a:solidFill>
                <a:latin typeface="Consolas"/>
              </a:rPr>
              <a:t>sortBy</a:t>
            </a:r>
            <a:r>
              <a:rPr sz="1000" b="0" i="0" dirty="0">
                <a:solidFill>
                  <a:srgbClr val="1E1E28"/>
                </a:solidFill>
                <a:latin typeface="Consolas"/>
              </a:rPr>
              <a:t>("</a:t>
            </a:r>
            <a:r>
              <a:rPr sz="1000" b="0" i="0" dirty="0" err="1">
                <a:solidFill>
                  <a:srgbClr val="1E1E28"/>
                </a:solidFill>
                <a:latin typeface="Consolas"/>
              </a:rPr>
              <a:t>repo_name</a:t>
            </a:r>
            <a:r>
              <a:rPr sz="1000" b="0" i="0" dirty="0">
                <a:solidFill>
                  <a:srgbClr val="1E1E28"/>
                </a:solidFill>
                <a:latin typeface="Consolas"/>
              </a:rPr>
              <a:t>")
  .</a:t>
            </a:r>
            <a:r>
              <a:rPr sz="1000" b="0" i="0" dirty="0" err="1">
                <a:solidFill>
                  <a:srgbClr val="1E1E28"/>
                </a:solidFill>
                <a:latin typeface="Consolas"/>
              </a:rPr>
              <a:t>saveAsTable</a:t>
            </a:r>
            <a:r>
              <a:rPr sz="1000" b="0" i="0" dirty="0">
                <a:solidFill>
                  <a:srgbClr val="1E1E28"/>
                </a:solidFill>
                <a:latin typeface="Consolas"/>
              </a:rPr>
              <a:t>("</a:t>
            </a:r>
            <a:r>
              <a:rPr sz="1000" b="0" i="0" dirty="0" err="1">
                <a:solidFill>
                  <a:srgbClr val="1E1E28"/>
                </a:solidFill>
                <a:latin typeface="Consolas"/>
              </a:rPr>
              <a:t>gharchive_cleaned</a:t>
            </a:r>
            <a:r>
              <a:rPr sz="1000" b="0" i="0">
                <a:solidFill>
                  <a:srgbClr val="1E1E28"/>
                </a:solidFill>
                <a:latin typeface="Consolas"/>
              </a:rPr>
              <a:t>")</a:t>
            </a:r>
            <a:endParaRPr sz="1000" b="0" i="0" dirty="0">
              <a:solidFill>
                <a:srgbClr val="1E1E28"/>
              </a:solidFill>
              <a:latin typeface="Consola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567543" y="4498848"/>
            <a:ext cx="6616337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r">
              <a:buNone/>
            </a:pPr>
            <a:r>
              <a:rPr sz="1000" b="0" i="1" dirty="0">
                <a:solidFill>
                  <a:srgbClr val="57068C"/>
                </a:solidFill>
                <a:latin typeface="Arial"/>
              </a:rPr>
              <a:t>Lesson — at billion-record scale, network I/O dominates compute. Partition strategy at ingest determines query cost.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200" b="1" i="0" dirty="0">
                <a:solidFill>
                  <a:srgbClr val="57068C"/>
                </a:solidFill>
                <a:latin typeface="Arial"/>
              </a:rPr>
              <a:t>RESULT · STARS  ≠ 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Bubble chart  ·  PyPI downloads × GH stars · size = HF model count</a:t>
            </a:r>
          </a:p>
        </p:txBody>
      </p:sp>
      <p:pic>
        <p:nvPicPr>
          <p:cNvPr id="4" name="Picture 3" descr="01_stars_vs_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4840251" cy="3017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64369" y="1628335"/>
            <a:ext cx="3668151" cy="2571876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251731" y="2039815"/>
            <a:ext cx="3382471" cy="19666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500"/>
              </a:spcAft>
              <a:buNone/>
            </a:pPr>
            <a:r>
              <a:rPr sz="1100" b="1" i="0" dirty="0">
                <a:solidFill>
                  <a:srgbClr val="129E9E"/>
                </a:solidFill>
                <a:latin typeface="Arial"/>
              </a:rPr>
              <a:t>True leader  ·  </a:t>
            </a:r>
            <a:r>
              <a:rPr sz="1100" b="1" i="0" dirty="0">
                <a:solidFill>
                  <a:srgbClr val="57068C"/>
                </a:solidFill>
                <a:latin typeface="Arial"/>
              </a:rPr>
              <a:t>transformers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13 K stars · 938 M </a:t>
            </a:r>
            <a:r>
              <a:rPr sz="1050" b="0" i="0" dirty="0" err="1">
                <a:solidFill>
                  <a:srgbClr val="1E1E28"/>
                </a:solidFill>
                <a:latin typeface="Arial"/>
              </a:rPr>
              <a:t>PyPI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 · 835 K HF models — wins on all three signals.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100" b="1" i="0" dirty="0">
                <a:solidFill>
                  <a:srgbClr val="8900E1"/>
                </a:solidFill>
                <a:latin typeface="Arial"/>
              </a:rPr>
              <a:t>Quiet powerhouse  ·  </a:t>
            </a:r>
            <a:r>
              <a:rPr sz="1100" b="1" i="0" dirty="0">
                <a:solidFill>
                  <a:srgbClr val="57068C"/>
                </a:solidFill>
                <a:latin typeface="Arial"/>
              </a:rPr>
              <a:t>sentence-transformers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1.6 K stars  →  519 M HF downloads — </a:t>
            </a:r>
            <a:r>
              <a:rPr sz="1100" b="1" i="0" dirty="0">
                <a:solidFill>
                  <a:srgbClr val="8900E1"/>
                </a:solidFill>
                <a:latin typeface="Arial"/>
              </a:rPr>
              <a:t>327,014×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downloads / star.</a:t>
            </a:r>
          </a:p>
          <a:p>
            <a:pPr marL="0" indent="0">
              <a:spcAft>
                <a:spcPts val="800"/>
              </a:spcAft>
              <a:buNone/>
            </a:pPr>
            <a:r>
              <a:rPr sz="1100" b="1" i="0" dirty="0">
                <a:solidFill>
                  <a:srgbClr val="E88B00"/>
                </a:solidFill>
                <a:latin typeface="Arial"/>
              </a:rPr>
              <a:t>Asymmetric adoption  ·  </a:t>
            </a:r>
            <a:r>
              <a:rPr sz="1100" b="1" i="0" dirty="0" err="1">
                <a:solidFill>
                  <a:srgbClr val="57068C"/>
                </a:solidFill>
                <a:latin typeface="Arial"/>
              </a:rPr>
              <a:t>ollama</a:t>
            </a:r>
            <a:r>
              <a:rPr sz="1100" b="1" i="0" dirty="0">
                <a:solidFill>
                  <a:srgbClr val="57068C"/>
                </a:solidFill>
                <a:latin typeface="Arial"/>
              </a:rPr>
              <a:t>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44.5 K stars + 47.9 M </a:t>
            </a:r>
            <a:r>
              <a:rPr sz="1050" b="0" i="0" dirty="0" err="1">
                <a:solidFill>
                  <a:srgbClr val="1E1E28"/>
                </a:solidFill>
                <a:latin typeface="Arial"/>
              </a:rPr>
              <a:t>PyPI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 but only 241 HF downloads — it's a runtime, not a model library.</a:t>
            </a:r>
          </a:p>
          <a:p>
            <a:pPr marL="0" indent="0">
              <a:buNone/>
            </a:pPr>
            <a:r>
              <a:rPr sz="1100" b="1" i="1" dirty="0">
                <a:solidFill>
                  <a:srgbClr val="57068C"/>
                </a:solidFill>
                <a:latin typeface="Arial"/>
              </a:rPr>
              <a:t>“No single signal captures every project — triangulation is the point.”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EA1F0B2E-7B36-67EC-FB62-189837BFD92D}"/>
              </a:ext>
            </a:extLst>
          </p:cNvPr>
          <p:cNvSpPr txBox="1"/>
          <p:nvPr/>
        </p:nvSpPr>
        <p:spPr>
          <a:xfrm>
            <a:off x="5251731" y="1812060"/>
            <a:ext cx="2468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8900E1"/>
                </a:solidFill>
              </a:rPr>
              <a:t>FINDING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1AED9399-75A5-9801-4B09-0FBE6901C80E}"/>
              </a:ext>
            </a:extLst>
          </p:cNvPr>
          <p:cNvSpPr/>
          <p:nvPr/>
        </p:nvSpPr>
        <p:spPr>
          <a:xfrm>
            <a:off x="5413571" y="1842515"/>
            <a:ext cx="3520035" cy="2509375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200" b="1" dirty="0">
                <a:latin typeface="Arial"/>
              </a:rPr>
              <a:t>RESULT</a:t>
            </a:r>
            <a:r>
              <a:rPr sz="2200" b="1" i="0" dirty="0">
                <a:solidFill>
                  <a:srgbClr val="57068C"/>
                </a:solidFill>
                <a:latin typeface="Arial"/>
              </a:rPr>
              <a:t> · EVENT COMPOSITION ACROSS 5 ERAS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Stacked bar  ·  Push · PR · Watch · Issues · Fork by Q1, 2022–2026</a:t>
            </a:r>
          </a:p>
        </p:txBody>
      </p:sp>
      <p:pic>
        <p:nvPicPr>
          <p:cNvPr id="4" name="Picture 3" descr="07_even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4880711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17029" y="1938425"/>
            <a:ext cx="2468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8900E1"/>
                </a:solidFill>
              </a:rPr>
              <a:t>FINDING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17029" y="2262088"/>
            <a:ext cx="3236872" cy="161274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57068C"/>
                </a:solidFill>
              </a:rPr>
              <a:t>Push share grew</a:t>
            </a:r>
            <a:r>
              <a:rPr sz="1100" b="1" i="0" dirty="0">
                <a:solidFill>
                  <a:srgbClr val="57068C"/>
                </a:solidFill>
                <a:latin typeface="Arial"/>
              </a:rPr>
              <a:t>   </a:t>
            </a:r>
            <a:r>
              <a:rPr lang="en-US" sz="1100" b="1" i="0" dirty="0">
                <a:solidFill>
                  <a:srgbClr val="57068C"/>
                </a:solidFill>
                <a:latin typeface="Arial"/>
              </a:rPr>
              <a:t>          </a:t>
            </a:r>
            <a:r>
              <a:rPr lang="en-US" sz="1050" dirty="0">
                <a:solidFill>
                  <a:srgbClr val="1E1E28"/>
                </a:solidFill>
              </a:rPr>
              <a:t>71% → 85% of all events</a:t>
            </a:r>
            <a:endParaRPr sz="1050" b="1" i="0" dirty="0">
              <a:solidFill>
                <a:srgbClr val="129E9E"/>
              </a:solidFill>
              <a:latin typeface="Arial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sz="1100" b="1" i="0" dirty="0">
                <a:solidFill>
                  <a:srgbClr val="57068C"/>
                </a:solidFill>
                <a:latin typeface="Arial"/>
              </a:rPr>
              <a:t>Watch (Star) collapses  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19.6 M  →  7.2 M  </a:t>
            </a:r>
            <a:r>
              <a:rPr sz="1050" b="1" i="0" dirty="0">
                <a:solidFill>
                  <a:srgbClr val="E24A4A"/>
                </a:solidFill>
                <a:latin typeface="Arial"/>
              </a:rPr>
              <a:t>(−63%)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100" b="1" i="0" dirty="0">
                <a:solidFill>
                  <a:srgbClr val="57068C"/>
                </a:solidFill>
                <a:latin typeface="Arial"/>
              </a:rPr>
              <a:t>Fork collapses   </a:t>
            </a:r>
            <a:r>
              <a:rPr lang="en-US" sz="1100" b="1" i="0" dirty="0">
                <a:solidFill>
                  <a:srgbClr val="57068C"/>
                </a:solidFill>
                <a:latin typeface="Arial"/>
              </a:rPr>
              <a:t>             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4.6 M  →  1.5 M  </a:t>
            </a:r>
            <a:r>
              <a:rPr sz="1050" b="1" i="0" dirty="0">
                <a:solidFill>
                  <a:srgbClr val="E24A4A"/>
                </a:solidFill>
                <a:latin typeface="Arial"/>
              </a:rPr>
              <a:t>(−67%)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050" i="1" dirty="0">
                <a:solidFill>
                  <a:srgbClr val="1E1E28"/>
                </a:solidFill>
              </a:rPr>
              <a:t>2026 total events fell 29% from 2025 peak — driven by GitHub's removal of inauthentic accounts.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050" i="1" dirty="0">
                <a:solidFill>
                  <a:srgbClr val="1E1E28"/>
                </a:solidFill>
              </a:rPr>
              <a:t>Popularity signals were hit hardest;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050" i="1" dirty="0">
                <a:solidFill>
                  <a:srgbClr val="1E1E28"/>
                </a:solidFill>
              </a:rPr>
              <a:t>push (engineering activity) fell least.</a:t>
            </a:r>
            <a:endParaRPr sz="1050" b="1" i="1" dirty="0">
              <a:solidFill>
                <a:srgbClr val="57068C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PAPER REFERENCE  ·  EXTERNAL EVIDENCE FOR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Why our 2026 WatchEvent / ForkEvent collapse is consistent with the literature</a:t>
            </a:r>
          </a:p>
        </p:txBody>
      </p:sp>
      <p:pic>
        <p:nvPicPr>
          <p:cNvPr id="4" name="Picture 3" descr="arxi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8321040" cy="960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11480" y="2423160"/>
            <a:ext cx="2663952" cy="11887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2423160"/>
            <a:ext cx="2663952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2532888"/>
            <a:ext cx="2663952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57068C"/>
                </a:solidFill>
                <a:latin typeface="Arial"/>
              </a:rPr>
              <a:t>~6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" y="2971800"/>
            <a:ext cx="244449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850" b="1" i="0">
                <a:solidFill>
                  <a:srgbClr val="555566"/>
                </a:solidFill>
                <a:latin typeface="Arial"/>
              </a:rPr>
              <a:t>FAKE STARS IDENTIFIED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3209544"/>
            <a:ext cx="2444496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Inauthentic stars detected by their classifier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24" y="2423160"/>
            <a:ext cx="2663952" cy="11887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40024" y="2423160"/>
            <a:ext cx="2663952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40024" y="2532888"/>
            <a:ext cx="2663952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8900E1"/>
                </a:solidFill>
                <a:latin typeface="Arial"/>
              </a:rPr>
              <a:t>90%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9752" y="2971800"/>
            <a:ext cx="244449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850" b="1" i="0">
                <a:solidFill>
                  <a:srgbClr val="555566"/>
                </a:solidFill>
                <a:latin typeface="Arial"/>
              </a:rPr>
              <a:t>FLAGGED REPOS  ·  observed deleted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9752" y="3209544"/>
            <a:ext cx="2444496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Authors re-checked and observed deletion at 16× the normal repo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68568" y="2423160"/>
            <a:ext cx="2663952" cy="118872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68568" y="2423160"/>
            <a:ext cx="2663952" cy="64008"/>
          </a:xfrm>
          <a:prstGeom prst="rect">
            <a:avLst/>
          </a:prstGeom>
          <a:solidFill>
            <a:srgbClr val="E8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68568" y="2532888"/>
            <a:ext cx="2663952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ctr">
              <a:buNone/>
            </a:pPr>
            <a:r>
              <a:rPr sz="2600" b="1" i="0">
                <a:solidFill>
                  <a:srgbClr val="E88B00"/>
                </a:solidFill>
                <a:latin typeface="Arial"/>
              </a:rPr>
              <a:t>57%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8296" y="2971800"/>
            <a:ext cx="2444496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850" b="1" i="0">
                <a:solidFill>
                  <a:srgbClr val="555566"/>
                </a:solidFill>
                <a:latin typeface="Arial"/>
              </a:rPr>
              <a:t>FLAGGED ACCOUNTS  ·  observed deleted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8296" y="3209544"/>
            <a:ext cx="2444496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ctr">
              <a:buNone/>
            </a:pPr>
            <a:r>
              <a:rPr sz="900" b="0" i="0">
                <a:solidFill>
                  <a:srgbClr val="1E1E28"/>
                </a:solidFill>
                <a:latin typeface="Arial"/>
              </a:rPr>
              <a:t>Same re-check on the user accounts that posted flagged stars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703320"/>
            <a:ext cx="8321040" cy="77724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3794760"/>
            <a:ext cx="79095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>
                <a:solidFill>
                  <a:srgbClr val="8900E1"/>
                </a:solidFill>
                <a:latin typeface="Arial"/>
              </a:rPr>
              <a:t>WHY WE CITE  ·  HONESTY ABOUT THE 2026 ANOMALY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32504"/>
            <a:ext cx="790956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Our 2026 </a:t>
            </a:r>
            <a:r>
              <a:rPr sz="1000" b="1" i="0">
                <a:solidFill>
                  <a:srgbClr val="57068C"/>
                </a:solidFill>
                <a:latin typeface="Arial"/>
              </a:rPr>
              <a:t>WatchEvent −63% / ForkEvent −67% </a:t>
            </a:r>
            <a:r>
              <a:rPr sz="1000" b="0" i="0">
                <a:solidFill>
                  <a:srgbClr val="1E1E28"/>
                </a:solidFill>
                <a:latin typeface="Arial"/>
              </a:rPr>
              <a:t>aligns with their observations. The paper </a:t>
            </a:r>
            <a:r>
              <a:rPr sz="1000" b="0" i="1">
                <a:solidFill>
                  <a:srgbClr val="8900E1"/>
                </a:solidFill>
                <a:latin typeface="Arial"/>
              </a:rPr>
              <a:t>observes </a:t>
            </a:r>
            <a:r>
              <a:rPr sz="1000" b="0" i="0">
                <a:solidFill>
                  <a:srgbClr val="1E1E28"/>
                </a:solidFill>
                <a:latin typeface="Arial"/>
              </a:rPr>
              <a:t>a 16× anomalous deletion rate and </a:t>
            </a:r>
            <a:r>
              <a:rPr sz="1000" b="0" i="1">
                <a:solidFill>
                  <a:srgbClr val="8900E1"/>
                </a:solidFill>
                <a:latin typeface="Arial"/>
              </a:rPr>
              <a:t>suggests </a:t>
            </a:r>
            <a:r>
              <a:rPr sz="1000" b="0" i="0">
                <a:solidFill>
                  <a:srgbClr val="1E1E28"/>
                </a:solidFill>
                <a:latin typeface="Arial"/>
              </a:rPr>
              <a:t>active platform enforcement — not an official GitHub announcement.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4572000"/>
            <a:ext cx="5897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r">
              <a:buNone/>
            </a:pPr>
            <a:r>
              <a:rPr sz="950" b="0" i="1">
                <a:solidFill>
                  <a:srgbClr val="57068C"/>
                </a:solidFill>
                <a:latin typeface="Arial"/>
              </a:rPr>
              <a:t>External validation supports our era-shift caveat — we report observations, not official cleanup.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200" b="1" i="0">
                <a:solidFill>
                  <a:srgbClr val="57068C"/>
                </a:solidFill>
                <a:latin typeface="Arial"/>
              </a:rPr>
              <a:t>RESULT · THE 5-YEAR ECOSYSTEM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Multi-line chart  ·  developers (M) and total events (M) by Q1, 2022–2026</a:t>
            </a:r>
          </a:p>
        </p:txBody>
      </p:sp>
      <p:pic>
        <p:nvPicPr>
          <p:cNvPr id="4" name="Picture 3" descr="03_era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1" y="1417320"/>
            <a:ext cx="4562454" cy="3017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134707" y="1448297"/>
            <a:ext cx="3597812" cy="301752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280659" y="1707228"/>
            <a:ext cx="2468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8900E1"/>
                </a:solidFill>
              </a:rPr>
              <a:t>FINDING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80659" y="1934983"/>
            <a:ext cx="3305907" cy="181536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b="1" i="0" dirty="0">
                <a:solidFill>
                  <a:srgbClr val="57068C"/>
                </a:solidFill>
                <a:latin typeface="Arial"/>
              </a:rPr>
              <a:t>Developers  </a:t>
            </a:r>
            <a:r>
              <a:rPr lang="en-US" sz="1100" b="0" i="0" dirty="0">
                <a:solidFill>
                  <a:srgbClr val="1E1E28"/>
                </a:solidFill>
                <a:latin typeface="Arial"/>
              </a:rPr>
              <a:t>7.0 M  →  10.6 M  </a:t>
            </a:r>
            <a:r>
              <a:rPr lang="en-US" sz="1100" b="1" i="0" dirty="0">
                <a:solidFill>
                  <a:srgbClr val="129E9E"/>
                </a:solidFill>
                <a:latin typeface="Arial"/>
              </a:rPr>
              <a:t>(+51%)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1" i="0" dirty="0">
                <a:solidFill>
                  <a:srgbClr val="57068C"/>
                </a:solidFill>
                <a:latin typeface="Arial"/>
              </a:rPr>
              <a:t>Total events  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207 M  →  266 M  </a:t>
            </a:r>
            <a:r>
              <a:rPr sz="1100" b="1" i="0" dirty="0">
                <a:solidFill>
                  <a:srgbClr val="8900E1"/>
                </a:solidFill>
                <a:latin typeface="Arial"/>
              </a:rPr>
              <a:t>(peaked </a:t>
            </a:r>
            <a:r>
              <a:rPr lang="en-US" altLang="zh-TW" sz="1100" b="1" i="0" dirty="0">
                <a:solidFill>
                  <a:srgbClr val="8900E1"/>
                </a:solidFill>
                <a:latin typeface="Arial"/>
              </a:rPr>
              <a:t>376</a:t>
            </a:r>
            <a:r>
              <a:rPr lang="zh-TW" altLang="en-US" sz="1100" b="1" i="0" dirty="0">
                <a:solidFill>
                  <a:srgbClr val="8900E1"/>
                </a:solidFill>
                <a:latin typeface="Arial"/>
              </a:rPr>
              <a:t> </a:t>
            </a:r>
            <a:r>
              <a:rPr lang="en-US" sz="1100" b="1" i="0" dirty="0">
                <a:solidFill>
                  <a:srgbClr val="8900E1"/>
                </a:solidFill>
                <a:latin typeface="Arial"/>
              </a:rPr>
              <a:t>M</a:t>
            </a:r>
            <a:r>
              <a:rPr sz="1100" b="1" i="0" dirty="0">
                <a:solidFill>
                  <a:srgbClr val="8900E1"/>
                </a:solidFill>
                <a:latin typeface="Arial"/>
              </a:rPr>
              <a:t>)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100" b="1" i="0" dirty="0">
                <a:solidFill>
                  <a:srgbClr val="57068C"/>
                </a:solidFill>
                <a:latin typeface="Arial"/>
              </a:rPr>
              <a:t>Avg contributors / repo  </a:t>
            </a:r>
            <a:r>
              <a:rPr sz="1100" b="0" i="0" dirty="0">
                <a:solidFill>
                  <a:srgbClr val="1E1E28"/>
                </a:solidFill>
                <a:latin typeface="Arial"/>
              </a:rPr>
              <a:t>4.88  →  2.84  </a:t>
            </a:r>
            <a:r>
              <a:rPr sz="1100" b="1" i="0" dirty="0">
                <a:solidFill>
                  <a:srgbClr val="E24A4A"/>
                </a:solidFill>
                <a:latin typeface="Arial"/>
              </a:rPr>
              <a:t>(-42%)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050" b="0" i="0" dirty="0">
                <a:solidFill>
                  <a:srgbClr val="1E1E28"/>
                </a:solidFill>
                <a:latin typeface="Arial"/>
              </a:rPr>
              <a:t>More developers, more repos — but each repo gets less work and fewer contributors. Development is getting “lighter.”</a:t>
            </a:r>
            <a:endParaRPr lang="zh-TW" altLang="en-US" sz="1050" b="0" i="0" dirty="0">
              <a:solidFill>
                <a:srgbClr val="1E1E28"/>
              </a:solidFill>
              <a:latin typeface="Arial"/>
            </a:endParaRPr>
          </a:p>
          <a:p>
            <a:pPr marL="0" indent="0">
              <a:buNone/>
            </a:pPr>
            <a:r>
              <a:rPr lang="en-US" sz="900" b="0" i="1" dirty="0">
                <a:solidFill>
                  <a:srgbClr val="555566"/>
                </a:solidFill>
                <a:latin typeface="Arial"/>
              </a:rPr>
              <a:t>Caveat  ·  2026 </a:t>
            </a:r>
            <a:r>
              <a:rPr lang="en-US" sz="900" b="0" i="1" dirty="0" err="1">
                <a:solidFill>
                  <a:srgbClr val="555566"/>
                </a:solidFill>
                <a:latin typeface="Arial"/>
              </a:rPr>
              <a:t>WatchEvent</a:t>
            </a:r>
            <a:r>
              <a:rPr lang="en-US" sz="900" b="0" i="1" dirty="0">
                <a:solidFill>
                  <a:srgbClr val="555566"/>
                </a:solidFill>
                <a:latin typeface="Arial"/>
              </a:rPr>
              <a:t> −63% / </a:t>
            </a:r>
            <a:r>
              <a:rPr lang="en-US" sz="900" b="0" i="1" dirty="0" err="1">
                <a:solidFill>
                  <a:srgbClr val="555566"/>
                </a:solidFill>
                <a:latin typeface="Arial"/>
              </a:rPr>
              <a:t>ForkEvent</a:t>
            </a:r>
            <a:r>
              <a:rPr lang="en-US" sz="900" b="0" i="1" dirty="0">
                <a:solidFill>
                  <a:srgbClr val="555566"/>
                </a:solidFill>
                <a:latin typeface="Arial"/>
              </a:rPr>
              <a:t> −67% align with Hao he. (arXiv:2412.13459): 90% of flagged repos observed deleted (16× normal rate), suggesting platform enforcement.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200" b="1" i="0">
                <a:solidFill>
                  <a:srgbClr val="57068C"/>
                </a:solidFill>
                <a:latin typeface="Arial"/>
              </a:rPr>
              <a:t>RESULT · BUS-FACTOR BY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Horizontal bars  ·  top-1 push ratio · color = single-point risk</a:t>
            </a:r>
          </a:p>
        </p:txBody>
      </p:sp>
      <p:pic>
        <p:nvPicPr>
          <p:cNvPr id="4" name="Picture 3" descr="02_contributor_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4532754" cy="3017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186995" y="1417320"/>
            <a:ext cx="3545525" cy="301752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10676" y="1554480"/>
            <a:ext cx="2468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 dirty="0">
                <a:solidFill>
                  <a:srgbClr val="8900E1"/>
                </a:solidFill>
                <a:latin typeface="Arial"/>
              </a:rPr>
              <a:t>FINDING </a:t>
            </a:r>
            <a:r>
              <a:rPr lang="en-US" sz="1000" b="1" i="0" dirty="0">
                <a:solidFill>
                  <a:srgbClr val="8900E1"/>
                </a:solidFill>
                <a:latin typeface="Arial"/>
              </a:rPr>
              <a:t>4</a:t>
            </a:r>
            <a:endParaRPr sz="1000" b="1" i="0" dirty="0">
              <a:solidFill>
                <a:srgbClr val="8900E1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510676" y="1828800"/>
            <a:ext cx="3038964" cy="226933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100" b="0" i="1" dirty="0">
                <a:solidFill>
                  <a:srgbClr val="555566"/>
                </a:solidFill>
                <a:latin typeface="Arial"/>
              </a:rPr>
              <a:t>Top-1 push ratio across selected AI repos: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1" i="0" dirty="0">
                <a:solidFill>
                  <a:srgbClr val="E24A4A"/>
                </a:solidFill>
                <a:latin typeface="Arial"/>
              </a:rPr>
              <a:t>Red  · 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&gt; 0.95   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open-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webui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 · 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tensorflow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 · awesome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1" i="0" dirty="0">
                <a:solidFill>
                  <a:srgbClr val="E88B00"/>
                </a:solidFill>
                <a:latin typeface="Arial"/>
              </a:rPr>
              <a:t>Orange  · 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0.4–0.95   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claude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-code · n8n · 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langchain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 · deepseek-r1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100" b="1" i="0" dirty="0">
                <a:solidFill>
                  <a:srgbClr val="129E9E"/>
                </a:solidFill>
                <a:latin typeface="Arial"/>
              </a:rPr>
              <a:t>Green  ·  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&lt; 0.4   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ollama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 · cline · 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vllm</a:t>
            </a:r>
            <a:r>
              <a:rPr sz="1000" b="1" i="0" dirty="0">
                <a:solidFill>
                  <a:srgbClr val="1E1E28"/>
                </a:solidFill>
                <a:latin typeface="Arial"/>
              </a:rPr>
              <a:t> · transformers · </a:t>
            </a:r>
            <a:r>
              <a:rPr sz="1000" b="1" i="0" dirty="0" err="1">
                <a:solidFill>
                  <a:srgbClr val="1E1E28"/>
                </a:solidFill>
                <a:latin typeface="Arial"/>
              </a:rPr>
              <a:t>pytorch</a:t>
            </a:r>
            <a:endParaRPr sz="1000" b="1" i="0" dirty="0">
              <a:solidFill>
                <a:srgbClr val="1E1E28"/>
              </a:solidFill>
              <a:latin typeface="Arial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sz="1050" b="1" i="0" dirty="0">
                <a:solidFill>
                  <a:srgbClr val="57068C"/>
                </a:solidFill>
                <a:latin typeface="Arial"/>
              </a:rPr>
              <a:t>Read together with PR contributors  —  </a:t>
            </a:r>
            <a:r>
              <a:rPr sz="1050" b="0" i="0" dirty="0" err="1">
                <a:solidFill>
                  <a:srgbClr val="1E1E28"/>
                </a:solidFill>
                <a:latin typeface="Arial"/>
              </a:rPr>
              <a:t>tensorflow’s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 0.99 is CI bot automation; </a:t>
            </a:r>
            <a:r>
              <a:rPr sz="1050" b="0" i="0" dirty="0" err="1">
                <a:solidFill>
                  <a:srgbClr val="1E1E28"/>
                </a:solidFill>
                <a:latin typeface="Arial"/>
              </a:rPr>
              <a:t>metagpt’s</a:t>
            </a:r>
            <a:r>
              <a:rPr sz="1050" b="0" i="0" dirty="0">
                <a:solidFill>
                  <a:srgbClr val="1E1E28"/>
                </a:solidFill>
                <a:latin typeface="Arial"/>
              </a:rPr>
              <a:t> 0.93 with only 22 PR contributors is real risk.</a:t>
            </a:r>
          </a:p>
          <a:p>
            <a:pPr marL="0" indent="0">
              <a:buNone/>
            </a:pPr>
            <a:r>
              <a:rPr sz="1050" b="1" i="1" dirty="0">
                <a:solidFill>
                  <a:srgbClr val="57068C"/>
                </a:solidFill>
                <a:latin typeface="Arial"/>
              </a:rPr>
              <a:t>“Concentration alone doesn't prove fragility.”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BUS-FACTOR  ·  EVIDENCE FROM GITHUB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The data behind the bars — top-1 contributor dominates these repos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4069080" cy="29260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4069080" cy="384048"/>
          </a:xfrm>
          <a:prstGeom prst="rect">
            <a:avLst/>
          </a:prstGeom>
          <a:solidFill>
            <a:srgbClr val="E2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388620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open-webui  </a:t>
            </a:r>
            <a:r>
              <a:rPr sz="1100" b="0" i="0">
                <a:solidFill>
                  <a:srgbClr val="E6CFFF"/>
                </a:solidFill>
                <a:latin typeface="Arial"/>
              </a:rPr>
              <a:t>·  top-1 push ratio  0.957</a:t>
            </a:r>
          </a:p>
        </p:txBody>
      </p:sp>
      <p:pic>
        <p:nvPicPr>
          <p:cNvPr id="7" name="Picture 6" descr="open-web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74520"/>
            <a:ext cx="3886200" cy="2194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4069080"/>
            <a:ext cx="3703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E24A4A"/>
                </a:solidFill>
                <a:latin typeface="Arial"/>
              </a:rPr>
              <a:t>#1 tjbck  </a:t>
            </a:r>
            <a:r>
              <a:rPr sz="1000" b="0" i="0">
                <a:solidFill>
                  <a:srgbClr val="1E1E28"/>
                </a:solidFill>
                <a:latin typeface="Arial"/>
              </a:rPr>
              <a:t>11,683 commits  ·  vs  </a:t>
            </a:r>
            <a:r>
              <a:rPr sz="1100" b="1" i="0">
                <a:solidFill>
                  <a:srgbClr val="57068C"/>
                </a:solidFill>
                <a:latin typeface="Arial"/>
              </a:rPr>
              <a:t>#2 Classic298  </a:t>
            </a:r>
            <a:r>
              <a:rPr sz="1000" b="0" i="0">
                <a:solidFill>
                  <a:srgbClr val="1E1E28"/>
                </a:solidFill>
                <a:latin typeface="Arial"/>
              </a:rPr>
              <a:t>479 commits  =  </a:t>
            </a:r>
            <a:r>
              <a:rPr sz="1100" b="1" i="0">
                <a:solidFill>
                  <a:srgbClr val="E24A4A"/>
                </a:solidFill>
                <a:latin typeface="Arial"/>
              </a:rPr>
              <a:t>24× gap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417320"/>
            <a:ext cx="4069080" cy="292608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663440" y="1417320"/>
            <a:ext cx="4069080" cy="384048"/>
          </a:xfrm>
          <a:prstGeom prst="rect">
            <a:avLst/>
          </a:prstGeom>
          <a:solidFill>
            <a:srgbClr val="E8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0" y="1417320"/>
            <a:ext cx="3886200" cy="38404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tensorflow  </a:t>
            </a:r>
            <a:r>
              <a:rPr sz="1100" b="0" i="0">
                <a:solidFill>
                  <a:srgbClr val="FFFFFF"/>
                </a:solidFill>
                <a:latin typeface="Arial"/>
              </a:rPr>
              <a:t>·  top-1 push ratio  0.990</a:t>
            </a:r>
          </a:p>
        </p:txBody>
      </p:sp>
      <p:pic>
        <p:nvPicPr>
          <p:cNvPr id="12" name="Picture 11" descr="tensor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874520"/>
            <a:ext cx="3886200" cy="2194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6320" y="4069080"/>
            <a:ext cx="3703320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>
              <a:buNone/>
            </a:pPr>
            <a:r>
              <a:rPr sz="1100" b="1" i="0">
                <a:solidFill>
                  <a:srgbClr val="E88B00"/>
                </a:solidFill>
                <a:latin typeface="Arial"/>
              </a:rPr>
              <a:t>#1 tensorflower-gardener  </a:t>
            </a:r>
            <a:r>
              <a:rPr sz="1000" b="0" i="0">
                <a:solidFill>
                  <a:srgbClr val="1E1E28"/>
                </a:solidFill>
                <a:latin typeface="Arial"/>
              </a:rPr>
              <a:t>57,761 </a:t>
            </a:r>
            <a:r>
              <a:rPr sz="1000" b="0" i="1">
                <a:solidFill>
                  <a:srgbClr val="555566"/>
                </a:solidFill>
                <a:latin typeface="Arial"/>
              </a:rPr>
              <a:t>(CI bot)</a:t>
            </a:r>
            <a:r>
              <a:rPr sz="1100" b="1" i="0">
                <a:solidFill>
                  <a:srgbClr val="E88B00"/>
                </a:solidFill>
                <a:latin typeface="Arial"/>
              </a:rPr>
              <a:t>  ·  20× #2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200" b="1" i="0">
                <a:solidFill>
                  <a:srgbClr val="57068C"/>
                </a:solidFill>
                <a:latin typeface="Arial"/>
              </a:rPr>
              <a:t>RESULT · THE WEEKEND GAP DISAPPEARED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Bar chart  ·  weekend event share vs 28.9% natural baseline</a:t>
            </a:r>
          </a:p>
        </p:txBody>
      </p:sp>
      <p:pic>
        <p:nvPicPr>
          <p:cNvPr id="4" name="Picture 3" descr="04_weekend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5349240" cy="3017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897880" y="1417320"/>
            <a:ext cx="2834640" cy="301752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80760" y="1554480"/>
            <a:ext cx="2468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 dirty="0">
                <a:solidFill>
                  <a:srgbClr val="8900E1"/>
                </a:solidFill>
                <a:latin typeface="Arial"/>
              </a:rPr>
              <a:t>FINDING </a:t>
            </a:r>
            <a:r>
              <a:rPr lang="en-US" sz="1000" b="1" i="0" dirty="0">
                <a:solidFill>
                  <a:srgbClr val="8900E1"/>
                </a:solidFill>
                <a:latin typeface="Arial"/>
              </a:rPr>
              <a:t>5</a:t>
            </a:r>
            <a:endParaRPr sz="1000" b="1" i="0" dirty="0">
              <a:solidFill>
                <a:srgbClr val="8900E1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80760" y="1828800"/>
            <a:ext cx="2468880" cy="2514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Weekend share of all events, by era: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2022 </a:t>
            </a:r>
            <a:r>
              <a:rPr sz="1100" b="1" i="0">
                <a:solidFill>
                  <a:srgbClr val="1E1E28"/>
                </a:solidFill>
                <a:latin typeface="Arial"/>
              </a:rPr>
              <a:t>25.8%   </a:t>
            </a:r>
            <a:r>
              <a:rPr sz="1000" b="0" i="0">
                <a:solidFill>
                  <a:srgbClr val="555566"/>
                </a:solidFill>
                <a:latin typeface="Arial"/>
              </a:rPr>
              <a:t>(−3.1 pp vs natural)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2024 </a:t>
            </a:r>
            <a:r>
              <a:rPr sz="1100" b="1" i="0">
                <a:solidFill>
                  <a:srgbClr val="1E1E28"/>
                </a:solidFill>
                <a:latin typeface="Arial"/>
              </a:rPr>
              <a:t>26.3%   </a:t>
            </a:r>
            <a:r>
              <a:rPr sz="1000" b="0" i="0">
                <a:solidFill>
                  <a:srgbClr val="555566"/>
                </a:solidFill>
                <a:latin typeface="Arial"/>
              </a:rPr>
              <a:t>(−2.6 pp)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100" b="1" i="0">
                <a:solidFill>
                  <a:srgbClr val="57068C"/>
                </a:solidFill>
                <a:latin typeface="Arial"/>
              </a:rPr>
              <a:t>2026 </a:t>
            </a:r>
            <a:r>
              <a:rPr sz="1300" b="1" i="0">
                <a:solidFill>
                  <a:srgbClr val="8900E1"/>
                </a:solidFill>
                <a:latin typeface="Arial"/>
              </a:rPr>
              <a:t>29.7%   </a:t>
            </a:r>
            <a:r>
              <a:rPr sz="1000" b="1" i="0">
                <a:solidFill>
                  <a:srgbClr val="129E9E"/>
                </a:solidFill>
                <a:latin typeface="Arial"/>
              </a:rPr>
              <a:t>(+0.8 pp — gap gone)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Push-specific weekend share rose 24.8% → 29.4% — the strongest signal, since pushes mean writing code.</a:t>
            </a:r>
          </a:p>
          <a:p>
            <a:pPr marL="0" indent="0">
              <a:buNone/>
            </a:pPr>
            <a:r>
              <a:rPr sz="1100" b="1" i="1">
                <a:solidFill>
                  <a:srgbClr val="57068C"/>
                </a:solidFill>
                <a:latin typeface="Arial"/>
              </a:rPr>
              <a:t>“In 2026, GitHub doesn't know what day of the week it is anymore.”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200" b="1" i="0">
                <a:solidFill>
                  <a:srgbClr val="57068C"/>
                </a:solidFill>
                <a:latin typeface="Arial"/>
              </a:rPr>
              <a:t>RESULT · TWO PHASES OF THE AGENT 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Dual-axis  ·  push actors (M, bars) + &gt;50 pushes/day accounts (line)</a:t>
            </a:r>
          </a:p>
        </p:txBody>
      </p:sp>
      <p:pic>
        <p:nvPicPr>
          <p:cNvPr id="4" name="Picture 3" descr="05_agent_ph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5349240" cy="3017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897880" y="1417320"/>
            <a:ext cx="2834640" cy="301752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80760" y="1554480"/>
            <a:ext cx="2468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 dirty="0">
                <a:solidFill>
                  <a:srgbClr val="8900E1"/>
                </a:solidFill>
                <a:latin typeface="Arial"/>
              </a:rPr>
              <a:t>FINDING </a:t>
            </a:r>
            <a:r>
              <a:rPr lang="en-US" sz="1000" b="1" i="0" dirty="0">
                <a:solidFill>
                  <a:srgbClr val="8900E1"/>
                </a:solidFill>
                <a:latin typeface="Arial"/>
              </a:rPr>
              <a:t>6</a:t>
            </a:r>
            <a:endParaRPr sz="1000" b="1" i="0" dirty="0">
              <a:solidFill>
                <a:srgbClr val="8900E1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80760" y="1828800"/>
            <a:ext cx="2468880" cy="2514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Push actors vs high-frequency accounts: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E24A4A"/>
                </a:solidFill>
                <a:latin typeface="Arial"/>
              </a:rPr>
              <a:t>Phase 1  ·  2025 explosion   </a:t>
            </a:r>
          </a:p>
          <a:p>
            <a:pPr marL="0" indent="0">
              <a:spcAft>
                <a:spcPts val="8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&gt;50 pushes/day accounts </a:t>
            </a:r>
            <a:r>
              <a:rPr sz="1050" b="1" i="0">
                <a:solidFill>
                  <a:srgbClr val="57068C"/>
                </a:solidFill>
                <a:latin typeface="Arial"/>
              </a:rPr>
              <a:t>6,197  →  12,743  </a:t>
            </a:r>
            <a:r>
              <a:rPr sz="1050" b="1" i="0">
                <a:solidFill>
                  <a:srgbClr val="E24A4A"/>
                </a:solidFill>
                <a:latin typeface="Arial"/>
              </a:rPr>
              <a:t>(+106%)</a:t>
            </a:r>
          </a:p>
          <a:p>
            <a:pPr marL="0" indent="0">
              <a:spcAft>
                <a:spcPts val="200"/>
              </a:spcAft>
              <a:buNone/>
            </a:pPr>
            <a:r>
              <a:rPr sz="1100" b="1" i="0">
                <a:solidFill>
                  <a:srgbClr val="129E9E"/>
                </a:solidFill>
                <a:latin typeface="Arial"/>
              </a:rPr>
              <a:t>Phase 2  ·  2026 normalization   </a:t>
            </a:r>
          </a:p>
          <a:p>
            <a:pPr marL="0" indent="0">
              <a:spcAft>
                <a:spcPts val="2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Push actors </a:t>
            </a:r>
            <a:r>
              <a:rPr sz="1050" b="1" i="0">
                <a:solidFill>
                  <a:srgbClr val="57068C"/>
                </a:solidFill>
                <a:latin typeface="Arial"/>
              </a:rPr>
              <a:t>6.95 M  →  8.71 M  </a:t>
            </a:r>
            <a:r>
              <a:rPr sz="1050" b="1" i="0">
                <a:solidFill>
                  <a:srgbClr val="129E9E"/>
                </a:solidFill>
                <a:latin typeface="Arial"/>
              </a:rPr>
              <a:t>(+25%)</a:t>
            </a:r>
          </a:p>
          <a:p>
            <a:pPr marL="0" indent="0">
              <a:spcAft>
                <a:spcPts val="8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but &gt;50 pushes/day  </a:t>
            </a:r>
            <a:r>
              <a:rPr sz="1050" b="1" i="0">
                <a:solidFill>
                  <a:srgbClr val="57068C"/>
                </a:solidFill>
                <a:latin typeface="Arial"/>
              </a:rPr>
              <a:t>12,743  →  6,575  </a:t>
            </a:r>
            <a:r>
              <a:rPr sz="1050" b="1" i="0">
                <a:solidFill>
                  <a:srgbClr val="129E9E"/>
                </a:solidFill>
                <a:latin typeface="Arial"/>
              </a:rPr>
              <a:t>(−48%)</a:t>
            </a:r>
          </a:p>
          <a:p>
            <a:pPr marL="0" indent="0">
              <a:buNone/>
            </a:pPr>
            <a:r>
              <a:rPr sz="1050" b="1" i="1">
                <a:solidFill>
                  <a:srgbClr val="57068C"/>
                </a:solidFill>
                <a:latin typeface="Arial"/>
              </a:rPr>
              <a:t>Bots peaked, then GitHub cleaned them. Real broadening of participation took over.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LESSONS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What we'd carry forward beyond this project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8321040" cy="10515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118872" cy="105156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777240" cy="10515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l">
              <a:buNone/>
            </a:pPr>
            <a:r>
              <a:rPr sz="2800" b="1" i="0">
                <a:solidFill>
                  <a:srgbClr val="57068C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508760"/>
            <a:ext cx="7132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DESIGN FOR THE CONSTRAINT, NOT AGAINST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783080"/>
            <a:ext cx="7132320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HDFS quota and cross-team permission boundaries forced design decisions that ended up improving the work — rolling pipeline, per-era processing, write-own-read-union.</a:t>
            </a:r>
          </a:p>
          <a:p>
            <a:pPr marL="0" indent="0">
              <a:buNone/>
            </a:pPr>
            <a:r>
              <a:rPr sz="1050" b="1" i="0">
                <a:solidFill>
                  <a:srgbClr val="57068C"/>
                </a:solidFill>
                <a:latin typeface="Arial"/>
              </a:rPr>
              <a:t>Carry forward  ·  </a:t>
            </a:r>
            <a:r>
              <a:rPr sz="1050" b="0" i="0">
                <a:solidFill>
                  <a:srgbClr val="1E1E28"/>
                </a:solidFill>
                <a:latin typeface="Arial"/>
              </a:rPr>
              <a:t>Treat infrastructure constraints as architectural input, not nuisances. The constraint-driven design was more crash-safe than a quota-free version would have been.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560320"/>
            <a:ext cx="8321040" cy="10515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2560320"/>
            <a:ext cx="118872" cy="1051560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777240" cy="10515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l">
              <a:buNone/>
            </a:pPr>
            <a:r>
              <a:rPr sz="2800" b="1" i="0">
                <a:solidFill>
                  <a:srgbClr val="8900E1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651760"/>
            <a:ext cx="7132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NEVER TRUST A LIVE API SCHEMA — ASSERT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926080"/>
            <a:ext cx="7132320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The 2026 GitHub schema break wasn't loudly announced. Job 08 silently produced merged_prs = 0 for an entire era before we caught it.</a:t>
            </a:r>
          </a:p>
          <a:p>
            <a:pPr marL="0" indent="0">
              <a:buNone/>
            </a:pPr>
            <a:r>
              <a:rPr sz="1050" b="1" i="0">
                <a:solidFill>
                  <a:srgbClr val="8900E1"/>
                </a:solidFill>
                <a:latin typeface="Arial"/>
              </a:rPr>
              <a:t>Carry forward  ·  </a:t>
            </a:r>
            <a:r>
              <a:rPr sz="1050" b="0" i="0">
                <a:solidFill>
                  <a:srgbClr val="1E1E28"/>
                </a:solidFill>
                <a:latin typeface="Arial"/>
              </a:rPr>
              <a:t>Assert column counts, NULL ratios, and key value ranges explicitly. Compare era-over-era distributions. NULL ≠ zero.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703320"/>
            <a:ext cx="8321040" cy="105156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1480" y="3703320"/>
            <a:ext cx="118872" cy="1051560"/>
          </a:xfrm>
          <a:prstGeom prst="rect">
            <a:avLst/>
          </a:prstGeom>
          <a:solidFill>
            <a:srgbClr val="E88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703320"/>
            <a:ext cx="777240" cy="10515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marL="0" indent="0" algn="l">
              <a:buNone/>
            </a:pPr>
            <a:r>
              <a:rPr sz="2800" b="1" i="0">
                <a:solidFill>
                  <a:srgbClr val="E88B00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794760"/>
            <a:ext cx="7132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VALIDATE THE UNEXPECTED WITH OUTSIDE 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069080"/>
            <a:ext cx="7132320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050" b="0" i="0">
                <a:solidFill>
                  <a:srgbClr val="1E1E28"/>
                </a:solidFill>
                <a:latin typeface="Arial"/>
              </a:rPr>
              <a:t>When the 2026 WatchEvent / ForkEvent collapse looked like a bug, cross-checking with He et al. (arXiv 2412.13459) confirmed it as real platform behavior — not a pipeline error.</a:t>
            </a:r>
          </a:p>
          <a:p>
            <a:pPr marL="0" indent="0">
              <a:buNone/>
            </a:pPr>
            <a:r>
              <a:rPr sz="1050" b="1" i="0">
                <a:solidFill>
                  <a:srgbClr val="E88B00"/>
                </a:solidFill>
                <a:latin typeface="Arial"/>
              </a:rPr>
              <a:t>Carry forward  ·  </a:t>
            </a:r>
            <a:r>
              <a:rPr sz="1050" b="0" i="0">
                <a:solidFill>
                  <a:srgbClr val="1E1E28"/>
                </a:solidFill>
                <a:latin typeface="Arial"/>
              </a:rPr>
              <a:t>Anomalies need external corroboration. Triangulating with literature or other data sources turns suspicious numbers into trustworthy ones.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sz="2400" b="1" i="0">
                <a:solidFill>
                  <a:srgbClr val="57068C"/>
                </a:solidFill>
                <a:latin typeface="Arial"/>
              </a:rPr>
              <a:t>SUMMARY  &amp;  ACKNOWLEDGEMENTS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60704"/>
            <a:ext cx="8321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100" b="0" i="1">
                <a:solidFill>
                  <a:srgbClr val="555566"/>
                </a:solidFill>
                <a:latin typeface="Arial"/>
              </a:rPr>
              <a:t>The coding-agent era brought three fundamental shifts to OSS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2663952" cy="26060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2663952" cy="64008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81912"/>
            <a:ext cx="229819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l">
              <a:buNone/>
            </a:pPr>
            <a:r>
              <a:rPr sz="3400" b="1" i="0">
                <a:solidFill>
                  <a:srgbClr val="57068C"/>
                </a:solidFill>
                <a:latin typeface="Arial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229819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200" b="1" i="0" dirty="0">
                <a:solidFill>
                  <a:srgbClr val="57068C"/>
                </a:solidFill>
                <a:latin typeface="Arial"/>
              </a:rPr>
              <a:t>DEVELOPMENT GOT LIGHTER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06040"/>
            <a:ext cx="2298192" cy="1325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+51% developers but −42% contributors per repo. Single-commit pushes rose 87% → 94%. Pushes became smaller and more frequent.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0024" y="1417320"/>
            <a:ext cx="2663952" cy="26060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40024" y="1417320"/>
            <a:ext cx="2663952" cy="64008"/>
          </a:xfrm>
          <a:prstGeom prst="rect">
            <a:avLst/>
          </a:prstGeom>
          <a:solidFill>
            <a:srgbClr val="890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22904" y="1581912"/>
            <a:ext cx="229819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l">
              <a:buNone/>
            </a:pPr>
            <a:r>
              <a:rPr sz="3400" b="1" i="0">
                <a:solidFill>
                  <a:srgbClr val="8900E1"/>
                </a:solidFill>
                <a:latin typeface="Arial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2904" y="2194560"/>
            <a:ext cx="229819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WEEKENDS DISAPPEARED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2904" y="2606040"/>
            <a:ext cx="2298192" cy="1325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 dirty="0">
                <a:solidFill>
                  <a:srgbClr val="1E1E28"/>
                </a:solidFill>
                <a:latin typeface="Arial"/>
              </a:rPr>
              <a:t>2026 weekend activity hit 29.7%, finally reaching the natural 28.9% baseline. Coding agents work 24/7.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68568" y="1417320"/>
            <a:ext cx="2663952" cy="2606040"/>
          </a:xfrm>
          <a:prstGeom prst="roundRect">
            <a:avLst/>
          </a:prstGeom>
          <a:solidFill>
            <a:srgbClr val="FA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68568" y="1417320"/>
            <a:ext cx="2663952" cy="64008"/>
          </a:xfrm>
          <a:prstGeom prst="rect">
            <a:avLst/>
          </a:prstGeom>
          <a:solidFill>
            <a:srgbClr val="12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51448" y="1581912"/>
            <a:ext cx="229819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 algn="l">
              <a:buNone/>
            </a:pPr>
            <a:r>
              <a:rPr sz="3400" b="1" i="0">
                <a:solidFill>
                  <a:srgbClr val="129E9E"/>
                </a:solidFill>
                <a:latin typeface="Arial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1448" y="2194560"/>
            <a:ext cx="2298192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200" b="1" i="0">
                <a:solidFill>
                  <a:srgbClr val="57068C"/>
                </a:solidFill>
                <a:latin typeface="Arial"/>
              </a:rPr>
              <a:t>TWO-PHASE AGENT ADOPTION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1448" y="2606040"/>
            <a:ext cx="2298192" cy="1325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0" i="0">
                <a:solidFill>
                  <a:srgbClr val="1E1E28"/>
                </a:solidFill>
                <a:latin typeface="Arial"/>
              </a:rPr>
              <a:t>2025 explosion (&gt;50 pushes/day accounts +106%) → 2026 normalization (broader push base, shorter individual streaks).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160520"/>
            <a:ext cx="8321040" cy="685800"/>
          </a:xfrm>
          <a:prstGeom prst="roundRect">
            <a:avLst/>
          </a:prstGeom>
          <a:solidFill>
            <a:srgbClr val="F1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233672"/>
            <a:ext cx="81838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1000" b="1" i="0" dirty="0">
                <a:solidFill>
                  <a:srgbClr val="8900E1"/>
                </a:solidFill>
                <a:latin typeface="Arial"/>
              </a:rPr>
              <a:t>IMPLICATION  ·  </a:t>
            </a:r>
            <a:r>
              <a:rPr sz="1000" b="0" i="0" dirty="0">
                <a:solidFill>
                  <a:srgbClr val="1E1E28"/>
                </a:solidFill>
                <a:latin typeface="Arial"/>
              </a:rPr>
              <a:t>Traditional metrics</a:t>
            </a:r>
            <a:r>
              <a:rPr lang="en-US" sz="1000" b="0" i="0" dirty="0">
                <a:solidFill>
                  <a:srgbClr val="1E1E28"/>
                </a:solidFill>
                <a:latin typeface="Arial"/>
              </a:rPr>
              <a:t> (</a:t>
            </a:r>
            <a:r>
              <a:rPr sz="1000" b="0" i="0" dirty="0">
                <a:solidFill>
                  <a:srgbClr val="1E1E28"/>
                </a:solidFill>
                <a:latin typeface="Arial"/>
              </a:rPr>
              <a:t>stars, fork counts</a:t>
            </a:r>
            <a:r>
              <a:rPr lang="en-US" sz="1000" b="0" i="0" dirty="0">
                <a:solidFill>
                  <a:srgbClr val="1E1E28"/>
                </a:solidFill>
                <a:latin typeface="Arial"/>
              </a:rPr>
              <a:t>)</a:t>
            </a:r>
            <a:r>
              <a:rPr sz="1000" b="0" i="0" dirty="0">
                <a:solidFill>
                  <a:srgbClr val="1E1E28"/>
                </a:solidFill>
                <a:latin typeface="Arial"/>
              </a:rPr>
              <a:t> are increasingly unreliable in the agent era. Multi-dimensional measurement is essential.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35424"/>
            <a:ext cx="79095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marL="0" indent="0">
              <a:buNone/>
            </a:pPr>
            <a:r>
              <a:rPr sz="950" b="1" i="0" dirty="0">
                <a:solidFill>
                  <a:srgbClr val="8900E1"/>
                </a:solidFill>
                <a:latin typeface="Arial"/>
              </a:rPr>
              <a:t>ACKS  ·  </a:t>
            </a:r>
            <a:r>
              <a:rPr sz="950" b="0" i="0" dirty="0">
                <a:solidFill>
                  <a:srgbClr val="555566"/>
                </a:solidFill>
                <a:latin typeface="Arial"/>
              </a:rPr>
              <a:t>NYU HPC — Google Cloud </a:t>
            </a:r>
            <a:r>
              <a:rPr sz="950" b="0" i="0" dirty="0" err="1">
                <a:solidFill>
                  <a:srgbClr val="555566"/>
                </a:solidFill>
                <a:latin typeface="Arial"/>
              </a:rPr>
              <a:t>Dataproc</a:t>
            </a:r>
            <a:r>
              <a:rPr sz="950" b="0" i="0" dirty="0">
                <a:solidFill>
                  <a:srgbClr val="555566"/>
                </a:solidFill>
                <a:latin typeface="Arial"/>
              </a:rPr>
              <a:t>  ·  GH Archive · Hugging Face Hub · </a:t>
            </a:r>
            <a:r>
              <a:rPr sz="950" b="0" i="0" dirty="0" err="1">
                <a:solidFill>
                  <a:srgbClr val="555566"/>
                </a:solidFill>
                <a:latin typeface="Arial"/>
              </a:rPr>
              <a:t>PyPI</a:t>
            </a:r>
            <a:r>
              <a:rPr sz="950" b="0" i="0" dirty="0">
                <a:solidFill>
                  <a:srgbClr val="555566"/>
                </a:solidFill>
                <a:latin typeface="Arial"/>
              </a:rPr>
              <a:t> / </a:t>
            </a:r>
            <a:r>
              <a:rPr sz="950" b="0" i="0" dirty="0" err="1">
                <a:solidFill>
                  <a:srgbClr val="555566"/>
                </a:solidFill>
                <a:latin typeface="Arial"/>
              </a:rPr>
              <a:t>BigQuer</a:t>
            </a:r>
            <a:r>
              <a:rPr lang="en-US" sz="950" b="0" i="0" dirty="0" err="1">
                <a:solidFill>
                  <a:srgbClr val="555566"/>
                </a:solidFill>
                <a:latin typeface="Arial"/>
              </a:rPr>
              <a:t>y</a:t>
            </a:r>
            <a:r>
              <a:rPr sz="950" b="0" i="0" dirty="0">
                <a:solidFill>
                  <a:srgbClr val="555566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YU Bold">
  <a:themeElements>
    <a:clrScheme name="Simple Light">
      <a:dk1>
        <a:srgbClr val="57068C"/>
      </a:dk1>
      <a:lt1>
        <a:srgbClr val="FFFFFF"/>
      </a:lt1>
      <a:dk2>
        <a:srgbClr val="333333"/>
      </a:dk2>
      <a:lt2>
        <a:srgbClr val="E2E1DD"/>
      </a:lt2>
      <a:accent1>
        <a:srgbClr val="9A6ABA"/>
      </a:accent1>
      <a:accent2>
        <a:srgbClr val="6D6D6D"/>
      </a:accent2>
      <a:accent3>
        <a:srgbClr val="8900E1"/>
      </a:accent3>
      <a:accent4>
        <a:srgbClr val="E97300"/>
      </a:accent4>
      <a:accent5>
        <a:srgbClr val="799A05"/>
      </a:accent5>
      <a:accent6>
        <a:srgbClr val="C50F3C"/>
      </a:accent6>
      <a:hlink>
        <a:srgbClr val="57068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2490</Words>
  <Application>Microsoft Macintosh PowerPoint</Application>
  <PresentationFormat>如螢幕大小 (16:9)</PresentationFormat>
  <Paragraphs>330</Paragraphs>
  <Slides>20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6" baseType="lpstr">
      <vt:lpstr>Arial</vt:lpstr>
      <vt:lpstr>Montserrat ExtraBold</vt:lpstr>
      <vt:lpstr>Consolas</vt:lpstr>
      <vt:lpstr>Montserrat</vt:lpstr>
      <vt:lpstr>Montserrat Black</vt:lpstr>
      <vt:lpstr>NYU Bold</vt:lpstr>
      <vt:lpstr>OSS PULSE How Coding Agents Reshaped Open-Source Development</vt:lpstr>
      <vt:lpstr>ABSTRACT  &amp;  PLATFORM</vt:lpstr>
      <vt:lpstr>MOTIVATION</vt:lpstr>
      <vt:lpstr>GOODNESS  ·  WHY OUR RESULTS CAN BE TRUSTED</vt:lpstr>
      <vt:lpstr>DATA SOURCES</vt:lpstr>
      <vt:lpstr>DATA SAMPLES  ·  GITHUB ARCHIVE · HF HUB · PYPI</vt:lpstr>
      <vt:lpstr>DESIGN DIAGRAM  ·  PIPELINE ARCHITECTURE</vt:lpstr>
      <vt:lpstr>CODE CHALLENGE  ·  Jhe Chen Li</vt:lpstr>
      <vt:lpstr>CODE CHALLENGE  ·  2026 SCHEMA CHANGE</vt:lpstr>
      <vt:lpstr>CODE CHALLENGE  ·  Bo Yu</vt:lpstr>
      <vt:lpstr>RESULT · STARS  ≠  HEALTH</vt:lpstr>
      <vt:lpstr>RESULT · EVENT COMPOSITION ACROSS 5 ERAS</vt:lpstr>
      <vt:lpstr>PAPER REFERENCE  ·  EXTERNAL EVIDENCE FOR 2026</vt:lpstr>
      <vt:lpstr>RESULT · THE 5-YEAR ECOSYSTEM SHIFT</vt:lpstr>
      <vt:lpstr>RESULT · BUS-FACTOR BY REPO</vt:lpstr>
      <vt:lpstr>BUS-FACTOR  ·  EVIDENCE FROM GITHUB INSIGHTS</vt:lpstr>
      <vt:lpstr>RESULT · THE WEEKEND GAP DISAPPEARED</vt:lpstr>
      <vt:lpstr>RESULT · TWO PHASES OF THE AGENT ERA</vt:lpstr>
      <vt:lpstr>LESSONS LEARNED</vt:lpstr>
      <vt:lpstr>SUMMARY  &amp;  ACKNOWLEDGEMENTS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42</cp:revision>
  <dcterms:modified xsi:type="dcterms:W3CDTF">2026-05-05T19:55:55Z</dcterms:modified>
</cp:coreProperties>
</file>