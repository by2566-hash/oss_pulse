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7" r:id="rId4"/>
  </p:sldMasterIdLst>
  <p:notesMasterIdLst>
    <p:notesMasterId r:id="rId5"/>
  </p:notesMasterIdLst>
  <p:sldIdLst>
    <p:sldId id="256" r:id="rId14"/>
    <p:sldId id="257" r:id="rId15"/>
    <p:sldId id="258" r:id="rId16"/>
    <p:sldId id="259" r:id="rId17"/>
    <p:sldId id="260" r:id="rId18"/>
    <p:sldId id="261" r:id="rId13"/>
    <p:sldId id="262" r:id="rId12"/>
    <p:sldId id="263" r:id="rId11"/>
    <p:sldId id="264" r:id="rId10"/>
    <p:sldId id="265" r:id="rId9"/>
    <p:sldId id="266" r:id="rId8"/>
    <p:sldId id="267" r:id="rId7"/>
    <p:sldId id="268" r:id="rId6"/>
    <p:sldId id="269" r:id="rId27"/>
    <p:sldId id="270" r:id="rId28"/>
    <p:sldId id="271" r:id="rId29"/>
    <p:sldId id="272" r:id="rId30"/>
    <p:sldId id="273" r:id="rId31"/>
    <p:sldId id="274" r:id="rId32"/>
    <p:sldId id="275" r:id="rId33"/>
    <p:sldId id="276" r:id="rId34"/>
    <p:sldId id="277" r:id="rId35"/>
    <p:sldId id="278" r:id="rId36"/>
    <p:sldId id="279" r:id="rId37"/>
    <p:sldId id="280" r:id="rId38"/>
  </p:sldIdLst>
  <p:sldSz cy="5143500" cx="9144000"/>
  <p:notesSz cx="6858000" cy="9144000"/>
  <p:embeddedFontLst>
    <p:embeddedFont>
      <p:font typeface="Montserrat"/>
      <p:regular r:id="rId19"/>
      <p:bold r:id="rId20"/>
      <p:italic r:id="rId21"/>
      <p:boldItalic r:id="rId22"/>
    </p:embeddedFont>
    <p:embeddedFont>
      <p:font typeface="Montserrat Black"/>
      <p:bold r:id="rId23"/>
      <p:boldItalic r:id="rId24"/>
    </p:embeddedFont>
    <p:embeddedFont>
      <p:font typeface="Montserrat ExtraBold"/>
      <p:bold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3.xml"/><Relationship Id="rId7" Type="http://schemas.openxmlformats.org/officeDocument/2006/relationships/slide" Target="slides/slide12.xml"/><Relationship Id="rId8" Type="http://schemas.openxmlformats.org/officeDocument/2006/relationships/slide" Target="slides/slide11.xml"/><Relationship Id="rId9" Type="http://schemas.openxmlformats.org/officeDocument/2006/relationships/slide" Target="slides/slide10.xml"/><Relationship Id="rId10" Type="http://schemas.openxmlformats.org/officeDocument/2006/relationships/slide" Target="slides/slide9.xml"/><Relationship Id="rId11" Type="http://schemas.openxmlformats.org/officeDocument/2006/relationships/slide" Target="slides/slide8.xml"/><Relationship Id="rId12" Type="http://schemas.openxmlformats.org/officeDocument/2006/relationships/slide" Target="slides/slide7.xml"/><Relationship Id="rId13" Type="http://schemas.openxmlformats.org/officeDocument/2006/relationships/slide" Target="slides/slide6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font" Target="fonts/Montserrat-regular.fntdata"/><Relationship Id="rId20" Type="http://schemas.openxmlformats.org/officeDocument/2006/relationships/font" Target="fonts/Montserrat-bold.fntdata"/><Relationship Id="rId21" Type="http://schemas.openxmlformats.org/officeDocument/2006/relationships/font" Target="fonts/Montserrat-italic.fntdata"/><Relationship Id="rId22" Type="http://schemas.openxmlformats.org/officeDocument/2006/relationships/font" Target="fonts/Montserrat-boldItalic.fntdata"/><Relationship Id="rId23" Type="http://schemas.openxmlformats.org/officeDocument/2006/relationships/font" Target="fonts/MontserratBlack-bold.fntdata"/><Relationship Id="rId24" Type="http://schemas.openxmlformats.org/officeDocument/2006/relationships/font" Target="fonts/MontserratBlack-boldItalic.fntdata"/><Relationship Id="rId25" Type="http://schemas.openxmlformats.org/officeDocument/2006/relationships/font" Target="fonts/MontserratExtraBold-bold.fntdata"/><Relationship Id="rId26" Type="http://schemas.openxmlformats.org/officeDocument/2006/relationships/font" Target="fonts/MontserratExtraBold-boldItalic.fntdata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Relationship Id="rId3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Relationship Id="rId3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01" type="title">
  <p:cSld name="TITLE">
    <p:bg>
      <p:bgPr>
        <a:solidFill>
          <a:srgbClr val="57068C"/>
        </a:solidFill>
      </p:bgPr>
    </p:bg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/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descr="New York University logo" id="11" name="Google Shape;11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2" type="body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317500" lvl="1" marL="9144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indent="-317500" lvl="2" marL="13716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indent="-317500" lvl="3" marL="18288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indent="-317500" lvl="4" marL="22860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indent="-317500" lvl="5" marL="27432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indent="-317500" lvl="6" marL="32004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indent="-317500" lvl="7" marL="36576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indent="-317500" lvl="8" marL="41148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02">
  <p:cSld name="TITLE_1">
    <p:bg>
      <p:bgPr>
        <a:solidFill>
          <a:srgbClr val="57068C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 txBox="1"/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descr="New York University logo" id="17" name="Google Shape;1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subTitle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2" type="body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3175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indent="-3175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indent="-3175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indent="-3175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indent="-3175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indent="-3175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indent="-3175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indent="-3175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04">
  <p:cSld name="TITLE_1_1_1">
    <p:bg>
      <p:bgPr>
        <a:solidFill>
          <a:srgbClr val="57068C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descr="New York University logo" id="23" name="Google Shape;2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idx="1" type="subTitle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2" type="body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3175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indent="-3175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indent="-3175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indent="-3175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indent="-3175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indent="-3175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indent="-3175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indent="-3175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05">
  <p:cSld name="TITLE_1_1_1_1">
    <p:bg>
      <p:bgPr>
        <a:solidFill>
          <a:srgbClr val="57068C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5"/>
          <p:cNvSpPr txBox="1"/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descr="New York University logo" id="29" name="Google Shape;2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5"/>
          <p:cNvSpPr txBox="1"/>
          <p:nvPr>
            <p:ph idx="1" type="subTitle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2" type="body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3175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indent="-3175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indent="-3175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indent="-3175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indent="-3175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indent="-3175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indent="-3175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indent="-3175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rgbClr val="57068C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3997" cy="5143487"/>
          </a:xfrm>
          <a:prstGeom prst="rect">
            <a:avLst/>
          </a:prstGeom>
          <a:noFill/>
          <a:ln>
            <a:noFill/>
          </a:ln>
        </p:spPr>
      </p:pic>
      <p:cxnSp>
        <p:nvCxnSpPr>
          <p:cNvPr descr=" " id="34" name="Google Shape;34;p6"/>
          <p:cNvCxnSpPr/>
          <p:nvPr/>
        </p:nvCxnSpPr>
        <p:spPr>
          <a:xfrm>
            <a:off x="407168" y="2618527"/>
            <a:ext cx="521400" cy="0"/>
          </a:xfrm>
          <a:prstGeom prst="straightConnector1">
            <a:avLst/>
          </a:prstGeom>
          <a:noFill/>
          <a:ln cap="flat" cmpd="sng" w="76200">
            <a:solidFill>
              <a:srgbClr val="8900E1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descr=" " id="35" name="Google Shape;35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6"/>
          <p:cNvSpPr txBox="1"/>
          <p:nvPr>
            <p:ph type="title"/>
          </p:nvPr>
        </p:nvSpPr>
        <p:spPr>
          <a:xfrm>
            <a:off x="316950" y="457200"/>
            <a:ext cx="8520600" cy="184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6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37" name="Google Shape;37;p6"/>
          <p:cNvSpPr txBox="1"/>
          <p:nvPr>
            <p:ph idx="1" type="subTitle"/>
          </p:nvPr>
        </p:nvSpPr>
        <p:spPr>
          <a:xfrm>
            <a:off x="316950" y="2938025"/>
            <a:ext cx="4031700" cy="47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8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/>
          <p:nvPr>
            <p:ph type="title"/>
          </p:nvPr>
        </p:nvSpPr>
        <p:spPr>
          <a:xfrm>
            <a:off x="311700" y="1152475"/>
            <a:ext cx="3345900" cy="319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/>
        </p:txBody>
      </p:sp>
      <p:sp>
        <p:nvSpPr>
          <p:cNvPr id="40" name="Google Shape;40;p7"/>
          <p:cNvSpPr txBox="1"/>
          <p:nvPr>
            <p:ph idx="1" type="body"/>
          </p:nvPr>
        </p:nvSpPr>
        <p:spPr>
          <a:xfrm>
            <a:off x="4114800" y="1175683"/>
            <a:ext cx="4192800" cy="31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1" name="Google Shape;41;p7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descr=" " id="42" name="Google Shape;42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Google Shape;43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2592">
          <p15:clr>
            <a:srgbClr val="FA7B17"/>
          </p15:clr>
        </p15:guide>
        <p15:guide id="2" pos="2304">
          <p15:clr>
            <a:srgbClr val="FA7B17"/>
          </p15:clr>
        </p15:guide>
        <p15:guide id="3" orient="horz" pos="720">
          <p15:clr>
            <a:srgbClr val="FA7B17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/>
          <p:nvPr>
            <p:ph type="title"/>
          </p:nvPr>
        </p:nvSpPr>
        <p:spPr>
          <a:xfrm>
            <a:off x="311700" y="445025"/>
            <a:ext cx="8424900" cy="114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/>
        </p:txBody>
      </p:sp>
      <p:pic>
        <p:nvPicPr>
          <p:cNvPr descr=" " id="46" name="Google Shape;46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8"/>
          <p:cNvSpPr txBox="1"/>
          <p:nvPr>
            <p:ph idx="1" type="body"/>
          </p:nvPr>
        </p:nvSpPr>
        <p:spPr>
          <a:xfrm>
            <a:off x="1376250" y="1828800"/>
            <a:ext cx="3330300" cy="244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8" name="Google Shape;48;p8"/>
          <p:cNvSpPr txBox="1"/>
          <p:nvPr>
            <p:ph idx="2" type="body"/>
          </p:nvPr>
        </p:nvSpPr>
        <p:spPr>
          <a:xfrm>
            <a:off x="5051175" y="1828800"/>
            <a:ext cx="3330300" cy="244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9" name="Google Shape;49;p8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0" name="Google Shape;50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152">
          <p15:clr>
            <a:srgbClr val="FA7B17"/>
          </p15:clr>
        </p15:guide>
        <p15:guide id="2" pos="2880">
          <p15:clr>
            <a:srgbClr val="FA7B17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/>
          <p:nvPr>
            <p:ph type="title"/>
          </p:nvPr>
        </p:nvSpPr>
        <p:spPr>
          <a:xfrm>
            <a:off x="311700" y="445025"/>
            <a:ext cx="8424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/>
        </p:txBody>
      </p:sp>
      <p:pic>
        <p:nvPicPr>
          <p:cNvPr descr=" " id="53" name="Google Shape;53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9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5" name="Google Shape;55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 txBox="1"/>
          <p:nvPr>
            <p:ph type="title"/>
          </p:nvPr>
        </p:nvSpPr>
        <p:spPr>
          <a:xfrm>
            <a:off x="311700" y="426408"/>
            <a:ext cx="4308300" cy="105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3600"/>
              <a:buFont typeface="Montserrat Black"/>
              <a:buNone/>
              <a:defRPr sz="36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/>
        </p:txBody>
      </p:sp>
      <p:sp>
        <p:nvSpPr>
          <p:cNvPr id="58" name="Google Shape;58;p10"/>
          <p:cNvSpPr txBox="1"/>
          <p:nvPr>
            <p:ph idx="1" type="body"/>
          </p:nvPr>
        </p:nvSpPr>
        <p:spPr>
          <a:xfrm>
            <a:off x="311700" y="1646230"/>
            <a:ext cx="3350400" cy="24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pic>
        <p:nvPicPr>
          <p:cNvPr descr=" " id="59" name="Google Shape;59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0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1" name="Google Shape;61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rgbClr val="FFFFFF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1"/>
          <p:cNvSpPr txBox="1"/>
          <p:nvPr>
            <p:ph type="title"/>
          </p:nvPr>
        </p:nvSpPr>
        <p:spPr>
          <a:xfrm>
            <a:off x="407175" y="450150"/>
            <a:ext cx="8329500" cy="382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6000"/>
              <a:buFont typeface="Montserrat Black"/>
              <a:buNone/>
              <a:defRPr sz="60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/>
        </p:txBody>
      </p:sp>
      <p:pic>
        <p:nvPicPr>
          <p:cNvPr descr=" " id="65" name="Google Shape;65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1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8">
          <p15:clr>
            <a:srgbClr val="FA7B17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 " id="68" name="Google Shape;68;p1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2"/>
          <p:cNvSpPr txBox="1"/>
          <p:nvPr>
            <p:ph type="title"/>
          </p:nvPr>
        </p:nvSpPr>
        <p:spPr>
          <a:xfrm>
            <a:off x="294375" y="1233175"/>
            <a:ext cx="40791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3600"/>
              <a:buFont typeface="Montserrat Black"/>
              <a:buNone/>
              <a:defRPr sz="36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70" name="Google Shape;70;p12"/>
          <p:cNvSpPr txBox="1"/>
          <p:nvPr>
            <p:ph idx="1" type="subTitle"/>
          </p:nvPr>
        </p:nvSpPr>
        <p:spPr>
          <a:xfrm>
            <a:off x="294375" y="2803075"/>
            <a:ext cx="39558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6ABA"/>
              </a:buClr>
              <a:buSzPts val="1800"/>
              <a:buNone/>
              <a:defRPr>
                <a:solidFill>
                  <a:srgbClr val="9A6ABA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1" name="Google Shape;71;p12"/>
          <p:cNvSpPr txBox="1"/>
          <p:nvPr>
            <p:ph idx="2" type="body"/>
          </p:nvPr>
        </p:nvSpPr>
        <p:spPr>
          <a:xfrm>
            <a:off x="4939500" y="724075"/>
            <a:ext cx="3837000" cy="3551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descr=" " id="72" name="Google Shape;72;p1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2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alf-page image">
  <p:cSld name="CUSTOM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75" name="Google Shape;75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3"/>
          <p:cNvSpPr txBox="1"/>
          <p:nvPr>
            <p:ph type="title"/>
          </p:nvPr>
        </p:nvSpPr>
        <p:spPr>
          <a:xfrm>
            <a:off x="311700" y="445025"/>
            <a:ext cx="3803100" cy="114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/>
        </p:txBody>
      </p:sp>
      <p:sp>
        <p:nvSpPr>
          <p:cNvPr id="77" name="Google Shape;77;p13"/>
          <p:cNvSpPr txBox="1"/>
          <p:nvPr>
            <p:ph idx="1" type="body"/>
          </p:nvPr>
        </p:nvSpPr>
        <p:spPr>
          <a:xfrm>
            <a:off x="311700" y="2750150"/>
            <a:ext cx="3466500" cy="1522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78" name="Google Shape;78;p13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9" name="Google Shape;79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81" name="Google Shape;81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4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3" name="Google Shape;83;p14"/>
          <p:cNvSpPr txBox="1"/>
          <p:nvPr>
            <p:ph type="title"/>
          </p:nvPr>
        </p:nvSpPr>
        <p:spPr>
          <a:xfrm>
            <a:off x="311700" y="3564945"/>
            <a:ext cx="4491300" cy="60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400"/>
              <a:buNone/>
              <a:defRPr sz="1400"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1">
    <p:bg>
      <p:bgPr>
        <a:solidFill>
          <a:schemeClr val="dk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5"/>
          <p:cNvSpPr txBox="1"/>
          <p:nvPr>
            <p:ph type="title"/>
          </p:nvPr>
        </p:nvSpPr>
        <p:spPr>
          <a:xfrm>
            <a:off x="1101125" y="936450"/>
            <a:ext cx="6947400" cy="300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88" name="Google Shape;88;p15"/>
          <p:cNvSpPr txBox="1"/>
          <p:nvPr/>
        </p:nvSpPr>
        <p:spPr>
          <a:xfrm>
            <a:off x="4313700" y="391050"/>
            <a:ext cx="522300" cy="71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“</a:t>
            </a:r>
            <a:endParaRPr sz="4200">
              <a:solidFill>
                <a:schemeClr val="accent3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cxnSp>
        <p:nvCxnSpPr>
          <p:cNvPr id="89" name="Google Shape;89;p15"/>
          <p:cNvCxnSpPr/>
          <p:nvPr/>
        </p:nvCxnSpPr>
        <p:spPr>
          <a:xfrm>
            <a:off x="4314143" y="4230331"/>
            <a:ext cx="521400" cy="0"/>
          </a:xfrm>
          <a:prstGeom prst="straightConnector1">
            <a:avLst/>
          </a:prstGeom>
          <a:noFill/>
          <a:ln cap="flat" cmpd="sng" w="76200">
            <a:solidFill>
              <a:srgbClr val="8900E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0" name="Google Shape;90;p15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1">
  <p:cSld name="CUSTOM_1_1">
    <p:bg>
      <p:bgPr>
        <a:solidFill>
          <a:schemeClr val="dk1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6"/>
          <p:cNvSpPr txBox="1"/>
          <p:nvPr>
            <p:ph type="title"/>
          </p:nvPr>
        </p:nvSpPr>
        <p:spPr>
          <a:xfrm>
            <a:off x="1101125" y="936450"/>
            <a:ext cx="6947400" cy="300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95" name="Google Shape;95;p16"/>
          <p:cNvSpPr txBox="1"/>
          <p:nvPr/>
        </p:nvSpPr>
        <p:spPr>
          <a:xfrm>
            <a:off x="4313700" y="391050"/>
            <a:ext cx="522300" cy="71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“</a:t>
            </a:r>
            <a:endParaRPr sz="4200">
              <a:solidFill>
                <a:schemeClr val="accent3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cxnSp>
        <p:nvCxnSpPr>
          <p:cNvPr id="96" name="Google Shape;96;p16"/>
          <p:cNvCxnSpPr/>
          <p:nvPr/>
        </p:nvCxnSpPr>
        <p:spPr>
          <a:xfrm>
            <a:off x="4314143" y="4230331"/>
            <a:ext cx="521400" cy="0"/>
          </a:xfrm>
          <a:prstGeom prst="straightConnector1">
            <a:avLst/>
          </a:prstGeom>
          <a:noFill/>
          <a:ln cap="flat" cmpd="sng" w="76200">
            <a:solidFill>
              <a:srgbClr val="8900E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7" name="Google Shape;97;p16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1 1">
  <p:cSld name="CUSTOM_1_1_1">
    <p:bg>
      <p:bgPr>
        <a:solidFill>
          <a:schemeClr val="dk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7"/>
          <p:cNvSpPr txBox="1"/>
          <p:nvPr>
            <p:ph type="title"/>
          </p:nvPr>
        </p:nvSpPr>
        <p:spPr>
          <a:xfrm>
            <a:off x="1101125" y="936450"/>
            <a:ext cx="6947400" cy="300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02" name="Google Shape;102;p17"/>
          <p:cNvSpPr txBox="1"/>
          <p:nvPr/>
        </p:nvSpPr>
        <p:spPr>
          <a:xfrm>
            <a:off x="4313700" y="391050"/>
            <a:ext cx="522300" cy="71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“</a:t>
            </a:r>
            <a:endParaRPr sz="4200">
              <a:solidFill>
                <a:schemeClr val="accent3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cxnSp>
        <p:nvCxnSpPr>
          <p:cNvPr id="103" name="Google Shape;103;p17"/>
          <p:cNvCxnSpPr/>
          <p:nvPr/>
        </p:nvCxnSpPr>
        <p:spPr>
          <a:xfrm>
            <a:off x="4314143" y="4230331"/>
            <a:ext cx="521400" cy="0"/>
          </a:xfrm>
          <a:prstGeom prst="straightConnector1">
            <a:avLst/>
          </a:prstGeom>
          <a:noFill/>
          <a:ln cap="flat" cmpd="sng" w="76200">
            <a:solidFill>
              <a:srgbClr val="8900E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4" name="Google Shape;104;p17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8"/>
          <p:cNvSpPr txBox="1"/>
          <p:nvPr>
            <p:ph hasCustomPrompt="1" type="title"/>
          </p:nvPr>
        </p:nvSpPr>
        <p:spPr>
          <a:xfrm>
            <a:off x="311700" y="407700"/>
            <a:ext cx="8520600" cy="193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15000"/>
              <a:buFont typeface="Montserrat Black"/>
              <a:buNone/>
              <a:defRPr sz="150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07" name="Google Shape;107;p18"/>
          <p:cNvSpPr txBox="1"/>
          <p:nvPr>
            <p:ph idx="1" type="body"/>
          </p:nvPr>
        </p:nvSpPr>
        <p:spPr>
          <a:xfrm>
            <a:off x="2475675" y="3360362"/>
            <a:ext cx="4192800" cy="71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pic>
        <p:nvPicPr>
          <p:cNvPr descr=" " id="108" name="Google Shape;10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8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0" name="Google Shape;110;p18"/>
          <p:cNvSpPr txBox="1"/>
          <p:nvPr>
            <p:ph idx="2" type="subTitle"/>
          </p:nvPr>
        </p:nvSpPr>
        <p:spPr>
          <a:xfrm>
            <a:off x="407175" y="2537800"/>
            <a:ext cx="8329200" cy="71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/>
        </p:txBody>
      </p:sp>
      <p:pic>
        <p:nvPicPr>
          <p:cNvPr id="111" name="Google Shape;11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folio" type="blank">
  <p:cSld name="BLANK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3" name="Google Shape;113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9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424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ExtraBold"/>
              <a:buNone/>
              <a:defRPr sz="4200">
                <a:solidFill>
                  <a:srgbClr val="57068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424900" cy="31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1800"/>
              <a:buFont typeface="Montserrat"/>
              <a:buChar char="●"/>
              <a:defRPr sz="1800"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●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●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6">
          <p15:clr>
            <a:srgbClr val="EA4335"/>
          </p15:clr>
        </p15:guide>
        <p15:guide id="2" orient="horz" pos="3025">
          <p15:clr>
            <a:srgbClr val="EA4335"/>
          </p15:clr>
        </p15:guide>
        <p15:guide id="3" pos="5503">
          <p15:clr>
            <a:srgbClr val="EA4335"/>
          </p15:clr>
        </p15:guide>
        <p15:guide id="4" orient="horz" pos="2693">
          <p15:clr>
            <a:srgbClr val="EA4335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6000" b="1" i="0">
                <a:solidFill>
                  <a:srgbClr val="FFFFFF"/>
                </a:solidFill>
                <a:latin typeface="Arial"/>
              </a:rPr>
              <a:t>OSS PULSE</a:t>
            </a:r>
          </a:p>
          <a:p>
            <a:pPr>
              <a:buNone/>
            </a:pPr>
            <a:r>
              <a:rPr sz="2800" b="0" i="0">
                <a:solidFill>
                  <a:srgbClr val="FFFFFF"/>
                </a:solidFill>
                <a:latin typeface="Arial"/>
              </a:rPr>
              <a:t>From Hype to Health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buNone/>
            </a:pPr>
            <a:r>
              <a:rPr sz="1300" b="0" i="0">
                <a:solidFill>
                  <a:srgbClr val="E6CFFF"/>
                </a:solidFill>
                <a:latin typeface="Arial"/>
              </a:rPr>
              <a:t>Measuring AI Open-Source Ecosystem Health across GitHub, Hugging Face &amp; PyPI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>
              <a:buNone/>
            </a:pPr>
            <a:r>
              <a:rPr sz="1000" b="1" i="0">
                <a:solidFill>
                  <a:srgbClr val="FFFFFF"/>
                </a:solidFill>
                <a:latin typeface="Arial"/>
              </a:rPr>
              <a:t>GROUP 9  ·  BDAD SPRING 2026</a:t>
            </a:r>
          </a:p>
          <a:p>
            <a:pPr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Jhe Chen Li · Bo Yu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0" y="548640"/>
            <a:ext cx="2926080" cy="40233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16000" b="1" i="0">
                <a:solidFill>
                  <a:srgbClr val="8900E1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05840"/>
            <a:ext cx="5486400" cy="2194560"/>
          </a:xfrm>
          <a:prstGeom prst="rect">
            <a:avLst/>
          </a:prstGeom>
          <a:noFill/>
        </p:spPr>
        <p:txBody>
          <a:bodyPr wrap="square" lIns="36576" rIns="36576" tIns="36576" bIns="36576" anchor="b">
            <a:spAutoFit/>
          </a:bodyPr>
          <a:lstStyle/>
          <a:p>
            <a:pPr algn="l">
              <a:buNone/>
            </a:pPr>
            <a:r>
              <a:rPr sz="4800" b="1" i="0">
                <a:solidFill>
                  <a:srgbClr val="FFFFFF"/>
                </a:solidFill>
                <a:latin typeface="Arial"/>
              </a:rPr>
              <a:t>PROJECT
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3310128"/>
            <a:ext cx="457200" cy="457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3456432"/>
            <a:ext cx="54864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buNone/>
            </a:pPr>
            <a:r>
              <a:rPr sz="1400" b="0" i="0">
                <a:solidFill>
                  <a:srgbClr val="E6CFFF"/>
                </a:solidFill>
                <a:latin typeface="Arial"/>
              </a:rPr>
              <a:t>Why measure open-source health beyond GitHub stars?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572000"/>
            <a:ext cx="457200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buNone/>
            </a:pPr>
            <a:r>
              <a:rPr sz="1000" b="1" i="0">
                <a:solidFill>
                  <a:srgbClr val="FFFFFF"/>
                </a:solidFill>
                <a:latin typeface="Arial"/>
              </a:rPr>
              <a:t>OSS PULSE  /  GROUP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3000" b="1" i="0">
                <a:solidFill>
                  <a:srgbClr val="57068C"/>
                </a:solidFill>
                <a:latin typeface="Arial"/>
              </a:rPr>
              <a:t>ABSTRACT</a:t>
            </a:r>
          </a:p>
          <a:p>
            <a:pPr>
              <a:buNone/>
            </a:pPr>
            <a:r>
              <a:rPr sz="1800" b="0" i="0">
                <a:solidFill>
                  <a:srgbClr val="57068C"/>
                </a:solidFill>
                <a:latin typeface="Arial"/>
              </a:rPr>
              <a:t>&amp; Platform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  <a:buNone/>
            </a:pPr>
            <a:r>
              <a:rPr sz="1200" b="0" i="1">
                <a:solidFill>
                  <a:srgbClr val="555566"/>
                </a:solidFill>
                <a:latin typeface="Arial"/>
              </a:rPr>
              <a:t>Triangulating ecosystem health across three independent signals.</a:t>
            </a:r>
          </a:p>
          <a:p>
            <a:pPr>
              <a:spcAft>
                <a:spcPts val="300"/>
              </a:spcAft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GitHub Archive </a:t>
            </a:r>
            <a:r>
              <a:rPr sz="1200" b="0" i="0">
                <a:solidFill>
                  <a:srgbClr val="22222E"/>
                </a:solidFill>
                <a:latin typeface="Arial"/>
              </a:rPr>
              <a:t>· ~146 M events across 485+ days  (community engagement)</a:t>
            </a:r>
          </a:p>
          <a:p>
            <a:pPr>
              <a:spcAft>
                <a:spcPts val="300"/>
              </a:spcAft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Hugging Face Hub </a:t>
            </a:r>
            <a:r>
              <a:rPr sz="1200" b="0" i="0">
                <a:solidFill>
                  <a:srgbClr val="22222E"/>
                </a:solidFill>
                <a:latin typeface="Arial"/>
              </a:rPr>
              <a:t>· 2.8 M model snapshots  (real model adoption)</a:t>
            </a:r>
          </a:p>
          <a:p>
            <a:pPr>
              <a:spcAft>
                <a:spcPts val="800"/>
              </a:spcAft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PyPI </a:t>
            </a:r>
            <a:r>
              <a:rPr sz="1200" b="0" i="0">
                <a:solidFill>
                  <a:srgbClr val="22222E"/>
                </a:solidFill>
                <a:latin typeface="Arial"/>
              </a:rPr>
              <a:t>· 46 AI/ML libraries × 12 months  (engineering usage)</a:t>
            </a:r>
          </a:p>
          <a:p>
            <a:pPr>
              <a:spcAft>
                <a:spcPts val="1000"/>
              </a:spcAft>
              <a:buNone/>
            </a:pPr>
            <a:r>
              <a:rPr sz="1200" b="1" i="0">
                <a:solidFill>
                  <a:srgbClr val="22222E"/>
                </a:solidFill>
                <a:latin typeface="Arial"/>
              </a:rPr>
              <a:t>Composite health score </a:t>
            </a:r>
            <a:r>
              <a:rPr sz="1200" b="0" i="0">
                <a:solidFill>
                  <a:srgbClr val="22222E"/>
                </a:solidFill>
                <a:latin typeface="Arial"/>
              </a:rPr>
              <a:t>blends 6 signals; a 5-year Q1 era comparison (2022–2026) tracks coding-agent impact on the OSS ecosystem.</a:t>
            </a:r>
          </a:p>
          <a:p>
            <a:pPr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Platform · </a:t>
            </a:r>
            <a:r>
              <a:rPr sz="1100" b="0" i="0">
                <a:solidFill>
                  <a:srgbClr val="555566"/>
                </a:solidFill>
                <a:latin typeface="Arial"/>
              </a:rPr>
              <a:t>Apache Spark 3.x on Google Cloud Dataproc · YARN · HDFS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800" b="1" i="0">
                <a:solidFill>
                  <a:srgbClr val="57068C"/>
                </a:solidFill>
                <a:latin typeface="Arial"/>
              </a:rPr>
              <a:t>WHY THIS MATTERS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200"/>
              </a:spcAft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Who uses it</a:t>
            </a:r>
          </a:p>
          <a:p>
            <a:pPr>
              <a:spcAft>
                <a:spcPts val="800"/>
              </a:spcAft>
              <a:buNone/>
            </a:pPr>
            <a:r>
              <a:rPr sz="1100" b="0" i="0">
                <a:solidFill>
                  <a:srgbClr val="22222E"/>
                </a:solidFill>
                <a:latin typeface="Arial"/>
              </a:rPr>
              <a:t>ML engineers · researchers · maintainers · VCs evaluating OSS frameworks.</a:t>
            </a:r>
          </a:p>
          <a:p>
            <a:pPr>
              <a:spcAft>
                <a:spcPts val="200"/>
              </a:spcAft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The problem</a:t>
            </a:r>
          </a:p>
          <a:p>
            <a:pPr>
              <a:spcAft>
                <a:spcPts val="800"/>
              </a:spcAft>
              <a:buNone/>
            </a:pPr>
            <a:r>
              <a:rPr sz="1100" b="0" i="0">
                <a:solidFill>
                  <a:srgbClr val="22222E"/>
                </a:solidFill>
                <a:latin typeface="Arial"/>
              </a:rPr>
              <a:t>GitHub stars are noisy — hype ≠ health. Ollama gained 44 K stars in 2025 yet logged only 241 HF downloads.</a:t>
            </a:r>
          </a:p>
          <a:p>
            <a:pPr>
              <a:spcAft>
                <a:spcPts val="200"/>
              </a:spcAft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Our answer</a:t>
            </a:r>
          </a:p>
          <a:p>
            <a:pPr>
              <a:buNone/>
            </a:pPr>
            <a:r>
              <a:rPr sz="1100" b="0" i="0">
                <a:solidFill>
                  <a:srgbClr val="22222E"/>
                </a:solidFill>
                <a:latin typeface="Arial"/>
              </a:rPr>
              <a:t>Cross-reference adoption signals from three independent platforms — no single source can game the score.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>
              <a:spcAft>
                <a:spcPts val="400"/>
              </a:spcAft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Era analysis (2022–2026)</a:t>
            </a:r>
          </a:p>
          <a:p>
            <a:pPr>
              <a:spcAft>
                <a:spcPts val="200"/>
              </a:spcAft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2022 Q1   </a:t>
            </a:r>
            <a:r>
              <a:rPr sz="1100" b="0" i="0">
                <a:solidFill>
                  <a:srgbClr val="22222E"/>
                </a:solidFill>
                <a:latin typeface="Arial"/>
              </a:rPr>
              <a:t>Pre-ChatGPT baseline</a:t>
            </a:r>
          </a:p>
          <a:p>
            <a:pPr>
              <a:spcAft>
                <a:spcPts val="200"/>
              </a:spcAft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2023 Q1   </a:t>
            </a:r>
            <a:r>
              <a:rPr sz="1100" b="0" i="0">
                <a:solidFill>
                  <a:srgbClr val="22222E"/>
                </a:solidFill>
                <a:latin typeface="Arial"/>
              </a:rPr>
              <a:t>ChatGPT explosion</a:t>
            </a:r>
          </a:p>
          <a:p>
            <a:pPr>
              <a:spcAft>
                <a:spcPts val="200"/>
              </a:spcAft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2024 Q1   </a:t>
            </a:r>
            <a:r>
              <a:rPr sz="1100" b="0" i="0">
                <a:solidFill>
                  <a:srgbClr val="22222E"/>
                </a:solidFill>
                <a:latin typeface="Arial"/>
              </a:rPr>
              <a:t>LLM bloom: GPT-4 · Claude · Gemini</a:t>
            </a:r>
          </a:p>
          <a:p>
            <a:pPr>
              <a:spcAft>
                <a:spcPts val="200"/>
              </a:spcAft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2025 Q1   </a:t>
            </a:r>
            <a:r>
              <a:rPr sz="1100" b="0" i="0">
                <a:solidFill>
                  <a:srgbClr val="22222E"/>
                </a:solidFill>
                <a:latin typeface="Arial"/>
              </a:rPr>
              <a:t>Year of agents — Cursor · Claude Code · Devin</a:t>
            </a:r>
          </a:p>
          <a:p>
            <a:pPr>
              <a:spcAft>
                <a:spcPts val="800"/>
              </a:spcAft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2026 Q1   </a:t>
            </a:r>
            <a:r>
              <a:rPr sz="1100" b="0" i="0">
                <a:solidFill>
                  <a:srgbClr val="22222E"/>
                </a:solidFill>
                <a:latin typeface="Arial"/>
              </a:rPr>
              <a:t>Coding-agent saturation</a:t>
            </a:r>
          </a:p>
          <a:p>
            <a:pPr>
              <a:buNone/>
            </a:pPr>
            <a:r>
              <a:rPr sz="1000" b="0" i="1">
                <a:solidFill>
                  <a:srgbClr val="555566"/>
                </a:solidFill>
                <a:latin typeface="Arial"/>
              </a:rPr>
              <a:t>Five-year window captures the human → agent inflection.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600" b="1" i="0">
                <a:solidFill>
                  <a:srgbClr val="57068C"/>
                </a:solidFill>
                <a:latin typeface="Arial"/>
              </a:rPr>
              <a:t>DATA QUALITY  ·  GOODNESS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417320"/>
            <a:ext cx="1591056" cy="169164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417320"/>
            <a:ext cx="1591056" cy="64008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508760"/>
            <a:ext cx="1591056" cy="5943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2600" b="1" i="0">
                <a:solidFill>
                  <a:srgbClr val="57068C"/>
                </a:solidFill>
                <a:latin typeface="Arial"/>
              </a:rPr>
              <a:t>485+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130552"/>
            <a:ext cx="1591056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DAYS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423160"/>
            <a:ext cx="1591056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1000" b="0" i="0">
                <a:solidFill>
                  <a:srgbClr val="555566"/>
                </a:solidFill>
                <a:latin typeface="Arial"/>
              </a:rPr>
              <a:t>GH Archive
coverage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417320"/>
            <a:ext cx="1591056" cy="169164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93976" y="1417320"/>
            <a:ext cx="1591056" cy="64008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508760"/>
            <a:ext cx="1591056" cy="5943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2600" b="1" i="0">
                <a:solidFill>
                  <a:srgbClr val="57068C"/>
                </a:solidFill>
                <a:latin typeface="Arial"/>
              </a:rPr>
              <a:t>146M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93976" y="2130552"/>
            <a:ext cx="1591056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EVENTS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3976" y="2423160"/>
            <a:ext cx="1591056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1000" b="0" i="0">
                <a:solidFill>
                  <a:srgbClr val="555566"/>
                </a:solidFill>
                <a:latin typeface="Arial"/>
              </a:rPr>
              <a:t>GitHub events
ingested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76472" y="1417320"/>
            <a:ext cx="1591056" cy="169164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76472" y="1417320"/>
            <a:ext cx="1591056" cy="64008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76472" y="1508760"/>
            <a:ext cx="1591056" cy="5943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2600" b="1" i="0">
                <a:solidFill>
                  <a:srgbClr val="57068C"/>
                </a:solidFill>
                <a:latin typeface="Arial"/>
              </a:rPr>
              <a:t>2.81M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6472" y="2130552"/>
            <a:ext cx="1591056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HF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6472" y="2423160"/>
            <a:ext cx="1591056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1000" b="0" i="0">
                <a:solidFill>
                  <a:srgbClr val="555566"/>
                </a:solidFill>
                <a:latin typeface="Arial"/>
              </a:rPr>
              <a:t>April 2026
snapshot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58968" y="1417320"/>
            <a:ext cx="1591056" cy="169164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58968" y="1417320"/>
            <a:ext cx="1591056" cy="64008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58968" y="1508760"/>
            <a:ext cx="1591056" cy="5943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2600" b="1" i="0">
                <a:solidFill>
                  <a:srgbClr val="57068C"/>
                </a:solidFill>
                <a:latin typeface="Arial"/>
              </a:rPr>
              <a:t>46×12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58968" y="2130552"/>
            <a:ext cx="1591056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PYPI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58968" y="2423160"/>
            <a:ext cx="1591056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1000" b="0" i="0">
                <a:solidFill>
                  <a:srgbClr val="555566"/>
                </a:solidFill>
                <a:latin typeface="Arial"/>
              </a:rPr>
              <a:t>Library × month
downloads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41464" y="1417320"/>
            <a:ext cx="1591056" cy="169164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41464" y="1417320"/>
            <a:ext cx="1591056" cy="64008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41464" y="1508760"/>
            <a:ext cx="1591056" cy="5943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2600" b="1" i="0">
                <a:solidFill>
                  <a:srgbClr val="57068C"/>
                </a:solidFill>
                <a:latin typeface="Arial"/>
              </a:rPr>
              <a:t>99 GB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1464" y="2130552"/>
            <a:ext cx="1591056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PARQUET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41464" y="2423160"/>
            <a:ext cx="1591056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1000" b="0" i="0">
                <a:solidFill>
                  <a:srgbClr val="555566"/>
                </a:solidFill>
                <a:latin typeface="Arial"/>
              </a:rPr>
              <a:t>Cleaned
(8× smaller)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3337560"/>
            <a:ext cx="2676144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2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Multi-source validation</a:t>
            </a:r>
          </a:p>
          <a:p>
            <a:pPr>
              <a:buNone/>
            </a:pPr>
            <a:r>
              <a:rPr sz="1000" b="0" i="0">
                <a:solidFill>
                  <a:srgbClr val="22222E"/>
                </a:solidFill>
                <a:latin typeface="Arial"/>
              </a:rPr>
              <a:t>Cross-references 3 independent platforms — no single source can game the score.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33928" y="3337560"/>
            <a:ext cx="2676144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2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Distinct-PR counting</a:t>
            </a:r>
          </a:p>
          <a:p>
            <a:pPr>
              <a:buNone/>
            </a:pPr>
            <a:r>
              <a:rPr sz="1000" b="0" i="0">
                <a:solidFill>
                  <a:srgbClr val="22222E"/>
                </a:solidFill>
                <a:latin typeface="Arial"/>
              </a:rPr>
              <a:t>countDistinct(pr_number) replaces event counts to avoid lifecycle inflation from agent-generated PRs.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56376" y="3337560"/>
            <a:ext cx="2676144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2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Bus-factor decomposition</a:t>
            </a:r>
          </a:p>
          <a:p>
            <a:pPr>
              <a:buNone/>
            </a:pPr>
            <a:r>
              <a:rPr sz="1000" b="0" i="0">
                <a:solidFill>
                  <a:srgbClr val="22222E"/>
                </a:solidFill>
                <a:latin typeface="Arial"/>
              </a:rPr>
              <a:t>top1_push_ratio interpreted with pr_contributors to separate centralized merge from real single-maintainer risk.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600" b="1" i="0">
                <a:solidFill>
                  <a:srgbClr val="57068C"/>
                </a:solidFill>
                <a:latin typeface="Arial"/>
              </a:rPr>
              <a:t>DATA SOURCES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417320"/>
            <a:ext cx="2663952" cy="31089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417320"/>
            <a:ext cx="118872" cy="310896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2298192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57068C"/>
                </a:solidFill>
                <a:latin typeface="Arial"/>
              </a:rPr>
              <a:t>GITHUB ARCHIVE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22981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buNone/>
            </a:pPr>
            <a:r>
              <a:rPr sz="1000" b="0" i="1">
                <a:solidFill>
                  <a:srgbClr val="8900E1"/>
                </a:solidFill>
                <a:latin typeface="Arial"/>
              </a:rPr>
              <a:t>Hourly event logs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2298192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22222E"/>
                </a:solidFill>
                <a:latin typeface="Arial"/>
              </a:rPr>
              <a:t>Watch · Fork · Push · PR · Issue events.
Streamed to HDFS via curl | hdfs put.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931920"/>
            <a:ext cx="2298192" cy="9525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2298192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~146M events  ·  485+ days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24" y="1417320"/>
            <a:ext cx="2663952" cy="31089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24" y="1417320"/>
            <a:ext cx="118872" cy="310896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68624" y="1600200"/>
            <a:ext cx="2298192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57068C"/>
                </a:solidFill>
                <a:latin typeface="Arial"/>
              </a:rPr>
              <a:t>HUGGING FACE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8624" y="1984248"/>
            <a:ext cx="22981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buNone/>
            </a:pPr>
            <a:r>
              <a:rPr sz="1000" b="0" i="1">
                <a:solidFill>
                  <a:srgbClr val="8900E1"/>
                </a:solidFill>
                <a:latin typeface="Arial"/>
              </a:rPr>
              <a:t>Model metadata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8624" y="2286000"/>
            <a:ext cx="2298192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22222E"/>
                </a:solidFill>
                <a:latin typeface="Arial"/>
              </a:rPr>
              <a:t>model_id, library, pipeline tag,
downloads, likes, parameters.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68624" y="3931920"/>
            <a:ext cx="2298192" cy="9525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68624" y="4023360"/>
            <a:ext cx="2298192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2,815,064 models  ·  Apr 2026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68568" y="1417320"/>
            <a:ext cx="2663952" cy="31089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68568" y="1417320"/>
            <a:ext cx="118872" cy="310896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7168" y="1600200"/>
            <a:ext cx="2298192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57068C"/>
                </a:solidFill>
                <a:latin typeface="Arial"/>
              </a:rPr>
              <a:t>PYPI / BIGQUERY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7168" y="1984248"/>
            <a:ext cx="22981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buNone/>
            </a:pPr>
            <a:r>
              <a:rPr sz="1000" b="0" i="1">
                <a:solidFill>
                  <a:srgbClr val="8900E1"/>
                </a:solidFill>
                <a:latin typeface="Arial"/>
              </a:rPr>
              <a:t>Monthly downloads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97168" y="2286000"/>
            <a:ext cx="2298192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22222E"/>
                </a:solidFill>
                <a:latin typeface="Arial"/>
              </a:rPr>
              <a:t>Library-level engineering usage —
real installs across 12 months.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97168" y="3931920"/>
            <a:ext cx="2298192" cy="9525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97168" y="4023360"/>
            <a:ext cx="2298192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46 libraries × 12 months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4617720"/>
            <a:ext cx="64922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buNone/>
            </a:pPr>
            <a:r>
              <a:rPr sz="1000" b="0" i="1">
                <a:solidFill>
                  <a:srgbClr val="555566"/>
                </a:solidFill>
                <a:latin typeface="Arial"/>
              </a:rPr>
              <a:t>All three feed a Spark pipeline that emits one composite health score per repository.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600" b="1" i="0">
                <a:solidFill>
                  <a:srgbClr val="57068C"/>
                </a:solidFill>
                <a:latin typeface="Arial"/>
              </a:rPr>
              <a:t>SAMPLE  ·  GITHUB ARCHIVE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371600"/>
            <a:ext cx="8321040" cy="22402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371600"/>
            <a:ext cx="118872" cy="224028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79095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SAMPLE ROWS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7909560" cy="1737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200"/>
              </a:spcAft>
              <a:buNone/>
            </a:pPr>
            <a:r>
              <a:rPr sz="900" b="1" i="0">
                <a:solidFill>
                  <a:srgbClr val="57068C"/>
                </a:solidFill>
                <a:latin typeface="Consolas"/>
              </a:rPr>
              <a:t>event_type        event_date   actor_login   repo_name                   push  pr_merged</a:t>
            </a:r>
          </a:p>
          <a:p>
            <a:pPr>
              <a:spcAft>
                <a:spcPts val="200"/>
              </a:spcAft>
              <a:buNone/>
            </a:pPr>
            <a:r>
              <a:rPr sz="900" b="0" i="0">
                <a:solidFill>
                  <a:srgbClr val="22222E"/>
                </a:solidFill>
                <a:latin typeface="Consolas"/>
              </a:rPr>
              <a:t>WatchEvent        2025-03-15   user_abc      huggingface/transformers    —     —</a:t>
            </a:r>
          </a:p>
          <a:p>
            <a:pPr>
              <a:spcAft>
                <a:spcPts val="200"/>
              </a:spcAft>
              <a:buNone/>
            </a:pPr>
            <a:r>
              <a:rPr sz="900" b="0" i="0">
                <a:solidFill>
                  <a:srgbClr val="22222E"/>
                </a:solidFill>
                <a:latin typeface="Consolas"/>
              </a:rPr>
              <a:t>PushEvent         2025-03-15   dev_xyz       pytorch/pytorch             3     —</a:t>
            </a:r>
          </a:p>
          <a:p>
            <a:pPr>
              <a:spcAft>
                <a:spcPts val="200"/>
              </a:spcAft>
              <a:buNone/>
            </a:pPr>
            <a:r>
              <a:rPr sz="900" b="0" i="0">
                <a:solidFill>
                  <a:srgbClr val="22222E"/>
                </a:solidFill>
                <a:latin typeface="Consolas"/>
              </a:rPr>
              <a:t>PullRequestEvent  2025-03-15   contrib_1     tensorflow/tensorflow       —     true</a:t>
            </a:r>
          </a:p>
          <a:p>
            <a:pPr>
              <a:spcAft>
                <a:spcPts val="200"/>
              </a:spcAft>
              <a:buNone/>
            </a:pPr>
            <a:r>
              <a:rPr sz="900" b="0" i="0">
                <a:solidFill>
                  <a:srgbClr val="22222E"/>
                </a:solidFill>
                <a:latin typeface="Consolas"/>
              </a:rPr>
              <a:t>IssuesEvent       2025-03-15   reporter_2    microsoft/onnxruntime       —     —</a:t>
            </a:r>
          </a:p>
          <a:p>
            <a:pPr>
              <a:spcAft>
                <a:spcPts val="200"/>
              </a:spcAft>
              <a:buNone/>
            </a:pPr>
            <a:r>
              <a:rPr sz="900" b="0" i="0">
                <a:solidFill>
                  <a:srgbClr val="22222E"/>
                </a:solidFill>
                <a:latin typeface="Consolas"/>
              </a:rPr>
              <a:t>ForkEvent         2025-03-15   forker_3      openai/whisper              —     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3703320"/>
            <a:ext cx="8321040" cy="7772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776472"/>
            <a:ext cx="79552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SCHEMA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014216"/>
            <a:ext cx="7955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900" b="0" i="1">
                <a:solidFill>
                  <a:srgbClr val="22222E"/>
                </a:solidFill>
                <a:latin typeface="Consolas"/>
              </a:rPr>
              <a:t>event_type, event_date, actor_login, repo_name, push_size, push_distinct_size, commit_count, pr_merged, issue_state, pr_number, payload_action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4590288"/>
            <a:ext cx="64465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buNone/>
            </a:pPr>
            <a:r>
              <a:rPr sz="1000" b="0" i="1">
                <a:solidFill>
                  <a:srgbClr val="57068C"/>
                </a:solidFill>
                <a:latin typeface="Arial"/>
              </a:rPr>
              <a:t>Hourly batched files joined into 485+ daily partitions (~99 GB Parquet).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600" b="1" i="0">
                <a:solidFill>
                  <a:srgbClr val="57068C"/>
                </a:solidFill>
                <a:latin typeface="Arial"/>
              </a:rPr>
              <a:t>SAMPLE  ·  HUGGING FACE HUB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371600"/>
            <a:ext cx="8321040" cy="22402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371600"/>
            <a:ext cx="118872" cy="224028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79095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SAMPLE ROWS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7909560" cy="1737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200"/>
              </a:spcAft>
              <a:buNone/>
            </a:pPr>
            <a:r>
              <a:rPr sz="900" b="1" i="0">
                <a:solidFill>
                  <a:srgbClr val="57068C"/>
                </a:solidFill>
                <a:latin typeface="Consolas"/>
              </a:rPr>
              <a:t>model_id                       library_name  pipeline_tag         downloads    likes</a:t>
            </a:r>
          </a:p>
          <a:p>
            <a:pPr>
              <a:spcAft>
                <a:spcPts val="200"/>
              </a:spcAft>
              <a:buNone/>
            </a:pPr>
            <a:r>
              <a:rPr sz="900" b="0" i="0">
                <a:solidFill>
                  <a:srgbClr val="22222E"/>
                </a:solidFill>
                <a:latin typeface="Consolas"/>
              </a:rPr>
              <a:t>meta-llama/Llama-3-8B          transformers  text-generation      1,234,567    8,920</a:t>
            </a:r>
          </a:p>
          <a:p>
            <a:pPr>
              <a:spcAft>
                <a:spcPts val="200"/>
              </a:spcAft>
              <a:buNone/>
            </a:pPr>
            <a:r>
              <a:rPr sz="900" b="0" i="0">
                <a:solidFill>
                  <a:srgbClr val="22222E"/>
                </a:solidFill>
                <a:latin typeface="Consolas"/>
              </a:rPr>
              <a:t>stabilityai/stable-diffusion   diffusers     image-generation       890,123    5,430</a:t>
            </a:r>
          </a:p>
          <a:p>
            <a:pPr>
              <a:spcAft>
                <a:spcPts val="200"/>
              </a:spcAft>
              <a:buNone/>
            </a:pPr>
            <a:r>
              <a:rPr sz="900" b="0" i="0">
                <a:solidFill>
                  <a:srgbClr val="22222E"/>
                </a:solidFill>
                <a:latin typeface="Consolas"/>
              </a:rPr>
              <a:t>openai/whisper-large-v3        transformers  automatic-speech       456,789    3,210</a:t>
            </a:r>
          </a:p>
          <a:p>
            <a:pPr>
              <a:spcAft>
                <a:spcPts val="200"/>
              </a:spcAft>
              <a:buNone/>
            </a:pPr>
            <a:r>
              <a:rPr sz="900" b="0" i="0">
                <a:solidFill>
                  <a:srgbClr val="22222E"/>
                </a:solidFill>
                <a:latin typeface="Consolas"/>
              </a:rPr>
              <a:t>google/gemma-2b                transformers  text-generation        342,189    2,145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3703320"/>
            <a:ext cx="8321040" cy="7772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776472"/>
            <a:ext cx="79552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SCHEMA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014216"/>
            <a:ext cx="7955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900" b="0" i="1">
                <a:solidFill>
                  <a:srgbClr val="22222E"/>
                </a:solidFill>
                <a:latin typeface="Consolas"/>
              </a:rPr>
              <a:t>model_id, author, library_name, pipeline_tag, downloads, likes, created_at, parameter_count, has_safetensors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4590288"/>
            <a:ext cx="64465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buNone/>
            </a:pPr>
            <a:r>
              <a:rPr sz="1000" b="0" i="1">
                <a:solidFill>
                  <a:srgbClr val="57068C"/>
                </a:solidFill>
                <a:latin typeface="Arial"/>
              </a:rPr>
              <a:t>Cleaned via Scala Spark — 2,815,064 models across 1,800+ libraries.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600" b="1" i="0">
                <a:solidFill>
                  <a:srgbClr val="57068C"/>
                </a:solidFill>
                <a:latin typeface="Arial"/>
              </a:rPr>
              <a:t>SAMPLE  ·  PYPI DOWNLOADS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371600"/>
            <a:ext cx="8321040" cy="22402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371600"/>
            <a:ext cx="118872" cy="224028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79095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SAMPLE ROWS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7909560" cy="1737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200"/>
              </a:spcAft>
              <a:buNone/>
            </a:pPr>
            <a:r>
              <a:rPr sz="900" b="1" i="0">
                <a:solidFill>
                  <a:srgbClr val="57068C"/>
                </a:solidFill>
                <a:latin typeface="Consolas"/>
              </a:rPr>
              <a:t>project        month         downloads</a:t>
            </a:r>
          </a:p>
          <a:p>
            <a:pPr>
              <a:spcAft>
                <a:spcPts val="200"/>
              </a:spcAft>
              <a:buNone/>
            </a:pPr>
            <a:r>
              <a:rPr sz="900" b="0" i="0">
                <a:solidFill>
                  <a:srgbClr val="22222E"/>
                </a:solidFill>
                <a:latin typeface="Consolas"/>
              </a:rPr>
              <a:t>transformers   2025-01-01    12,345,678</a:t>
            </a:r>
          </a:p>
          <a:p>
            <a:pPr>
              <a:spcAft>
                <a:spcPts val="200"/>
              </a:spcAft>
              <a:buNone/>
            </a:pPr>
            <a:r>
              <a:rPr sz="900" b="0" i="0">
                <a:solidFill>
                  <a:srgbClr val="22222E"/>
                </a:solidFill>
                <a:latin typeface="Consolas"/>
              </a:rPr>
              <a:t>torch          2025-01-01    45,123,456</a:t>
            </a:r>
          </a:p>
          <a:p>
            <a:pPr>
              <a:spcAft>
                <a:spcPts val="200"/>
              </a:spcAft>
              <a:buNone/>
            </a:pPr>
            <a:r>
              <a:rPr sz="900" b="0" i="0">
                <a:solidFill>
                  <a:srgbClr val="22222E"/>
                </a:solidFill>
                <a:latin typeface="Consolas"/>
              </a:rPr>
              <a:t>diffusers      2025-02-01     3,456,789</a:t>
            </a:r>
          </a:p>
          <a:p>
            <a:pPr>
              <a:spcAft>
                <a:spcPts val="200"/>
              </a:spcAft>
              <a:buNone/>
            </a:pPr>
            <a:r>
              <a:rPr sz="900" b="0" i="0">
                <a:solidFill>
                  <a:srgbClr val="22222E"/>
                </a:solidFill>
                <a:latin typeface="Consolas"/>
              </a:rPr>
              <a:t>accelerate     2025-03-01     2,134,500</a:t>
            </a:r>
          </a:p>
          <a:p>
            <a:pPr>
              <a:spcAft>
                <a:spcPts val="200"/>
              </a:spcAft>
              <a:buNone/>
            </a:pPr>
            <a:r>
              <a:rPr sz="900" b="0" i="0">
                <a:solidFill>
                  <a:srgbClr val="22222E"/>
                </a:solidFill>
                <a:latin typeface="Consolas"/>
              </a:rPr>
              <a:t>datasets       2025-04-01     4,890,123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3703320"/>
            <a:ext cx="8321040" cy="7772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776472"/>
            <a:ext cx="79552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SCHEMA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014216"/>
            <a:ext cx="7955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900" b="0" i="1">
                <a:solidFill>
                  <a:srgbClr val="22222E"/>
                </a:solidFill>
                <a:latin typeface="Consolas"/>
              </a:rPr>
              <a:t>project, month (YYYY-MM-01), downloads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4590288"/>
            <a:ext cx="64465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buNone/>
            </a:pPr>
            <a:r>
              <a:rPr sz="1000" b="0" i="1">
                <a:solidFill>
                  <a:srgbClr val="57068C"/>
                </a:solidFill>
                <a:latin typeface="Arial"/>
              </a:rPr>
              <a:t>Public BigQuery table — 46 AI/ML libraries × 12 months of 2025.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0" y="548640"/>
            <a:ext cx="2926080" cy="40233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16000" b="1" i="0">
                <a:solidFill>
                  <a:srgbClr val="8900E1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05840"/>
            <a:ext cx="5486400" cy="2194560"/>
          </a:xfrm>
          <a:prstGeom prst="rect">
            <a:avLst/>
          </a:prstGeom>
          <a:noFill/>
        </p:spPr>
        <p:txBody>
          <a:bodyPr wrap="square" lIns="36576" rIns="36576" tIns="36576" bIns="36576" anchor="b">
            <a:spAutoFit/>
          </a:bodyPr>
          <a:lstStyle/>
          <a:p>
            <a:pPr algn="l">
              <a:buNone/>
            </a:pPr>
            <a:r>
              <a:rPr sz="4800" b="1" i="0">
                <a:solidFill>
                  <a:srgbClr val="FFFFFF"/>
                </a:solidFill>
                <a:latin typeface="Arial"/>
              </a:rPr>
              <a:t>PIPELINE
&amp; CHALLENGES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3310128"/>
            <a:ext cx="457200" cy="457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3456432"/>
            <a:ext cx="54864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buNone/>
            </a:pPr>
            <a:r>
              <a:rPr sz="1400" b="0" i="0">
                <a:solidFill>
                  <a:srgbClr val="E6CFFF"/>
                </a:solidFill>
                <a:latin typeface="Arial"/>
              </a:rPr>
              <a:t>Spark on Dataproc — design, scale &amp; engineering trade-offs.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572000"/>
            <a:ext cx="457200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buNone/>
            </a:pPr>
            <a:r>
              <a:rPr sz="1000" b="1" i="0">
                <a:solidFill>
                  <a:srgbClr val="FFFFFF"/>
                </a:solidFill>
                <a:latin typeface="Arial"/>
              </a:rPr>
              <a:t>OSS PULSE  /  GROUP 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600" b="1" i="0">
                <a:solidFill>
                  <a:srgbClr val="57068C"/>
                </a:solidFill>
                <a:latin typeface="Arial"/>
              </a:rPr>
              <a:t>PIPELINE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371600"/>
            <a:ext cx="2651760" cy="29260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0"/>
            <a:ext cx="2651760" cy="411480"/>
          </a:xfrm>
          <a:prstGeom prst="rect">
            <a:avLst/>
          </a:prstGeom>
          <a:solidFill>
            <a:srgbClr val="57068C"/>
          </a:solidFill>
          <a:ln>
            <a:noFill/>
          </a:ln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INGEST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1371600"/>
            <a:ext cx="2651760" cy="29260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46120" y="1371600"/>
            <a:ext cx="2651760" cy="411480"/>
          </a:xfrm>
          <a:prstGeom prst="rect">
            <a:avLst/>
          </a:prstGeom>
          <a:solidFill>
            <a:srgbClr val="8900E1"/>
          </a:solidFill>
          <a:ln>
            <a:noFill/>
          </a:ln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PROCESS  ·  APACHE SPARK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371600"/>
            <a:ext cx="2651760" cy="29260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371600"/>
            <a:ext cx="2651760" cy="411480"/>
          </a:xfrm>
          <a:prstGeom prst="rect">
            <a:avLst/>
          </a:prstGeom>
          <a:solidFill>
            <a:srgbClr val="330066"/>
          </a:solidFill>
          <a:ln>
            <a:noFill/>
          </a:ln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OUTPUT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20240"/>
            <a:ext cx="2286000" cy="22860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GitHub Archive</a:t>
            </a:r>
          </a:p>
          <a:p>
            <a:pPr>
              <a:spcAft>
                <a:spcPts val="600"/>
              </a:spcAft>
              <a:buNone/>
            </a:pPr>
            <a:r>
              <a:rPr sz="950" b="0" i="0">
                <a:solidFill>
                  <a:srgbClr val="555566"/>
                </a:solidFill>
                <a:latin typeface="Arial"/>
              </a:rPr>
              <a:t>Hourly events streamed to HDFS</a:t>
            </a:r>
          </a:p>
          <a:p>
            <a:pPr>
              <a:spcAft>
                <a:spcPts val="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Hugging Face Hub</a:t>
            </a:r>
          </a:p>
          <a:p>
            <a:pPr>
              <a:spcAft>
                <a:spcPts val="600"/>
              </a:spcAft>
              <a:buNone/>
            </a:pPr>
            <a:r>
              <a:rPr sz="950" b="0" i="0">
                <a:solidFill>
                  <a:srgbClr val="555566"/>
                </a:solidFill>
                <a:latin typeface="Arial"/>
              </a:rPr>
              <a:t>Snapshot via huggingface_hub API</a:t>
            </a:r>
          </a:p>
          <a:p>
            <a:pPr>
              <a:spcAft>
                <a:spcPts val="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PyPI / BigQuery</a:t>
            </a:r>
          </a:p>
          <a:p>
            <a:pPr>
              <a:spcAft>
                <a:spcPts val="600"/>
              </a:spcAft>
              <a:buNone/>
            </a:pPr>
            <a:r>
              <a:rPr sz="950" b="0" i="0">
                <a:solidFill>
                  <a:srgbClr val="555566"/>
                </a:solidFill>
                <a:latin typeface="Arial"/>
              </a:rPr>
              <a:t>Monthly download counts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920240"/>
            <a:ext cx="2286000" cy="22860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Job 01–03</a:t>
            </a:r>
          </a:p>
          <a:p>
            <a:pPr>
              <a:spcAft>
                <a:spcPts val="600"/>
              </a:spcAft>
              <a:buNone/>
            </a:pPr>
            <a:r>
              <a:rPr sz="950" b="0" i="0">
                <a:solidFill>
                  <a:srgbClr val="555566"/>
                </a:solidFill>
                <a:latin typeface="Arial"/>
              </a:rPr>
              <a:t>Daily metrics · HF/GH join · health score</a:t>
            </a:r>
          </a:p>
          <a:p>
            <a:pPr>
              <a:spcAft>
                <a:spcPts val="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Job 04</a:t>
            </a:r>
          </a:p>
          <a:p>
            <a:pPr>
              <a:spcAft>
                <a:spcPts val="600"/>
              </a:spcAft>
              <a:buNone/>
            </a:pPr>
            <a:r>
              <a:rPr sz="950" b="0" i="0">
                <a:solidFill>
                  <a:srgbClr val="555566"/>
                </a:solidFill>
                <a:latin typeface="Arial"/>
              </a:rPr>
              <a:t>Top-1000 repos (full shuffle)</a:t>
            </a:r>
          </a:p>
          <a:p>
            <a:pPr>
              <a:spcAft>
                <a:spcPts val="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Job 05–07</a:t>
            </a:r>
          </a:p>
          <a:p>
            <a:pPr>
              <a:spcAft>
                <a:spcPts val="600"/>
              </a:spcAft>
              <a:buNone/>
            </a:pPr>
            <a:r>
              <a:rPr sz="950" b="0" i="0">
                <a:solidFill>
                  <a:srgbClr val="555566"/>
                </a:solidFill>
                <a:latin typeface="Arial"/>
              </a:rPr>
              <a:t>AI vs General · Star hype · Contributor health</a:t>
            </a:r>
          </a:p>
          <a:p>
            <a:pPr>
              <a:spcAft>
                <a:spcPts val="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Job 08–09</a:t>
            </a:r>
          </a:p>
          <a:p>
            <a:pPr>
              <a:spcAft>
                <a:spcPts val="600"/>
              </a:spcAft>
              <a:buNone/>
            </a:pPr>
            <a:r>
              <a:rPr sz="950" b="0" i="0">
                <a:solidFill>
                  <a:srgbClr val="555566"/>
                </a:solidFill>
                <a:latin typeface="Arial"/>
              </a:rPr>
              <a:t>Era comparison · Repo deep-dive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920240"/>
            <a:ext cx="2286000" cy="22860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health_score.csv</a:t>
            </a:r>
          </a:p>
          <a:p>
            <a:pPr>
              <a:spcAft>
                <a:spcPts val="600"/>
              </a:spcAft>
              <a:buNone/>
            </a:pPr>
            <a:r>
              <a:rPr sz="950" b="0" i="0">
                <a:solidFill>
                  <a:srgbClr val="555566"/>
                </a:solidFill>
                <a:latin typeface="Arial"/>
              </a:rPr>
              <a:t>36 AI repos · 6 signals</a:t>
            </a:r>
          </a:p>
          <a:p>
            <a:pPr>
              <a:spcAft>
                <a:spcPts val="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top_repos_all.csv</a:t>
            </a:r>
          </a:p>
          <a:p>
            <a:pPr>
              <a:spcAft>
                <a:spcPts val="600"/>
              </a:spcAft>
              <a:buNone/>
            </a:pPr>
            <a:r>
              <a:rPr sz="950" b="0" i="0">
                <a:solidFill>
                  <a:srgbClr val="555566"/>
                </a:solidFill>
                <a:latin typeface="Arial"/>
              </a:rPr>
              <a:t>1,000 repos ranked</a:t>
            </a:r>
          </a:p>
          <a:p>
            <a:pPr>
              <a:spcAft>
                <a:spcPts val="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contributor_health.csv</a:t>
            </a:r>
          </a:p>
          <a:p>
            <a:pPr>
              <a:spcAft>
                <a:spcPts val="600"/>
              </a:spcAft>
              <a:buNone/>
            </a:pPr>
            <a:r>
              <a:rPr sz="950" b="0" i="0">
                <a:solidFill>
                  <a:srgbClr val="555566"/>
                </a:solidFill>
                <a:latin typeface="Arial"/>
              </a:rPr>
              <a:t>Bus-factor analytics</a:t>
            </a:r>
          </a:p>
          <a:p>
            <a:pPr>
              <a:spcAft>
                <a:spcPts val="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Tableau dashboards</a:t>
            </a:r>
          </a:p>
          <a:p>
            <a:pPr>
              <a:spcAft>
                <a:spcPts val="600"/>
              </a:spcAft>
              <a:buNone/>
            </a:pPr>
            <a:r>
              <a:rPr sz="950" b="0" i="0">
                <a:solidFill>
                  <a:srgbClr val="555566"/>
                </a:solidFill>
                <a:latin typeface="Arial"/>
              </a:rPr>
              <a:t>For stakeholders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4434840"/>
            <a:ext cx="8321040" cy="384048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434840"/>
            <a:ext cx="813816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Health score = </a:t>
            </a:r>
            <a:r>
              <a:rPr sz="1100" b="0" i="0">
                <a:solidFill>
                  <a:srgbClr val="22222E"/>
                </a:solidFill>
                <a:latin typeface="Consolas"/>
              </a:rPr>
              <a:t>Σ log1p(metric_i) × weight_i  </a:t>
            </a:r>
            <a:r>
              <a:rPr sz="950" b="0" i="1">
                <a:solidFill>
                  <a:srgbClr val="555566"/>
                </a:solidFill>
                <a:latin typeface="Arial"/>
              </a:rPr>
              <a:t>(HF 30% · PyPI 20% · GH stars 15% · pushes 15% · PRs 10% · active 10%)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200" b="1" i="0">
                <a:solidFill>
                  <a:srgbClr val="57068C"/>
                </a:solidFill>
                <a:latin typeface="Arial"/>
              </a:rPr>
              <a:t>CODE CHALLENGE  ·  HDFS QUOTA &amp; ROLLING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78992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8900E1"/>
                </a:solidFill>
                <a:latin typeface="Arial"/>
              </a:rPr>
              <a:t>Challenge owner: jl17797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4160520" cy="30175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54480"/>
            <a:ext cx="3794760" cy="2743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200"/>
              </a:spcAft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Challenge</a:t>
            </a:r>
          </a:p>
          <a:p>
            <a:pPr>
              <a:spcAft>
                <a:spcPts val="800"/>
              </a:spcAft>
              <a:buNone/>
            </a:pPr>
            <a:r>
              <a:rPr sz="1100" b="0" i="0">
                <a:solidFill>
                  <a:srgbClr val="22222E"/>
                </a:solidFill>
                <a:latin typeface="Arial"/>
              </a:rPr>
              <a:t>5-month freshness gap (Dec 2025 – Apr 2026) needed 3,624 hourly files; 5 years × Q1 raw ≈ 700 GB but the HDFS quota is a 500 GB hard limit.</a:t>
            </a:r>
          </a:p>
          <a:p>
            <a:pPr>
              <a:spcAft>
                <a:spcPts val="200"/>
              </a:spcAft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Solution</a:t>
            </a:r>
          </a:p>
          <a:p>
            <a:pPr>
              <a:buNone/>
            </a:pPr>
            <a:r>
              <a:rPr sz="1100" b="0" i="0">
                <a:solidFill>
                  <a:srgbClr val="22222E"/>
                </a:solidFill>
                <a:latin typeface="Arial"/>
              </a:rPr>
              <a:t>Stream curl → hdfs put directly (no /tmp); resolve resume with one hdfs ls + local grep. Then a rolling pipeline: download → Spark clean → delete raw → next year. Cleaned Parquet is 8× smaller than raw .gz.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417320"/>
            <a:ext cx="4160520" cy="3017520"/>
          </a:xfrm>
          <a:prstGeom prst="roundRect">
            <a:avLst/>
          </a:prstGeom>
          <a:solidFill>
            <a:srgbClr val="F8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0" y="1554480"/>
            <a:ext cx="3794760" cy="2743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200"/>
              </a:spcAft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Key code</a:t>
            </a:r>
          </a:p>
          <a:p>
            <a:pPr>
              <a:spcAft>
                <a:spcPts val="100"/>
              </a:spcAft>
              <a:buNone/>
            </a:pPr>
            <a:r>
              <a:rPr sz="950" b="0" i="0">
                <a:solidFill>
                  <a:srgbClr val="22222E"/>
                </a:solidFill>
                <a:latin typeface="Consolas"/>
              </a:rPr>
              <a:t>hdfs dfs -ls "$HDFS_DEST" | awk '{print $NF}' \</a:t>
            </a:r>
          </a:p>
          <a:p>
            <a:pPr>
              <a:spcAft>
                <a:spcPts val="100"/>
              </a:spcAft>
              <a:buNone/>
            </a:pPr>
            <a:r>
              <a:rPr sz="950" b="0" i="0">
                <a:solidFill>
                  <a:srgbClr val="22222E"/>
                </a:solidFill>
                <a:latin typeface="Consolas"/>
              </a:rPr>
              <a:t>    | sed 's|.*/||' &gt; existing.txt</a:t>
            </a:r>
          </a:p>
          <a:p>
            <a:pPr>
              <a:spcAft>
                <a:spcPts val="100"/>
              </a:spcAft>
              <a:buNone/>
            </a:pPr>
            <a:r>
              <a:rPr sz="950" b="0" i="0">
                <a:solidFill>
                  <a:srgbClr val="22222E"/>
                </a:solidFill>
                <a:latin typeface="Consolas"/>
              </a:rPr>
              <a:t>curl -sfL "$URL" | hdfs dfs -put -f - \</a:t>
            </a:r>
          </a:p>
          <a:p>
            <a:pPr>
              <a:spcAft>
                <a:spcPts val="100"/>
              </a:spcAft>
              <a:buNone/>
            </a:pPr>
            <a:r>
              <a:rPr sz="950" b="0" i="0">
                <a:solidFill>
                  <a:srgbClr val="22222E"/>
                </a:solidFill>
                <a:latin typeface="Consolas"/>
              </a:rPr>
              <a:t>    "$HDFS_DEST/$fname"</a:t>
            </a:r>
          </a:p>
          <a:p>
            <a:pPr>
              <a:spcAft>
                <a:spcPts val="100"/>
              </a:spcAft>
              <a:buNone/>
            </a:pPr>
            <a:r>
              <a:rPr sz="950" b="0" i="0">
                <a:solidFill>
                  <a:srgbClr val="22222E"/>
                </a:solidFill>
                <a:latin typeface="Consolas"/>
              </a:rPr>
              <a:t>spark-submit 00_clean_gharchive_2022q1.py</a:t>
            </a:r>
          </a:p>
          <a:p>
            <a:pPr>
              <a:spcAft>
                <a:spcPts val="100"/>
              </a:spcAft>
              <a:buNone/>
            </a:pPr>
            <a:r>
              <a:rPr sz="950" b="0" i="0">
                <a:solidFill>
                  <a:srgbClr val="22222E"/>
                </a:solidFill>
                <a:latin typeface="Consolas"/>
              </a:rPr>
              <a:t>hdfs dfs -rm -r "$RAW_2022"   # free ~151 GB</a:t>
            </a:r>
          </a:p>
          <a:p>
            <a:pPr>
              <a:spcBef>
                <a:spcPts val="80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Outcome</a:t>
            </a:r>
          </a:p>
          <a:p>
            <a:pPr>
              <a:buNone/>
            </a:pPr>
            <a:r>
              <a:rPr sz="1100" b="0" i="0">
                <a:solidFill>
                  <a:srgbClr val="22222E"/>
                </a:solidFill>
                <a:latin typeface="Arial"/>
              </a:rPr>
              <a:t>5-year Q1 timeline (2022–2026) ingested within the 500 GB quota.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200" b="1" i="0">
                <a:solidFill>
                  <a:srgbClr val="57068C"/>
                </a:solidFill>
                <a:latin typeface="Arial"/>
              </a:rPr>
              <a:t>CODE CHALLENGE  ·  ERA COMPARISON AT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78992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8900E1"/>
                </a:solidFill>
                <a:latin typeface="Arial"/>
              </a:rPr>
              <a:t>Challenge owner: jl17797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4160520" cy="30175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54480"/>
            <a:ext cx="3794760" cy="2743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200"/>
              </a:spcAft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Challenge</a:t>
            </a:r>
          </a:p>
          <a:p>
            <a:pPr>
              <a:spcAft>
                <a:spcPts val="800"/>
              </a:spcAft>
              <a:buNone/>
            </a:pPr>
            <a:r>
              <a:rPr sz="1100" b="0" i="0">
                <a:solidFill>
                  <a:srgbClr val="22222E"/>
                </a:solidFill>
                <a:latin typeface="Arial"/>
              </a:rPr>
              <a:t>Job 08 aggregates ~90 GB across 5 eras on 48 GB executors. The naïve cache-all-then-aggregate spilled to disk and YARN killed the job after 1.5 h. PR events also double-count due to opened/closed/synchronize lifecycle.</a:t>
            </a:r>
          </a:p>
          <a:p>
            <a:pPr>
              <a:spcAft>
                <a:spcPts val="200"/>
              </a:spcAft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Solution</a:t>
            </a:r>
          </a:p>
          <a:p>
            <a:pPr>
              <a:buNone/>
            </a:pPr>
            <a:r>
              <a:rPr sz="1100" b="0" i="0">
                <a:solidFill>
                  <a:srgbClr val="22222E"/>
                </a:solidFill>
                <a:latin typeface="Arial"/>
              </a:rPr>
              <a:t>Per-era processing (15–23 GB each), column pruning, merged aggregations, and dynamic spark.sql.shuffle.partitions. PRs counted with countDistinct(pr_number) and filtered to closed + merged.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417320"/>
            <a:ext cx="4160520" cy="3017520"/>
          </a:xfrm>
          <a:prstGeom prst="roundRect">
            <a:avLst/>
          </a:prstGeom>
          <a:solidFill>
            <a:srgbClr val="F8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0" y="1554480"/>
            <a:ext cx="3794760" cy="2743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200"/>
              </a:spcAft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Key code</a:t>
            </a:r>
          </a:p>
          <a:p>
            <a:pPr>
              <a:spcAft>
                <a:spcPts val="100"/>
              </a:spcAft>
              <a:buNone/>
            </a:pPr>
            <a:r>
              <a:rPr sz="950" b="0" i="0">
                <a:solidFill>
                  <a:srgbClr val="22222E"/>
                </a:solidFill>
                <a:latin typeface="Consolas"/>
              </a:rPr>
              <a:t>spark.conf.set(</a:t>
            </a:r>
          </a:p>
          <a:p>
            <a:pPr>
              <a:spcAft>
                <a:spcPts val="100"/>
              </a:spcAft>
              <a:buNone/>
            </a:pPr>
            <a:r>
              <a:rPr sz="950" b="0" i="0">
                <a:solidFill>
                  <a:srgbClr val="22222E"/>
                </a:solidFill>
                <a:latin typeface="Consolas"/>
              </a:rPr>
              <a:t>    "spark.sql.shuffle.partitions", "24")</a:t>
            </a:r>
          </a:p>
          <a:p>
            <a:pPr>
              <a:spcAft>
                <a:spcPts val="100"/>
              </a:spcAft>
              <a:buNone/>
            </a:pPr>
            <a:r>
              <a:rPr sz="950" b="0" i="0">
                <a:solidFill>
                  <a:srgbClr val="22222E"/>
                </a:solidFill>
                <a:latin typeface="Consolas"/>
              </a:rPr>
              <a:t>F.countDistinct(F.when(</a:t>
            </a:r>
          </a:p>
          <a:p>
            <a:pPr>
              <a:spcAft>
                <a:spcPts val="100"/>
              </a:spcAft>
              <a:buNone/>
            </a:pPr>
            <a:r>
              <a:rPr sz="950" b="0" i="0">
                <a:solidFill>
                  <a:srgbClr val="22222E"/>
                </a:solidFill>
                <a:latin typeface="Consolas"/>
              </a:rPr>
              <a:t>    (F.col("payload_action")=="closed") &amp;</a:t>
            </a:r>
          </a:p>
          <a:p>
            <a:pPr>
              <a:spcAft>
                <a:spcPts val="100"/>
              </a:spcAft>
              <a:buNone/>
            </a:pPr>
            <a:r>
              <a:rPr sz="950" b="0" i="0">
                <a:solidFill>
                  <a:srgbClr val="22222E"/>
                </a:solidFill>
                <a:latin typeface="Consolas"/>
              </a:rPr>
              <a:t>    (F.col("pr_merged").eqNullSafe(True)),</a:t>
            </a:r>
          </a:p>
          <a:p>
            <a:pPr>
              <a:spcAft>
                <a:spcPts val="100"/>
              </a:spcAft>
              <a:buNone/>
            </a:pPr>
            <a:r>
              <a:rPr sz="950" b="0" i="0">
                <a:solidFill>
                  <a:srgbClr val="22222E"/>
                </a:solidFill>
                <a:latin typeface="Consolas"/>
              </a:rPr>
              <a:t>    F.col("pr_number")</a:t>
            </a:r>
          </a:p>
          <a:p>
            <a:pPr>
              <a:spcAft>
                <a:spcPts val="100"/>
              </a:spcAft>
              <a:buNone/>
            </a:pPr>
            <a:r>
              <a:rPr sz="950" b="0" i="0">
                <a:solidFill>
                  <a:srgbClr val="22222E"/>
                </a:solidFill>
                <a:latin typeface="Consolas"/>
              </a:rPr>
              <a:t>)).alias("merged_prs")</a:t>
            </a:r>
          </a:p>
          <a:p>
            <a:pPr>
              <a:spcBef>
                <a:spcPts val="80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Outcome</a:t>
            </a:r>
          </a:p>
          <a:p>
            <a:pPr>
              <a:buNone/>
            </a:pPr>
            <a:r>
              <a:rPr sz="1100" b="0" i="0">
                <a:solidFill>
                  <a:srgbClr val="22222E"/>
                </a:solidFill>
                <a:latin typeface="Arial"/>
              </a:rPr>
              <a:t>Runtime 2–3 h (killed) → 40–60 min · peak memory 90 GB → 15–23 GB.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200" b="1" i="0">
                <a:solidFill>
                  <a:srgbClr val="57068C"/>
                </a:solidFill>
                <a:latin typeface="Arial"/>
              </a:rPr>
              <a:t>CODE CHALLENGE  ·  BILLION-RECORD SHUFFLE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78992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8900E1"/>
                </a:solidFill>
                <a:latin typeface="Arial"/>
              </a:rPr>
              <a:t>Challenge owner: by2566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4160520" cy="30175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54480"/>
            <a:ext cx="3794760" cy="2743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200"/>
              </a:spcAft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Challenge</a:t>
            </a:r>
          </a:p>
          <a:p>
            <a:pPr>
              <a:spcAft>
                <a:spcPts val="800"/>
              </a:spcAft>
              <a:buNone/>
            </a:pPr>
            <a:r>
              <a:rPr sz="1100" b="0" i="0">
                <a:solidFill>
                  <a:srgbClr val="22222E"/>
                </a:solidFill>
                <a:latin typeface="Arial"/>
              </a:rPr>
              <a:t>GH Archive is partitioned by event_date (334 partitions), but ecosystem analysis groups by repo_name. Top-1000 repos across 1B+ events forces a full cross-partition shuffle: 72 GB input → 83 GB shuffle on 2 workers, 3+ hours.</a:t>
            </a:r>
          </a:p>
          <a:p>
            <a:pPr>
              <a:spcAft>
                <a:spcPts val="200"/>
              </a:spcAft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Solution</a:t>
            </a:r>
          </a:p>
          <a:p>
            <a:pPr>
              <a:buNone/>
            </a:pPr>
            <a:r>
              <a:rPr sz="1100" b="0" i="0">
                <a:solidFill>
                  <a:srgbClr val="22222E"/>
                </a:solidFill>
                <a:latin typeface="Arial"/>
              </a:rPr>
              <a:t>Tuned spark.sql.shuffle.partitions, cached the aggregated DataFrame so multi-write actions don't re-shuffle, and rebuilt jobs 05–07 to read Job 04 output. Replaced Python UDFs with native F.col().isin().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417320"/>
            <a:ext cx="4160520" cy="3017520"/>
          </a:xfrm>
          <a:prstGeom prst="roundRect">
            <a:avLst/>
          </a:prstGeom>
          <a:solidFill>
            <a:srgbClr val="F8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0" y="1554480"/>
            <a:ext cx="3794760" cy="2743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200"/>
              </a:spcAft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Key code</a:t>
            </a:r>
          </a:p>
          <a:p>
            <a:pPr>
              <a:spcAft>
                <a:spcPts val="100"/>
              </a:spcAft>
              <a:buNone/>
            </a:pPr>
            <a:r>
              <a:rPr sz="950" b="0" i="0">
                <a:solidFill>
                  <a:srgbClr val="22222E"/>
                </a:solidFill>
                <a:latin typeface="Consolas"/>
              </a:rPr>
              <a:t>spark.conf.set(</a:t>
            </a:r>
          </a:p>
          <a:p>
            <a:pPr>
              <a:spcAft>
                <a:spcPts val="100"/>
              </a:spcAft>
              <a:buNone/>
            </a:pPr>
            <a:r>
              <a:rPr sz="950" b="0" i="0">
                <a:solidFill>
                  <a:srgbClr val="22222E"/>
                </a:solidFill>
                <a:latin typeface="Consolas"/>
              </a:rPr>
              <a:t>    "spark.sql.shuffle.partitions", "400")</a:t>
            </a:r>
          </a:p>
          <a:p>
            <a:pPr>
              <a:spcAft>
                <a:spcPts val="100"/>
              </a:spcAft>
              <a:buNone/>
            </a:pPr>
            <a:r>
              <a:rPr sz="950" b="0" i="0">
                <a:solidFill>
                  <a:srgbClr val="22222E"/>
                </a:solidFill>
                <a:latin typeface="Consolas"/>
              </a:rPr>
              <a:t>repo_stats = gh.groupBy("repo_name").agg(</a:t>
            </a:r>
          </a:p>
          <a:p>
            <a:pPr>
              <a:spcAft>
                <a:spcPts val="100"/>
              </a:spcAft>
              <a:buNone/>
            </a:pPr>
            <a:r>
              <a:rPr sz="950" b="0" i="0">
                <a:solidFill>
                  <a:srgbClr val="22222E"/>
                </a:solidFill>
                <a:latin typeface="Consolas"/>
              </a:rPr>
              <a:t>  F.countDistinct("actor_login")</a:t>
            </a:r>
          </a:p>
          <a:p>
            <a:pPr>
              <a:spcAft>
                <a:spcPts val="100"/>
              </a:spcAft>
              <a:buNone/>
            </a:pPr>
            <a:r>
              <a:rPr sz="950" b="0" i="0">
                <a:solidFill>
                  <a:srgbClr val="22222E"/>
                </a:solidFill>
                <a:latin typeface="Consolas"/>
              </a:rPr>
              <a:t>      .alias("distinct_actors"),</a:t>
            </a:r>
          </a:p>
          <a:p>
            <a:pPr>
              <a:spcAft>
                <a:spcPts val="100"/>
              </a:spcAft>
              <a:buNone/>
            </a:pPr>
            <a:r>
              <a:rPr sz="950" b="0" i="0">
                <a:solidFill>
                  <a:srgbClr val="22222E"/>
                </a:solidFill>
                <a:latin typeface="Consolas"/>
              </a:rPr>
              <a:t>  F.sum(...).alias("total_stars"))</a:t>
            </a:r>
          </a:p>
          <a:p>
            <a:pPr>
              <a:spcAft>
                <a:spcPts val="100"/>
              </a:spcAft>
              <a:buNone/>
            </a:pPr>
            <a:r>
              <a:rPr sz="950" b="0" i="0">
                <a:solidFill>
                  <a:srgbClr val="22222E"/>
                </a:solidFill>
                <a:latin typeface="Consolas"/>
              </a:rPr>
              <a:t>.orderBy(F.desc("total_stars")).cache()</a:t>
            </a:r>
          </a:p>
          <a:p>
            <a:pPr>
              <a:spcBef>
                <a:spcPts val="80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Outcome</a:t>
            </a:r>
          </a:p>
          <a:p>
            <a:pPr>
              <a:buNone/>
            </a:pPr>
            <a:r>
              <a:rPr sz="1100" b="0" i="0">
                <a:solidFill>
                  <a:srgbClr val="22222E"/>
                </a:solidFill>
                <a:latin typeface="Arial"/>
              </a:rPr>
              <a:t>At billion-record scale, network I/O (shuffle) dominates compute.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0" y="548640"/>
            <a:ext cx="2926080" cy="40233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16000" b="1" i="0">
                <a:solidFill>
                  <a:srgbClr val="8900E1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05840"/>
            <a:ext cx="5486400" cy="2194560"/>
          </a:xfrm>
          <a:prstGeom prst="rect">
            <a:avLst/>
          </a:prstGeom>
          <a:noFill/>
        </p:spPr>
        <p:txBody>
          <a:bodyPr wrap="square" lIns="36576" rIns="36576" tIns="36576" bIns="36576" anchor="b">
            <a:spAutoFit/>
          </a:bodyPr>
          <a:lstStyle/>
          <a:p>
            <a:pPr algn="l">
              <a:buNone/>
            </a:pPr>
            <a:r>
              <a:rPr sz="4800" b="1" i="0">
                <a:solidFill>
                  <a:srgbClr val="FFFFFF"/>
                </a:solidFill>
                <a:latin typeface="Arial"/>
              </a:rPr>
              <a:t>RESULTS
&amp; FINDINGS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3310128"/>
            <a:ext cx="457200" cy="457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3456432"/>
            <a:ext cx="54864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buNone/>
            </a:pPr>
            <a:r>
              <a:rPr sz="1400" b="0" i="0">
                <a:solidFill>
                  <a:srgbClr val="E6CFFF"/>
                </a:solidFill>
                <a:latin typeface="Arial"/>
              </a:rPr>
              <a:t>Nine findings across 36 AI repos and 1,000 ecosystem repos.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572000"/>
            <a:ext cx="457200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buNone/>
            </a:pPr>
            <a:r>
              <a:rPr sz="1000" b="1" i="0">
                <a:solidFill>
                  <a:srgbClr val="FFFFFF"/>
                </a:solidFill>
                <a:latin typeface="Arial"/>
              </a:rPr>
              <a:t>OSS PULSE  /  GROUP 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600" b="1" i="0">
                <a:solidFill>
                  <a:srgbClr val="57068C"/>
                </a:solidFill>
                <a:latin typeface="Arial"/>
              </a:rPr>
              <a:t>FINDING 1  ·  THE THREE-WAY CHAMPION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508760"/>
            <a:ext cx="8321040" cy="20116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16000" b="1" i="0">
                <a:solidFill>
                  <a:srgbClr val="57068C"/>
                </a:solidFill>
                <a:latin typeface="Arial"/>
              </a:rPr>
              <a:t>14.68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520440"/>
            <a:ext cx="83210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1500" b="1" i="0">
                <a:solidFill>
                  <a:srgbClr val="8900E1"/>
                </a:solidFill>
                <a:latin typeface="Arial"/>
              </a:rPr>
              <a:t>TRANSFORMERS  ·  HEALTH SCORE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77639"/>
            <a:ext cx="795528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8900E1"/>
                </a:solidFill>
                <a:latin typeface="Arial"/>
              </a:rPr>
              <a:t>938M </a:t>
            </a:r>
            <a:r>
              <a:rPr sz="1200" b="0" i="0">
                <a:solidFill>
                  <a:srgbClr val="22222E"/>
                </a:solidFill>
                <a:latin typeface="Arial"/>
              </a:rPr>
              <a:t>PyPI downloads/yr  ·  </a:t>
            </a:r>
            <a:r>
              <a:rPr sz="1300" b="1" i="0">
                <a:solidFill>
                  <a:srgbClr val="8900E1"/>
                </a:solidFill>
                <a:latin typeface="Arial"/>
              </a:rPr>
              <a:t>834,591 </a:t>
            </a:r>
            <a:r>
              <a:rPr sz="1200" b="0" i="0">
                <a:solidFill>
                  <a:srgbClr val="22222E"/>
                </a:solidFill>
                <a:latin typeface="Arial"/>
              </a:rPr>
              <a:t>HF models depend on it  ·  </a:t>
            </a:r>
            <a:r>
              <a:rPr sz="1300" b="1" i="0">
                <a:solidFill>
                  <a:srgbClr val="8900E1"/>
                </a:solidFill>
                <a:latin typeface="Arial"/>
              </a:rPr>
              <a:t>332/365 </a:t>
            </a:r>
            <a:r>
              <a:rPr sz="1200" b="0" i="0">
                <a:solidFill>
                  <a:srgbClr val="22222E"/>
                </a:solidFill>
                <a:latin typeface="Arial"/>
              </a:rPr>
              <a:t>active days.</a:t>
            </a:r>
          </a:p>
          <a:p>
            <a:pPr algn="ctr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Real ecosystem infrastructure — not a hype spike.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800" b="1" i="0">
                <a:solidFill>
                  <a:srgbClr val="57068C"/>
                </a:solidFill>
                <a:latin typeface="Arial"/>
              </a:rPr>
              <a:t>HYPE  ≠  HEALTH</a:t>
            </a:r>
          </a:p>
          <a:p>
            <a:pPr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Finding 2 — when stars don't mean adoption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400"/>
              </a:spcAft>
              <a:buNone/>
            </a:pPr>
            <a:r>
              <a:rPr sz="1500" b="1" i="0">
                <a:solidFill>
                  <a:srgbClr val="8900E1"/>
                </a:solidFill>
                <a:latin typeface="Arial"/>
              </a:rPr>
              <a:t>OLLAMA</a:t>
            </a:r>
          </a:p>
          <a:p>
            <a:pPr>
              <a:spcAft>
                <a:spcPts val="600"/>
              </a:spcAft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44,259 </a:t>
            </a:r>
            <a:r>
              <a:rPr sz="1100" b="0" i="0">
                <a:solidFill>
                  <a:srgbClr val="22222E"/>
                </a:solidFill>
                <a:latin typeface="Arial"/>
              </a:rPr>
              <a:t>new GitHub stars in 2025 — the most in our set.</a:t>
            </a:r>
          </a:p>
          <a:p>
            <a:pPr>
              <a:spcAft>
                <a:spcPts val="800"/>
              </a:spcAft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241 </a:t>
            </a:r>
            <a:r>
              <a:rPr sz="1100" b="0" i="0">
                <a:solidFill>
                  <a:srgbClr val="22222E"/>
                </a:solidFill>
                <a:latin typeface="Arial"/>
              </a:rPr>
              <a:t>HF model downloads. A local-execution tool whose star count vastly overstates ecosystem reach.</a:t>
            </a:r>
          </a:p>
          <a:p>
            <a:pPr>
              <a:buNone/>
            </a:pPr>
            <a:r>
              <a:rPr sz="1000" b="0" i="1">
                <a:solidFill>
                  <a:srgbClr val="555566"/>
                </a:solidFill>
                <a:latin typeface="Arial"/>
              </a:rPr>
              <a:t>Stars measure attention, not engineering adoption.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>
              <a:spcAft>
                <a:spcPts val="400"/>
              </a:spcAft>
              <a:buNone/>
            </a:pPr>
            <a:r>
              <a:rPr sz="1500" b="1" i="0">
                <a:solidFill>
                  <a:srgbClr val="8900E1"/>
                </a:solidFill>
                <a:latin typeface="Arial"/>
              </a:rPr>
              <a:t>DEEPSEEK-R1 / V3</a:t>
            </a:r>
          </a:p>
          <a:p>
            <a:pPr>
              <a:spcAft>
                <a:spcPts val="600"/>
              </a:spcAft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#2 / #3 </a:t>
            </a:r>
            <a:r>
              <a:rPr sz="1100" b="0" i="0">
                <a:solidFill>
                  <a:srgbClr val="22222E"/>
                </a:solidFill>
                <a:latin typeface="Arial"/>
              </a:rPr>
              <a:t>by stars across the entire top-1000 (86 K + 93 K stars, 93 K distinct actors).</a:t>
            </a:r>
          </a:p>
          <a:p>
            <a:pPr>
              <a:spcAft>
                <a:spcPts val="800"/>
              </a:spcAft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Absent </a:t>
            </a:r>
            <a:r>
              <a:rPr sz="1100" b="0" i="0">
                <a:solidFill>
                  <a:srgbClr val="22222E"/>
                </a:solidFill>
                <a:latin typeface="Arial"/>
              </a:rPr>
              <a:t>from the health-score set — pure model-release hype, no downstream tool ecosystem.</a:t>
            </a:r>
          </a:p>
          <a:p>
            <a:pPr>
              <a:buNone/>
            </a:pPr>
            <a:r>
              <a:rPr sz="1000" b="0" i="1">
                <a:solidFill>
                  <a:srgbClr val="555566"/>
                </a:solidFill>
                <a:latin typeface="Arial"/>
              </a:rPr>
              <a:t>A model release ≠ a sustained ecosystem.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600" b="1" i="0">
                <a:solidFill>
                  <a:srgbClr val="57068C"/>
                </a:solidFill>
                <a:latin typeface="Arial"/>
              </a:rPr>
              <a:t>FINDING 3  ·  QUIET POWERHOUSE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508760"/>
            <a:ext cx="8321040" cy="20116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12000" b="1" i="0">
                <a:solidFill>
                  <a:srgbClr val="57068C"/>
                </a:solidFill>
                <a:latin typeface="Arial"/>
              </a:rPr>
              <a:t>327,014×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520440"/>
            <a:ext cx="83210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1300" b="1" i="0">
                <a:solidFill>
                  <a:srgbClr val="8900E1"/>
                </a:solidFill>
                <a:latin typeface="Arial"/>
              </a:rPr>
              <a:t>HF DOWNLOADS PER GITHUB STAR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977639"/>
            <a:ext cx="813816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sentence-transformers </a:t>
            </a:r>
            <a:r>
              <a:rPr sz="1100" b="0" i="0">
                <a:solidFill>
                  <a:srgbClr val="22222E"/>
                </a:solidFill>
                <a:latin typeface="Arial"/>
              </a:rPr>
              <a:t>gained only </a:t>
            </a:r>
            <a:r>
              <a:rPr sz="1100" b="1" i="0">
                <a:solidFill>
                  <a:srgbClr val="8900E1"/>
                </a:solidFill>
                <a:latin typeface="Arial"/>
              </a:rPr>
              <a:t>1,588 </a:t>
            </a:r>
            <a:r>
              <a:rPr sz="1100" b="0" i="0">
                <a:solidFill>
                  <a:srgbClr val="22222E"/>
                </a:solidFill>
                <a:latin typeface="Arial"/>
              </a:rPr>
              <a:t>new stars in 2025, yet logged </a:t>
            </a:r>
            <a:r>
              <a:rPr sz="1100" b="1" i="0">
                <a:solidFill>
                  <a:srgbClr val="8900E1"/>
                </a:solidFill>
                <a:latin typeface="Arial"/>
              </a:rPr>
              <a:t>519M </a:t>
            </a:r>
            <a:r>
              <a:rPr sz="1100" b="0" i="0">
                <a:solidFill>
                  <a:srgbClr val="22222E"/>
                </a:solidFill>
                <a:latin typeface="Arial"/>
              </a:rPr>
              <a:t>HF downloads — </a:t>
            </a:r>
            <a:r>
              <a:rPr sz="1100" b="1" i="0">
                <a:solidFill>
                  <a:srgbClr val="22222E"/>
                </a:solidFill>
                <a:latin typeface="Arial"/>
              </a:rPr>
              <a:t>3× more efficient than transformers.</a:t>
            </a:r>
          </a:p>
          <a:p>
            <a:pPr algn="ctr">
              <a:buNone/>
            </a:pPr>
            <a:r>
              <a:rPr sz="1000" b="0" i="1">
                <a:solidFill>
                  <a:srgbClr val="555566"/>
                </a:solidFill>
                <a:latin typeface="Arial"/>
              </a:rPr>
              <a:t>GitHub activity systematically undercounts production-pipeline tools.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600" b="1" i="0">
                <a:solidFill>
                  <a:srgbClr val="57068C"/>
                </a:solidFill>
                <a:latin typeface="Arial"/>
              </a:rPr>
              <a:t>TWO PARALLEL UNIVERSES</a:t>
            </a:r>
          </a:p>
          <a:p>
            <a:pPr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Finding 4 — traditional ML and the LLM stack barely overlap. Finding 5 — stars rank low for the healthiest repos.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TRADITIONAL ML  ·  ORCHESTRATION</a:t>
            </a:r>
          </a:p>
          <a:p>
            <a:pPr>
              <a:spcAft>
                <a:spcPts val="6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scikit-learn </a:t>
            </a:r>
            <a:r>
              <a:rPr sz="1000" b="0" i="0">
                <a:solidFill>
                  <a:srgbClr val="22222E"/>
                </a:solidFill>
                <a:latin typeface="Arial"/>
              </a:rPr>
              <a:t>— 1.428B PyPI/yr (largest in set, &gt; transformers); HF downloads ≈ 122.</a:t>
            </a:r>
          </a:p>
          <a:p>
            <a:pPr>
              <a:spcAft>
                <a:spcPts val="6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LangChain </a:t>
            </a:r>
            <a:r>
              <a:rPr sz="1000" b="0" i="0">
                <a:solidFill>
                  <a:srgbClr val="22222E"/>
                </a:solidFill>
                <a:latin typeface="Arial"/>
              </a:rPr>
              <a:t>— PyPI #3 (872M); 1 HF model, 0 downloads.</a:t>
            </a:r>
          </a:p>
          <a:p>
            <a:pPr>
              <a:buNone/>
            </a:pPr>
            <a:r>
              <a:rPr sz="1000" b="0" i="1">
                <a:solidFill>
                  <a:srgbClr val="555566"/>
                </a:solidFill>
                <a:latin typeface="Arial"/>
              </a:rPr>
              <a:t>Engineering tools live on PyPI, not Hugging Face.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>
              <a:spcAft>
                <a:spcPts val="600"/>
              </a:spcAft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STARS — THE WORST PREDICTOR</a:t>
            </a:r>
          </a:p>
          <a:p>
            <a:pPr>
              <a:spcAft>
                <a:spcPts val="400"/>
              </a:spcAft>
              <a:buNone/>
            </a:pPr>
            <a:r>
              <a:rPr sz="1000" b="0" i="0">
                <a:solidFill>
                  <a:srgbClr val="22222E"/>
                </a:solidFill>
                <a:latin typeface="Arial"/>
              </a:rPr>
              <a:t>Top-3 health-score repos rank surprisingly low on stars:</a:t>
            </a:r>
          </a:p>
          <a:p>
            <a:pPr>
              <a:spcAft>
                <a:spcPts val="2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transformers </a:t>
            </a:r>
            <a:r>
              <a:rPr sz="1000" b="0" i="0">
                <a:solidFill>
                  <a:srgbClr val="22222E"/>
                </a:solidFill>
                <a:latin typeface="Arial"/>
              </a:rPr>
              <a:t>→ stars rank #109 / 1000</a:t>
            </a:r>
          </a:p>
          <a:p>
            <a:pPr>
              <a:spcAft>
                <a:spcPts val="2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ultralytics </a:t>
            </a:r>
            <a:r>
              <a:rPr sz="1000" b="0" i="0">
                <a:solidFill>
                  <a:srgbClr val="22222E"/>
                </a:solidFill>
                <a:latin typeface="Arial"/>
              </a:rPr>
              <a:t>→ stars rank #67 / 1000</a:t>
            </a:r>
          </a:p>
          <a:p>
            <a:pPr>
              <a:spcAft>
                <a:spcPts val="8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pytorch </a:t>
            </a:r>
            <a:r>
              <a:rPr sz="1000" b="0" i="0">
                <a:solidFill>
                  <a:srgbClr val="22222E"/>
                </a:solidFill>
                <a:latin typeface="Arial"/>
              </a:rPr>
              <a:t>→ stars rank #186 / 1000</a:t>
            </a:r>
          </a:p>
          <a:p>
            <a:pPr>
              <a:buNone/>
            </a:pPr>
            <a:r>
              <a:rPr sz="1000" b="0" i="1">
                <a:solidFill>
                  <a:srgbClr val="555566"/>
                </a:solidFill>
                <a:latin typeface="Arial"/>
              </a:rPr>
              <a:t>PyPI + HF together capture real adoption signal.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600" b="1" i="0">
                <a:solidFill>
                  <a:srgbClr val="57068C"/>
                </a:solidFill>
                <a:latin typeface="Arial"/>
              </a:rPr>
              <a:t>STAR HYPE  &amp;  BUS-FACTOR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78992"/>
            <a:ext cx="83210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Findings 6–7  ·  star spikes vs. true single-maintainer risk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4078224" cy="30175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4078224" cy="38404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389534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STAR-GROWTH HYPE  ·  n = 1,000 repos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3621024" cy="23774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2200" b="1" i="0">
                <a:solidFill>
                  <a:srgbClr val="57068C"/>
                </a:solidFill>
                <a:latin typeface="Arial"/>
              </a:rPr>
              <a:t>40%  </a:t>
            </a:r>
            <a:r>
              <a:rPr sz="1100" b="0" i="0">
                <a:solidFill>
                  <a:srgbClr val="22222E"/>
                </a:solidFill>
                <a:latin typeface="Arial"/>
              </a:rPr>
              <a:t>of repos hit peak_ratio &gt; 3× — most don't sustain it.</a:t>
            </a:r>
          </a:p>
          <a:p>
            <a:pPr>
              <a:spcAft>
                <a:spcPts val="800"/>
              </a:spcAft>
              <a:buNone/>
            </a:pPr>
            <a:r>
              <a:rPr sz="1600" b="1" i="0">
                <a:solidFill>
                  <a:srgbClr val="8900E1"/>
                </a:solidFill>
                <a:latin typeface="Arial"/>
              </a:rPr>
              <a:t>0.2%  </a:t>
            </a:r>
            <a:r>
              <a:rPr sz="1100" b="0" i="0">
                <a:solidFill>
                  <a:srgbClr val="22222E"/>
                </a:solidFill>
                <a:latin typeface="Arial"/>
              </a:rPr>
              <a:t>(2 of 1000) cross peak_ratio &gt; 10× — extreme spikes are rare.</a:t>
            </a:r>
          </a:p>
          <a:p>
            <a:pPr>
              <a:spcAft>
                <a:spcPts val="6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Counter-intuitive — </a:t>
            </a:r>
            <a:r>
              <a:rPr sz="1100" b="0" i="0">
                <a:solidFill>
                  <a:srgbClr val="22222E"/>
                </a:solidFill>
                <a:latin typeface="Arial"/>
              </a:rPr>
              <a:t>AI repos average </a:t>
            </a:r>
            <a:r>
              <a:rPr sz="1100" b="1" i="0">
                <a:solidFill>
                  <a:srgbClr val="8900E1"/>
                </a:solidFill>
                <a:latin typeface="Arial"/>
              </a:rPr>
              <a:t>peak_ratio 2.10</a:t>
            </a:r>
            <a:r>
              <a:rPr sz="1100" b="0" i="0">
                <a:solidFill>
                  <a:srgbClr val="22222E"/>
                </a:solidFill>
                <a:latin typeface="Arial"/>
              </a:rPr>
              <a:t> vs </a:t>
            </a:r>
            <a:r>
              <a:rPr sz="1100" b="1" i="0">
                <a:solidFill>
                  <a:srgbClr val="8900E1"/>
                </a:solidFill>
                <a:latin typeface="Arial"/>
              </a:rPr>
              <a:t>3.17</a:t>
            </a:r>
            <a:r>
              <a:rPr sz="1100" b="0" i="0">
                <a:solidFill>
                  <a:srgbClr val="22222E"/>
                </a:solidFill>
                <a:latin typeface="Arial"/>
              </a:rPr>
              <a:t> for non-AI. Mature frameworks grow steadily, not virally.</a:t>
            </a:r>
          </a:p>
          <a:p>
            <a:pPr>
              <a:buNone/>
            </a:pPr>
            <a:r>
              <a:rPr sz="1000" b="0" i="1">
                <a:solidFill>
                  <a:srgbClr val="555566"/>
                </a:solidFill>
                <a:latin typeface="Arial"/>
              </a:rPr>
              <a:t>“A high peak ratio means viral. High totals with a low peak ratio means healthy.”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54296" y="1417320"/>
            <a:ext cx="4078224" cy="30175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54296" y="1417320"/>
            <a:ext cx="4078224" cy="38404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37176" y="1417320"/>
            <a:ext cx="389534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BUS-FACTOR  ·  top1_push_ratio · pr_contributors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8888" y="1920240"/>
            <a:ext cx="169164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Repo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5" y="1920240"/>
            <a:ext cx="5029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top1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6016" y="1920240"/>
            <a:ext cx="45720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PRs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1776" y="1920240"/>
            <a:ext cx="169164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8888" y="2231136"/>
            <a:ext cx="169164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0" i="0">
                <a:solidFill>
                  <a:srgbClr val="22222E"/>
                </a:solidFill>
                <a:latin typeface="Arial"/>
              </a:rPr>
              <a:t>hiyouga/llama-factory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5" y="2231136"/>
            <a:ext cx="5029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57068C"/>
                </a:solidFill>
                <a:latin typeface="Arial"/>
              </a:rPr>
              <a:t>0.961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2231136"/>
            <a:ext cx="45720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0" i="0">
                <a:solidFill>
                  <a:srgbClr val="22222E"/>
                </a:solidFill>
                <a:latin typeface="Arial"/>
              </a:rPr>
              <a:t>123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51776" y="2231136"/>
            <a:ext cx="169164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0" i="0">
                <a:solidFill>
                  <a:srgbClr val="22222E"/>
                </a:solidFill>
                <a:latin typeface="Arial"/>
              </a:rPr>
              <a:t>centralized merge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18888" y="2536952"/>
            <a:ext cx="374904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18888" y="2542032"/>
            <a:ext cx="169164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0" i="0">
                <a:solidFill>
                  <a:srgbClr val="22222E"/>
                </a:solidFill>
                <a:latin typeface="Arial"/>
              </a:rPr>
              <a:t>geekan/metagpt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28815" y="2542032"/>
            <a:ext cx="5029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57068C"/>
                </a:solidFill>
                <a:latin typeface="Arial"/>
              </a:rPr>
              <a:t>0.929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2542032"/>
            <a:ext cx="45720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0" i="0">
                <a:solidFill>
                  <a:srgbClr val="22222E"/>
                </a:solidFill>
                <a:latin typeface="Arial"/>
              </a:rPr>
              <a:t>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51776" y="2542032"/>
            <a:ext cx="169164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0" i="0">
                <a:solidFill>
                  <a:srgbClr val="22222E"/>
                </a:solidFill>
                <a:latin typeface="Arial"/>
              </a:rPr>
              <a:t>⚠ true single-maintainer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18888" y="2847848"/>
            <a:ext cx="374904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18888" y="2852928"/>
            <a:ext cx="169164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0" i="0">
                <a:solidFill>
                  <a:srgbClr val="22222E"/>
                </a:solidFill>
                <a:latin typeface="Arial"/>
              </a:rPr>
              <a:t>openai/whisper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28815" y="2852928"/>
            <a:ext cx="5029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57068C"/>
                </a:solidFill>
                <a:latin typeface="Arial"/>
              </a:rPr>
              <a:t>0.875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86016" y="2852928"/>
            <a:ext cx="45720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0" i="0">
                <a:solidFill>
                  <a:srgbClr val="22222E"/>
                </a:solidFill>
                <a:latin typeface="Arial"/>
              </a:rPr>
              <a:t>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51776" y="2852928"/>
            <a:ext cx="169164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0" i="0">
                <a:solidFill>
                  <a:srgbClr val="22222E"/>
                </a:solidFill>
                <a:latin typeface="Arial"/>
              </a:rPr>
              <a:t>moderate risk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18888" y="3158744"/>
            <a:ext cx="374904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18888" y="3163824"/>
            <a:ext cx="169164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0" i="0">
                <a:solidFill>
                  <a:srgbClr val="22222E"/>
                </a:solidFill>
                <a:latin typeface="Arial"/>
              </a:rPr>
              <a:t>unslothai/unsloth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28815" y="3163824"/>
            <a:ext cx="5029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57068C"/>
                </a:solidFill>
                <a:latin typeface="Arial"/>
              </a:rPr>
              <a:t>0.818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86016" y="3163824"/>
            <a:ext cx="45720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0" i="0">
                <a:solidFill>
                  <a:srgbClr val="22222E"/>
                </a:solidFill>
                <a:latin typeface="Arial"/>
              </a:rPr>
              <a:t>166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1776" y="3163824"/>
            <a:ext cx="169164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0" i="0">
                <a:solidFill>
                  <a:srgbClr val="22222E"/>
                </a:solidFill>
                <a:latin typeface="Arial"/>
              </a:rPr>
              <a:t>broad PR community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18888" y="3469640"/>
            <a:ext cx="374904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18888" y="3474720"/>
            <a:ext cx="169164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0" i="0">
                <a:solidFill>
                  <a:srgbClr val="22222E"/>
                </a:solidFill>
                <a:latin typeface="Arial"/>
              </a:rPr>
              <a:t>tensorflow/tensorflow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28815" y="3474720"/>
            <a:ext cx="5029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57068C"/>
                </a:solidFill>
                <a:latin typeface="Arial"/>
              </a:rPr>
              <a:t>0.990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86016" y="3474720"/>
            <a:ext cx="45720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0" i="0">
                <a:solidFill>
                  <a:srgbClr val="22222E"/>
                </a:solidFill>
                <a:latin typeface="Arial"/>
              </a:rPr>
              <a:t>299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51776" y="3474720"/>
            <a:ext cx="169164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0" i="0">
                <a:solidFill>
                  <a:srgbClr val="22222E"/>
                </a:solidFill>
                <a:latin typeface="Arial"/>
              </a:rPr>
              <a:t>CI bot, not human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18888" y="3780536"/>
            <a:ext cx="374904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18888" y="3785616"/>
            <a:ext cx="169164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0" i="0">
                <a:solidFill>
                  <a:srgbClr val="22222E"/>
                </a:solidFill>
                <a:latin typeface="Arial"/>
              </a:rPr>
              <a:t>pytorch/pytorch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8815" y="3785616"/>
            <a:ext cx="5029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57068C"/>
                </a:solidFill>
                <a:latin typeface="Arial"/>
              </a:rPr>
              <a:t>0.140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6016" y="3785616"/>
            <a:ext cx="45720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0" i="0">
                <a:solidFill>
                  <a:srgbClr val="22222E"/>
                </a:solidFill>
                <a:latin typeface="Arial"/>
              </a:rPr>
              <a:t>1,605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51776" y="3785616"/>
            <a:ext cx="169164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0" i="0">
                <a:solidFill>
                  <a:srgbClr val="22222E"/>
                </a:solidFill>
                <a:latin typeface="Arial"/>
              </a:rPr>
              <a:t>✓ healthiest AI framework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18888" y="4091432"/>
            <a:ext cx="374904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18888" y="4096512"/>
            <a:ext cx="169164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0" i="0">
                <a:solidFill>
                  <a:srgbClr val="22222E"/>
                </a:solidFill>
                <a:latin typeface="Arial"/>
              </a:rPr>
              <a:t>huggingface/transformers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28815" y="4096512"/>
            <a:ext cx="5029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57068C"/>
                </a:solidFill>
                <a:latin typeface="Arial"/>
              </a:rPr>
              <a:t>0.191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86016" y="4096512"/>
            <a:ext cx="45720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0" i="0">
                <a:solidFill>
                  <a:srgbClr val="22222E"/>
                </a:solidFill>
                <a:latin typeface="Arial"/>
              </a:rPr>
              <a:t>1,244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51776" y="4096512"/>
            <a:ext cx="169164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950" b="0" i="0">
                <a:solidFill>
                  <a:srgbClr val="22222E"/>
                </a:solidFill>
                <a:latin typeface="Arial"/>
              </a:rPr>
              <a:t>✓ healthy &amp; distributed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818888" y="4402328"/>
            <a:ext cx="374904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800" b="1" i="0">
                <a:solidFill>
                  <a:srgbClr val="22222E"/>
                </a:solidFill>
                <a:latin typeface="Arial"/>
              </a:rPr>
              <a:t>STARS COUNT YOUR AUDIENCE.</a:t>
            </a:r>
          </a:p>
          <a:p>
            <a:pPr>
              <a:buNone/>
            </a:pPr>
            <a:r>
              <a:rPr sz="2800" b="1" i="0">
                <a:solidFill>
                  <a:srgbClr val="22222E"/>
                </a:solidFill>
                <a:latin typeface="Arial"/>
              </a:rPr>
              <a:t>PUSH CONTRIBUTORS COUNT YOUR BUILDERS.</a:t>
            </a:r>
          </a:p>
          <a:p>
            <a:pPr>
              <a:buNone/>
            </a:pPr>
            <a:r>
              <a:rPr sz="2800" b="1" i="0">
                <a:solidFill>
                  <a:srgbClr val="57068C"/>
                </a:solidFill>
                <a:latin typeface="Arial"/>
              </a:rPr>
              <a:t>A HEALTHY PROJECT NEEDS BOTH.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4526280"/>
            <a:ext cx="644652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Findings 8–9  ·  bus-factor analysis across 1,000 ecosystem repos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3000" b="1" i="0">
                <a:solidFill>
                  <a:srgbClr val="57068C"/>
                </a:solidFill>
                <a:latin typeface="Arial"/>
              </a:rPr>
              <a:t>OBSTACLES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200"/>
              </a:spcAft>
              <a:buNone/>
            </a:pPr>
            <a:r>
              <a:rPr sz="1200" b="1" i="0">
                <a:solidFill>
                  <a:srgbClr val="8900E1"/>
                </a:solidFill>
                <a:latin typeface="Arial"/>
              </a:rPr>
              <a:t>1.  HDFS permission boundary</a:t>
            </a:r>
          </a:p>
          <a:p>
            <a:pPr>
              <a:spcAft>
                <a:spcPts val="800"/>
              </a:spcAft>
              <a:buNone/>
            </a:pPr>
            <a:r>
              <a:rPr sz="1100" b="0" i="0">
                <a:solidFill>
                  <a:srgbClr val="22222E"/>
                </a:solidFill>
                <a:latin typeface="Arial"/>
              </a:rPr>
              <a:t>jl17797 has read-only access to by2566's directory; outputs go under jl17797 and Spark unions both paths at read time.</a:t>
            </a:r>
          </a:p>
          <a:p>
            <a:pPr>
              <a:spcAft>
                <a:spcPts val="200"/>
              </a:spcAft>
              <a:buNone/>
            </a:pPr>
            <a:r>
              <a:rPr sz="1200" b="1" i="0">
                <a:solidFill>
                  <a:srgbClr val="8900E1"/>
                </a:solidFill>
                <a:latin typeface="Arial"/>
              </a:rPr>
              <a:t>2.  Data-freshness mismatch</a:t>
            </a:r>
          </a:p>
          <a:p>
            <a:pPr>
              <a:spcAft>
                <a:spcPts val="800"/>
              </a:spcAft>
              <a:buNone/>
            </a:pPr>
            <a:r>
              <a:rPr sz="1100" b="0" i="0">
                <a:solidFill>
                  <a:srgbClr val="22222E"/>
                </a:solidFill>
                <a:latin typeface="Arial"/>
              </a:rPr>
              <a:t>GH Archive 2025 vs HF Hub April 2026 → backfilled 151 days (~3,600 files); ~580 corrupt April files handled via ignoreCorruptFiles.</a:t>
            </a:r>
          </a:p>
          <a:p>
            <a:pPr>
              <a:spcAft>
                <a:spcPts val="200"/>
              </a:spcAft>
              <a:buNone/>
            </a:pPr>
            <a:r>
              <a:rPr sz="1200" b="1" i="0">
                <a:solidFill>
                  <a:srgbClr val="8900E1"/>
                </a:solidFill>
                <a:latin typeface="Arial"/>
              </a:rPr>
              <a:t>3.  Scale vs iteration speed</a:t>
            </a:r>
          </a:p>
          <a:p>
            <a:pPr>
              <a:spcAft>
                <a:spcPts val="800"/>
              </a:spcAft>
              <a:buNone/>
            </a:pPr>
            <a:r>
              <a:rPr sz="1100" b="0" i="0">
                <a:solidFill>
                  <a:srgbClr val="22222E"/>
                </a:solidFill>
                <a:latin typeface="Arial"/>
              </a:rPr>
              <a:t>100 M-event jobs make schema errors expensive (1–2 h each). Mitigation: local 1-day smoke tests before every cluster run.</a:t>
            </a:r>
          </a:p>
          <a:p>
            <a:pPr>
              <a:spcAft>
                <a:spcPts val="200"/>
              </a:spcAft>
              <a:buNone/>
            </a:pPr>
            <a:r>
              <a:rPr sz="1200" b="1" i="0">
                <a:solidFill>
                  <a:srgbClr val="8900E1"/>
                </a:solidFill>
                <a:latin typeface="Arial"/>
              </a:rPr>
              <a:t>4.  Shared-cluster YARN contention</a:t>
            </a:r>
          </a:p>
          <a:p>
            <a:pPr>
              <a:buNone/>
            </a:pPr>
            <a:r>
              <a:rPr sz="1100" b="0" i="0">
                <a:solidFill>
                  <a:srgbClr val="22222E"/>
                </a:solidFill>
                <a:latin typeface="Arial"/>
              </a:rPr>
              <a:t>Other tenants' jobs caused executor preemption and OOM kills. Mitigation: sequential execution and conservative resource configs.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800" b="1" i="0">
                <a:solidFill>
                  <a:srgbClr val="57068C"/>
                </a:solidFill>
                <a:latin typeface="Arial"/>
              </a:rPr>
              <a:t>WHAT WE BUILT</a:t>
            </a:r>
          </a:p>
          <a:p>
            <a:pPr>
              <a:buNone/>
            </a:pPr>
            <a:r>
              <a:rPr sz="1500" b="0" i="0">
                <a:solidFill>
                  <a:srgbClr val="57068C"/>
                </a:solidFill>
                <a:latin typeface="Arial"/>
              </a:rPr>
              <a:t>&amp; What it taught us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400"/>
              </a:spcAft>
              <a:buNone/>
            </a:pPr>
            <a:r>
              <a:rPr sz="1200" b="1" i="0">
                <a:solidFill>
                  <a:srgbClr val="8900E1"/>
                </a:solidFill>
                <a:latin typeface="Arial"/>
              </a:rPr>
              <a:t>End-to-end Spark pipeline </a:t>
            </a:r>
            <a:r>
              <a:rPr sz="1100" b="0" i="0">
                <a:solidFill>
                  <a:srgbClr val="22222E"/>
                </a:solidFill>
                <a:latin typeface="Arial"/>
              </a:rPr>
              <a:t>blending 3 heterogeneous data sources at ~146M-event scale across 485+ days.</a:t>
            </a:r>
          </a:p>
          <a:p>
            <a:pPr>
              <a:spcAft>
                <a:spcPts val="400"/>
              </a:spcAft>
              <a:buNone/>
            </a:pPr>
            <a:r>
              <a:rPr sz="1200" b="1" i="0">
                <a:solidFill>
                  <a:srgbClr val="8900E1"/>
                </a:solidFill>
                <a:latin typeface="Arial"/>
              </a:rPr>
              <a:t>Composite health score </a:t>
            </a:r>
            <a:r>
              <a:rPr sz="1100" b="0" i="0">
                <a:solidFill>
                  <a:srgbClr val="22222E"/>
                </a:solidFill>
                <a:latin typeface="Arial"/>
              </a:rPr>
              <a:t>for 36 AI repos across community, adoption and engineering dimensions.</a:t>
            </a:r>
          </a:p>
          <a:p>
            <a:pPr>
              <a:spcAft>
                <a:spcPts val="400"/>
              </a:spcAft>
              <a:buNone/>
            </a:pPr>
            <a:r>
              <a:rPr sz="1200" b="1" i="0">
                <a:solidFill>
                  <a:srgbClr val="8900E1"/>
                </a:solidFill>
                <a:latin typeface="Arial"/>
              </a:rPr>
              <a:t>Bus-factor analytics </a:t>
            </a:r>
            <a:r>
              <a:rPr sz="1100" b="0" i="0">
                <a:solidFill>
                  <a:srgbClr val="22222E"/>
                </a:solidFill>
                <a:latin typeface="Arial"/>
              </a:rPr>
              <a:t>for the top 1,000 ecosystem repos — separating centralized merge from genuine risk.</a:t>
            </a:r>
          </a:p>
          <a:p>
            <a:pPr>
              <a:spcAft>
                <a:spcPts val="400"/>
              </a:spcAft>
              <a:buNone/>
            </a:pPr>
            <a:r>
              <a:rPr sz="1200" b="1" i="0">
                <a:solidFill>
                  <a:srgbClr val="8900E1"/>
                </a:solidFill>
                <a:latin typeface="Arial"/>
              </a:rPr>
              <a:t>5-year era comparison </a:t>
            </a:r>
            <a:r>
              <a:rPr sz="1100" b="0" i="0">
                <a:solidFill>
                  <a:srgbClr val="22222E"/>
                </a:solidFill>
                <a:latin typeface="Arial"/>
              </a:rPr>
              <a:t>(2022–2026 Q1) tracking coding-agent impact on the OSS ecosystem.</a:t>
            </a:r>
          </a:p>
          <a:p>
            <a:pPr>
              <a:spcAft>
                <a:spcPts val="800"/>
              </a:spcAft>
              <a:buNone/>
            </a:pPr>
            <a:r>
              <a:rPr sz="1200" b="1" i="0">
                <a:solidFill>
                  <a:srgbClr val="8900E1"/>
                </a:solidFill>
                <a:latin typeface="Arial"/>
              </a:rPr>
              <a:t>Framework-agnostic </a:t>
            </a:r>
            <a:r>
              <a:rPr sz="1100" b="0" i="0">
                <a:solidFill>
                  <a:srgbClr val="22222E"/>
                </a:solidFill>
                <a:latin typeface="Arial"/>
              </a:rPr>
              <a:t>methodology — extensible to any open-source domain.</a:t>
            </a:r>
          </a:p>
          <a:p>
            <a:pPr>
              <a:spcAft>
                <a:spcPts val="200"/>
              </a:spcAft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Key takeaway</a:t>
            </a:r>
          </a:p>
          <a:p>
            <a:pPr>
              <a:buNone/>
            </a:pPr>
            <a:r>
              <a:rPr sz="1100" b="0" i="1">
                <a:solidFill>
                  <a:srgbClr val="22222E"/>
                </a:solidFill>
                <a:latin typeface="Arial"/>
              </a:rPr>
              <a:t>GitHub stars are noisy. PyPI installs + HF downloads predict sustained ecosystem health better; push-contributor concentration reveals single-maintainer risk invisible to stars.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200" b="1" i="0">
                <a:solidFill>
                  <a:srgbClr val="57068C"/>
                </a:solidFill>
                <a:latin typeface="Arial"/>
              </a:rPr>
              <a:t>ACKNOWLEDGEMENTS</a:t>
            </a:r>
          </a:p>
          <a:p>
            <a:pPr>
              <a:buNone/>
            </a:pPr>
            <a:r>
              <a:rPr sz="1400" b="0" i="0">
                <a:solidFill>
                  <a:srgbClr val="57068C"/>
                </a:solidFill>
                <a:latin typeface="Arial"/>
              </a:rPr>
              <a:t>&amp; References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400"/>
              </a:spcAft>
              <a:buNone/>
            </a:pPr>
            <a:r>
              <a:rPr sz="1200" b="1" i="0">
                <a:solidFill>
                  <a:srgbClr val="8900E1"/>
                </a:solidFill>
                <a:latin typeface="Arial"/>
              </a:rPr>
              <a:t>Acknowledgements</a:t>
            </a:r>
          </a:p>
          <a:p>
            <a:pPr>
              <a:spcAft>
                <a:spcPts val="400"/>
              </a:spcAft>
              <a:buNone/>
            </a:pPr>
            <a:r>
              <a:rPr sz="1100" b="0" i="0">
                <a:solidFill>
                  <a:srgbClr val="22222E"/>
                </a:solidFill>
                <a:latin typeface="Arial"/>
              </a:rPr>
              <a:t>NYU High Performance Computing — Google Cloud Dataproc cluster access.</a:t>
            </a:r>
          </a:p>
          <a:p>
            <a:pPr>
              <a:spcAft>
                <a:spcPts val="400"/>
              </a:spcAft>
              <a:buNone/>
            </a:pPr>
            <a:r>
              <a:rPr sz="1100" b="0" i="0">
                <a:solidFill>
                  <a:srgbClr val="22222E"/>
                </a:solidFill>
                <a:latin typeface="Arial"/>
              </a:rPr>
              <a:t>Tableau — academic visualization license via NYU.</a:t>
            </a:r>
          </a:p>
          <a:p>
            <a:pPr>
              <a:buNone/>
            </a:pPr>
            <a:r>
              <a:rPr sz="1100" b="0" i="0">
                <a:solidFill>
                  <a:srgbClr val="22222E"/>
                </a:solidFill>
                <a:latin typeface="Arial"/>
              </a:rPr>
              <a:t>GH Archive · Hugging Face Hub · PyPI — public data APIs that made this triangulation possible.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>
              <a:spcAft>
                <a:spcPts val="400"/>
              </a:spcAft>
              <a:buNone/>
            </a:pPr>
            <a:r>
              <a:rPr sz="1200" b="1" i="0">
                <a:solidFill>
                  <a:srgbClr val="8900E1"/>
                </a:solidFill>
                <a:latin typeface="Arial"/>
              </a:rPr>
              <a:t>References</a:t>
            </a:r>
          </a:p>
          <a:p>
            <a:pPr>
              <a:spcAft>
                <a:spcPts val="200"/>
              </a:spcAft>
              <a:buNone/>
            </a:pPr>
            <a:r>
              <a:rPr sz="1100" b="0" i="0">
                <a:solidFill>
                  <a:srgbClr val="22222E"/>
                </a:solidFill>
                <a:latin typeface="Arial"/>
              </a:rPr>
              <a:t>gharchive.org</a:t>
            </a:r>
          </a:p>
          <a:p>
            <a:pPr>
              <a:spcAft>
                <a:spcPts val="200"/>
              </a:spcAft>
              <a:buNone/>
            </a:pPr>
            <a:r>
              <a:rPr sz="1100" b="0" i="0">
                <a:solidFill>
                  <a:srgbClr val="22222E"/>
                </a:solidFill>
                <a:latin typeface="Arial"/>
              </a:rPr>
              <a:t>huggingface.co/docs/huggingface_hub</a:t>
            </a:r>
          </a:p>
          <a:p>
            <a:pPr>
              <a:spcAft>
                <a:spcPts val="200"/>
              </a:spcAft>
              <a:buNone/>
            </a:pPr>
            <a:r>
              <a:rPr sz="1100" b="0" i="0">
                <a:solidFill>
                  <a:srgbClr val="22222E"/>
                </a:solidFill>
                <a:latin typeface="Arial"/>
              </a:rPr>
              <a:t>pypistats.org</a:t>
            </a:r>
          </a:p>
          <a:p>
            <a:pPr>
              <a:spcAft>
                <a:spcPts val="200"/>
              </a:spcAft>
              <a:buNone/>
            </a:pPr>
            <a:r>
              <a:rPr sz="1100" b="0" i="0">
                <a:solidFill>
                  <a:srgbClr val="22222E"/>
                </a:solidFill>
                <a:latin typeface="Arial"/>
              </a:rPr>
              <a:t>spark.apache.org</a:t>
            </a:r>
          </a:p>
          <a:p>
            <a:pPr>
              <a:spcAft>
                <a:spcPts val="200"/>
              </a:spcAft>
              <a:buNone/>
            </a:pPr>
            <a:r>
              <a:rPr sz="1100" b="0" i="0">
                <a:solidFill>
                  <a:srgbClr val="22222E"/>
                </a:solidFill>
                <a:latin typeface="Arial"/>
              </a:rPr>
              <a:t>cloud.google.com/dataproc</a:t>
            </a:r>
          </a:p>
          <a:p>
            <a:pPr>
              <a:buNone/>
            </a:pPr>
            <a:r>
              <a:rPr sz="1100" b="0" i="0">
                <a:solidFill>
                  <a:srgbClr val="22222E"/>
                </a:solidFill>
                <a:latin typeface="Arial"/>
              </a:rPr>
              <a:t>github.com/ossf/criticality_score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7200" b="1" i="0">
                <a:solidFill>
                  <a:srgbClr val="57068C"/>
                </a:solidFill>
                <a:latin typeface="Arial"/>
              </a:rPr>
              <a:t>THANK YOU.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3611880"/>
            <a:ext cx="832104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22222E"/>
                </a:solidFill>
                <a:latin typeface="Arial"/>
              </a:rPr>
              <a:t>Group 9  ·  OSS Pulse  ·  Big Data Analytics, Spring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069080"/>
            <a:ext cx="83210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Jhe Chen Li (jl17797)  ·  Bo Yu (by2566)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NYU Bold">
  <a:themeElements>
    <a:clrScheme name="Simple Light">
      <a:dk1>
        <a:srgbClr val="57068C"/>
      </a:dk1>
      <a:lt1>
        <a:srgbClr val="FFFFFF"/>
      </a:lt1>
      <a:dk2>
        <a:srgbClr val="333333"/>
      </a:dk2>
      <a:lt2>
        <a:srgbClr val="E2E1DD"/>
      </a:lt2>
      <a:accent1>
        <a:srgbClr val="9A6ABA"/>
      </a:accent1>
      <a:accent2>
        <a:srgbClr val="6D6D6D"/>
      </a:accent2>
      <a:accent3>
        <a:srgbClr val="8900E1"/>
      </a:accent3>
      <a:accent4>
        <a:srgbClr val="E97300"/>
      </a:accent4>
      <a:accent5>
        <a:srgbClr val="799A05"/>
      </a:accent5>
      <a:accent6>
        <a:srgbClr val="C50F3C"/>
      </a:accent6>
      <a:hlink>
        <a:srgbClr val="57068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