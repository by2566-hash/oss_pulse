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7" r:id="rId4"/>
  </p:sldMasterIdLst>
  <p:notesMasterIdLst>
    <p:notesMasterId r:id="rId5"/>
  </p:notesMasterIdLst>
  <p:sldIdLst>
    <p:sldId id="256" r:id="rId14"/>
    <p:sldId id="257" r:id="rId15"/>
    <p:sldId id="258" r:id="rId16"/>
    <p:sldId id="259" r:id="rId17"/>
    <p:sldId id="260" r:id="rId18"/>
    <p:sldId id="261" r:id="rId13"/>
    <p:sldId id="262" r:id="rId12"/>
    <p:sldId id="263" r:id="rId11"/>
    <p:sldId id="264" r:id="rId10"/>
    <p:sldId id="265" r:id="rId9"/>
    <p:sldId id="266" r:id="rId8"/>
    <p:sldId id="267" r:id="rId7"/>
    <p:sldId id="268" r:id="rId6"/>
    <p:sldId id="269" r:id="rId27"/>
    <p:sldId id="270" r:id="rId28"/>
  </p:sldIdLst>
  <p:sldSz cy="5143500" cx="9144000"/>
  <p:notesSz cx="6858000" cy="9144000"/>
  <p:embeddedFontLst>
    <p:embeddedFont>
      <p:font typeface="Montserrat"/>
      <p:regular r:id="rId19"/>
      <p:bold r:id="rId20"/>
      <p:italic r:id="rId21"/>
      <p:boldItalic r:id="rId22"/>
    </p:embeddedFont>
    <p:embeddedFont>
      <p:font typeface="Montserrat Black"/>
      <p:bold r:id="rId23"/>
      <p:boldItalic r:id="rId24"/>
    </p:embeddedFont>
    <p:embeddedFont>
      <p:font typeface="Montserrat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3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font" Target="fonts/Montserrat-regular.fntdata"/><Relationship Id="rId20" Type="http://schemas.openxmlformats.org/officeDocument/2006/relationships/font" Target="fonts/Montserrat-bold.fntdata"/><Relationship Id="rId21" Type="http://schemas.openxmlformats.org/officeDocument/2006/relationships/font" Target="fonts/Montserrat-italic.fntdata"/><Relationship Id="rId22" Type="http://schemas.openxmlformats.org/officeDocument/2006/relationships/font" Target="fonts/Montserrat-boldItalic.fntdata"/><Relationship Id="rId23" Type="http://schemas.openxmlformats.org/officeDocument/2006/relationships/font" Target="fonts/MontserratBlack-bold.fntdata"/><Relationship Id="rId24" Type="http://schemas.openxmlformats.org/officeDocument/2006/relationships/font" Target="fonts/MontserratBlack-boldItalic.fntdata"/><Relationship Id="rId25" Type="http://schemas.openxmlformats.org/officeDocument/2006/relationships/font" Target="fonts/MontserratExtraBold-bold.fntdata"/><Relationship Id="rId26" Type="http://schemas.openxmlformats.org/officeDocument/2006/relationships/font" Target="fonts/MontserratExtraBold-boldItalic.fntdata"/><Relationship Id="rId27" Type="http://schemas.openxmlformats.org/officeDocument/2006/relationships/slide" Target="slides/slide14.xml"/><Relationship Id="rId28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1" type="title">
  <p:cSld name="TITLE">
    <p:bg>
      <p:bgPr>
        <a:solidFill>
          <a:srgbClr val="57068C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11" name="Google Shape;11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2">
  <p:cSld name="TITLE_1">
    <p:bg>
      <p:bgPr>
        <a:solidFill>
          <a:srgbClr val="57068C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4">
  <p:cSld name="TITLE_1_1_1">
    <p:bg>
      <p:bgPr>
        <a:solidFill>
          <a:srgbClr val="57068C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23" name="Google Shape;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5">
  <p:cSld name="TITLE_1_1_1_1">
    <p:bg>
      <p:bgPr>
        <a:solidFill>
          <a:srgbClr val="57068C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5"/>
          <p:cNvSpPr txBox="1"/>
          <p:nvPr>
            <p:ph type="title"/>
          </p:nvPr>
        </p:nvSpPr>
        <p:spPr>
          <a:xfrm>
            <a:off x="316949" y="1243943"/>
            <a:ext cx="8265600" cy="19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6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descr="New York University logo" id="29" name="Google Shape;2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27947"/>
            <a:ext cx="1049175" cy="356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/>
          <p:nvPr>
            <p:ph idx="1" type="subTitle"/>
          </p:nvPr>
        </p:nvSpPr>
        <p:spPr>
          <a:xfrm>
            <a:off x="307600" y="3119750"/>
            <a:ext cx="4761000" cy="7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307600" y="4145050"/>
            <a:ext cx="2436000" cy="6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 ExtraBold"/>
              <a:buChar char="●"/>
              <a:defRPr sz="11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indent="-31750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2pPr>
            <a:lvl3pPr indent="-31750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57068C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7" cy="5143487"/>
          </a:xfrm>
          <a:prstGeom prst="rect">
            <a:avLst/>
          </a:prstGeom>
          <a:noFill/>
          <a:ln>
            <a:noFill/>
          </a:ln>
        </p:spPr>
      </p:pic>
      <p:cxnSp>
        <p:nvCxnSpPr>
          <p:cNvPr descr=" " id="34" name="Google Shape;34;p6"/>
          <p:cNvCxnSpPr/>
          <p:nvPr/>
        </p:nvCxnSpPr>
        <p:spPr>
          <a:xfrm>
            <a:off x="407168" y="2618527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 " id="35" name="Google Shape;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/>
          <p:nvPr>
            <p:ph type="title"/>
          </p:nvPr>
        </p:nvSpPr>
        <p:spPr>
          <a:xfrm>
            <a:off x="316950" y="457200"/>
            <a:ext cx="8520600" cy="184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68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7" name="Google Shape;37;p6"/>
          <p:cNvSpPr txBox="1"/>
          <p:nvPr>
            <p:ph idx="1" type="subTitle"/>
          </p:nvPr>
        </p:nvSpPr>
        <p:spPr>
          <a:xfrm>
            <a:off x="316950" y="2938025"/>
            <a:ext cx="4031700" cy="47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8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311700" y="1152475"/>
            <a:ext cx="3345900" cy="31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4114800" y="1175683"/>
            <a:ext cx="4192800" cy="31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 " id="42" name="Google Shape;42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2592">
          <p15:clr>
            <a:srgbClr val="FA7B17"/>
          </p15:clr>
        </p15:guide>
        <p15:guide id="2" pos="2304">
          <p15:clr>
            <a:srgbClr val="FA7B17"/>
          </p15:clr>
        </p15:guide>
        <p15:guide id="3" orient="horz" pos="720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/>
          <p:nvPr>
            <p:ph type="title"/>
          </p:nvPr>
        </p:nvSpPr>
        <p:spPr>
          <a:xfrm>
            <a:off x="311700" y="445025"/>
            <a:ext cx="8424900" cy="11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46" name="Google Shape;46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 txBox="1"/>
          <p:nvPr>
            <p:ph idx="1" type="body"/>
          </p:nvPr>
        </p:nvSpPr>
        <p:spPr>
          <a:xfrm>
            <a:off x="1376250" y="1828800"/>
            <a:ext cx="3330300" cy="24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5051175" y="1828800"/>
            <a:ext cx="3330300" cy="24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152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4200"/>
              <a:buFont typeface="Montserrat Black"/>
              <a:buNone/>
              <a:defRPr sz="42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53" name="Google Shape;53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5" name="Google Shape;5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/>
          <p:nvPr>
            <p:ph type="title"/>
          </p:nvPr>
        </p:nvSpPr>
        <p:spPr>
          <a:xfrm>
            <a:off x="311700" y="426408"/>
            <a:ext cx="4308300" cy="10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Montserrat Black"/>
              <a:buNone/>
              <a:defRPr sz="36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58" name="Google Shape;58;p10"/>
          <p:cNvSpPr txBox="1"/>
          <p:nvPr>
            <p:ph idx="1" type="body"/>
          </p:nvPr>
        </p:nvSpPr>
        <p:spPr>
          <a:xfrm>
            <a:off x="311700" y="1646230"/>
            <a:ext cx="3350400" cy="24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lnSpc>
                <a:spcPct val="12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lnSpc>
                <a:spcPct val="12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descr=" " id="59" name="Google Shape;59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0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1" name="Google Shape;61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1"/>
          <p:cNvSpPr txBox="1"/>
          <p:nvPr>
            <p:ph type="title"/>
          </p:nvPr>
        </p:nvSpPr>
        <p:spPr>
          <a:xfrm>
            <a:off x="407175" y="450150"/>
            <a:ext cx="8329500" cy="38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6000"/>
              <a:buFont typeface="Montserrat Black"/>
              <a:buNone/>
              <a:defRPr sz="6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Font typeface="Montserrat Black"/>
              <a:buNone/>
              <a:defRPr sz="6000"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pic>
        <p:nvPicPr>
          <p:cNvPr descr=" " id="65" name="Google Shape;6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1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8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 " id="68" name="Google Shape;68;p1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2"/>
          <p:cNvSpPr txBox="1"/>
          <p:nvPr>
            <p:ph type="title"/>
          </p:nvPr>
        </p:nvSpPr>
        <p:spPr>
          <a:xfrm>
            <a:off x="294375" y="1233175"/>
            <a:ext cx="40791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3600"/>
              <a:buFont typeface="Montserrat Black"/>
              <a:buNone/>
              <a:defRPr sz="36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0" name="Google Shape;70;p12"/>
          <p:cNvSpPr txBox="1"/>
          <p:nvPr>
            <p:ph idx="1" type="subTitle"/>
          </p:nvPr>
        </p:nvSpPr>
        <p:spPr>
          <a:xfrm>
            <a:off x="294375" y="2803075"/>
            <a:ext cx="39558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6ABA"/>
              </a:buClr>
              <a:buSzPts val="1800"/>
              <a:buNone/>
              <a:defRPr>
                <a:solidFill>
                  <a:srgbClr val="9A6ABA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1" name="Google Shape;71;p12"/>
          <p:cNvSpPr txBox="1"/>
          <p:nvPr>
            <p:ph idx="2" type="body"/>
          </p:nvPr>
        </p:nvSpPr>
        <p:spPr>
          <a:xfrm>
            <a:off x="4939500" y="724075"/>
            <a:ext cx="3837000" cy="3551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descr=" " id="72" name="Google Shape;72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2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alf-page image">
  <p:cSld name="CUSTOM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75" name="Google Shape;75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3"/>
          <p:cNvSpPr txBox="1"/>
          <p:nvPr>
            <p:ph type="title"/>
          </p:nvPr>
        </p:nvSpPr>
        <p:spPr>
          <a:xfrm>
            <a:off x="311700" y="445025"/>
            <a:ext cx="3803100" cy="11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Black"/>
              <a:buNone/>
              <a:defRPr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2pPr>
            <a:lvl3pPr lvl="2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3pPr>
            <a:lvl4pPr lvl="3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4pPr>
            <a:lvl5pPr lvl="4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5pPr>
            <a:lvl6pPr lvl="5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6pPr>
            <a:lvl7pPr lvl="6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7pPr>
            <a:lvl8pPr lvl="7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8pPr>
            <a:lvl9pPr lvl="8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Font typeface="Montserrat Black"/>
              <a:buNone/>
              <a:defRPr>
                <a:latin typeface="Montserrat Black"/>
                <a:ea typeface="Montserrat Black"/>
                <a:cs typeface="Montserrat Black"/>
                <a:sym typeface="Montserrat Black"/>
              </a:defRPr>
            </a:lvl9pPr>
          </a:lstStyle>
          <a:p/>
        </p:txBody>
      </p:sp>
      <p:sp>
        <p:nvSpPr>
          <p:cNvPr id="77" name="Google Shape;77;p13"/>
          <p:cNvSpPr txBox="1"/>
          <p:nvPr>
            <p:ph idx="1" type="body"/>
          </p:nvPr>
        </p:nvSpPr>
        <p:spPr>
          <a:xfrm>
            <a:off x="311700" y="2750150"/>
            <a:ext cx="3466500" cy="152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78" name="Google Shape;78;p13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81" name="Google Shape;81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4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3" name="Google Shape;83;p14"/>
          <p:cNvSpPr txBox="1"/>
          <p:nvPr>
            <p:ph type="title"/>
          </p:nvPr>
        </p:nvSpPr>
        <p:spPr>
          <a:xfrm>
            <a:off x="311700" y="3564945"/>
            <a:ext cx="44913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400"/>
              <a:buNone/>
              <a:defRPr sz="14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1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88" name="Google Shape;88;p15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0" name="Google Shape;90;p15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CUSTOM_1_1">
    <p:bg>
      <p:bgPr>
        <a:solidFill>
          <a:schemeClr val="dk1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6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95" name="Google Shape;95;p16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96" name="Google Shape;96;p16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7" name="Google Shape;97;p16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 1">
  <p:cSld name="CUSTOM_1_1_1">
    <p:bg>
      <p:bgPr>
        <a:solidFill>
          <a:schemeClr val="dk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9144000" cy="5143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>
            <p:ph type="title"/>
          </p:nvPr>
        </p:nvSpPr>
        <p:spPr>
          <a:xfrm>
            <a:off x="1101125" y="936450"/>
            <a:ext cx="6947400" cy="300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02" name="Google Shape;102;p17"/>
          <p:cNvSpPr txBox="1"/>
          <p:nvPr/>
        </p:nvSpPr>
        <p:spPr>
          <a:xfrm>
            <a:off x="4313700" y="391050"/>
            <a:ext cx="522300" cy="7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“</a:t>
            </a:r>
            <a:endParaRPr sz="4200">
              <a:solidFill>
                <a:schemeClr val="accent3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4314143" y="4230331"/>
            <a:ext cx="521400" cy="0"/>
          </a:xfrm>
          <a:prstGeom prst="straightConnector1">
            <a:avLst/>
          </a:prstGeom>
          <a:noFill/>
          <a:ln cap="flat" cmpd="sng" w="76200">
            <a:solidFill>
              <a:srgbClr val="8900E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" name="Google Shape;104;p17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/>
          <p:nvPr>
            <p:ph hasCustomPrompt="1" type="title"/>
          </p:nvPr>
        </p:nvSpPr>
        <p:spPr>
          <a:xfrm>
            <a:off x="311700" y="407700"/>
            <a:ext cx="8520600" cy="19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5000"/>
              <a:buFont typeface="Montserrat Black"/>
              <a:buNone/>
              <a:defRPr sz="15000">
                <a:solidFill>
                  <a:srgbClr val="57068C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7" name="Google Shape;107;p18"/>
          <p:cNvSpPr txBox="1"/>
          <p:nvPr>
            <p:ph idx="1" type="body"/>
          </p:nvPr>
        </p:nvSpPr>
        <p:spPr>
          <a:xfrm>
            <a:off x="2475675" y="3360362"/>
            <a:ext cx="4192800" cy="71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pic>
        <p:nvPicPr>
          <p:cNvPr descr=" " id="108" name="Google Shape;10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0" name="Google Shape;110;p18"/>
          <p:cNvSpPr txBox="1"/>
          <p:nvPr>
            <p:ph idx="2" type="subTitle"/>
          </p:nvPr>
        </p:nvSpPr>
        <p:spPr>
          <a:xfrm>
            <a:off x="407175" y="2537800"/>
            <a:ext cx="8329200" cy="71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accent3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/>
            </a:lvl9pPr>
          </a:lstStyle>
          <a:p/>
        </p:txBody>
      </p:sp>
      <p:pic>
        <p:nvPicPr>
          <p:cNvPr id="111" name="Google Shape;11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18029" cy="30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folio" typ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3" name="Google Shape;113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07175" y="4539121"/>
            <a:ext cx="776077" cy="26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9"/>
          <p:cNvSpPr txBox="1"/>
          <p:nvPr/>
        </p:nvSpPr>
        <p:spPr>
          <a:xfrm>
            <a:off x="4619925" y="4517225"/>
            <a:ext cx="41928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" sz="700">
                <a:solidFill>
                  <a:srgbClr val="57068C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1" sz="700">
              <a:solidFill>
                <a:srgbClr val="57068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424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4200"/>
              <a:buFont typeface="Montserrat ExtraBold"/>
              <a:buNone/>
              <a:defRPr sz="4200">
                <a:solidFill>
                  <a:srgbClr val="57068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424900" cy="31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068C"/>
              </a:buClr>
              <a:buSzPts val="1800"/>
              <a:buFont typeface="Montserrat"/>
              <a:buChar char="●"/>
              <a:defRPr sz="18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●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57068C"/>
              </a:buClr>
              <a:buSzPts val="1400"/>
              <a:buFont typeface="Montserrat"/>
              <a:buChar char="○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57068C"/>
              </a:buClr>
              <a:buSzPts val="1400"/>
              <a:buFont typeface="Montserrat"/>
              <a:buChar char="■"/>
              <a:defRPr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6">
          <p15:clr>
            <a:srgbClr val="EA4335"/>
          </p15:clr>
        </p15:guide>
        <p15:guide id="2" orient="horz" pos="3025">
          <p15:clr>
            <a:srgbClr val="EA4335"/>
          </p15:clr>
        </p15:guide>
        <p15:guide id="3" pos="5503">
          <p15:clr>
            <a:srgbClr val="EA4335"/>
          </p15:clr>
        </p15:guide>
        <p15:guide id="4" orient="horz" pos="2693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Big Data Analytics Symposium - Spring 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Analytics Project:  OSS Pulse: From Hype to Health</a:t>
            </a:r>
          </a:p>
          <a:p/>
          <a:p>
            <a:r>
              <a:t>Team Name:  Group 9 - OSS Pulse</a:t>
            </a:r>
          </a:p>
          <a:p/>
          <a:p>
            <a:r>
              <a:t>Team:</a:t>
            </a:r>
          </a:p>
          <a:p>
            <a:r>
              <a:t>Jhe Chen Li (jl17797) - Bo Yu (by2566)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Abstract:</a:t>
            </a:r>
          </a:p>
          <a:p>
            <a:r>
              <a:t>We analyze the health of AI open-source repositories by combining GitHub Archive event data (485+ days, ~146M events), Hugging Face Hub model metadata (2.8M models), and PyPI monthly download statistics (46 libraries). Using Apache Spark on NYU Dataproc, we compute a composite health score across three dimensions: community engagement (GitHub), model adoption (Hugging Face), and engineering usage (PyPI).</a:t>
            </a:r>
          </a:p>
          <a:p/>
          <a:p>
            <a:r>
              <a:t>We also track 5-year Q1 era comparison (2022-2026) to measure the impact of coding agents on the open-source ecosystem.</a:t>
            </a:r>
          </a:p>
          <a:p/>
          <a:p/>
          <a:p>
            <a:r>
              <a:t>Platform(s) where the application runs:</a:t>
            </a:r>
          </a:p>
          <a:p>
            <a:r>
              <a:t>Google Cloud Dataproc (Spark 3.x, YARN), HDFS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Motivation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Who are the users of this analytic?</a:t>
            </a:r>
          </a:p>
          <a:p>
            <a:r>
              <a:t>ML engineers, researchers, project maintainers, VCs evaluating OSS frameworks</a:t>
            </a:r>
          </a:p>
          <a:p/>
          <a:p>
            <a:r>
              <a:t>Who will benefit from this analytic?</a:t>
            </a:r>
          </a:p>
          <a:p>
            <a:r>
              <a:t>Anyone deciding which AI framework to adopt or contribute to</a:t>
            </a:r>
          </a:p>
          <a:p/>
          <a:p>
            <a:r>
              <a:t>Why is this analytic important?</a:t>
            </a:r>
          </a:p>
          <a:p>
            <a:r>
              <a:t>GitHub stars alone are misleading - hype does not equal health. This project triangulates real adoption signals across three independent dimensions (GitHub activity, HF model downloads, PyPI installs) to distinguish genuinely healthy projects from viral-but-hollow ones.</a:t>
            </a:r>
          </a:p>
          <a:p/>
          <a:p>
            <a:r>
              <a:t>Era analysis: 5-year Q1 timeline (2022-2026) tracking coding agent impact on the entire OSS ecosystem.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Goodness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steps were taken to assess the 'goodness' of the analytic?</a:t>
            </a:r>
          </a:p>
          <a:p/>
          <a:p>
            <a:r>
              <a:t>1. Completeness: GH Archive covers 334/365 days (bad-date filtered), supplemented with 151 additional days (Dec 2025 - Apr 2026)</a:t>
            </a:r>
          </a:p>
          <a:p/>
          <a:p>
            <a:r>
              <a:t>2. Volume: ~146M total GitHub events across 485+ days</a:t>
            </a:r>
          </a:p>
          <a:p/>
          <a:p>
            <a:r>
              <a:t>3. Multi-source validation: Health score cross-references 3 independent data sources (GH Archive, HF Hub, PyPI) - no single source can game the score</a:t>
            </a:r>
          </a:p>
          <a:p/>
          <a:p>
            <a:r>
              <a:t>4. PR double-counting fix: Used countDistinct(pr_number) instead of event counts to avoid lifecycle event inflation</a:t>
            </a:r>
          </a:p>
          <a:p/>
          <a:p>
            <a:r>
              <a:t>5. Contributor analysis validated: top1_push_ratio interpreted with pr_contributors to distinguish centralized merge from single-maintainer risk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Data Sources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Name:        GitHub Archive (GH Archive)</a:t>
            </a:r>
          </a:p>
          <a:p>
            <a:r>
              <a:t>Description: Hourly event logs - Watch/Fork/Push/PR/Issue events</a:t>
            </a:r>
          </a:p>
          <a:p>
            <a:r>
              <a:t>Size of data: ~146M events, 485+ days, ~99 GB cleaned Parquet</a:t>
            </a:r>
          </a:p>
          <a:p/>
          <a:p>
            <a:r>
              <a:t>Name:        Hugging Face Hub</a:t>
            </a:r>
          </a:p>
          <a:p>
            <a:r>
              <a:t>Description: Model metadata snapshot (April 2026) via huggingface_hub API</a:t>
            </a:r>
          </a:p>
          <a:p>
            <a:r>
              <a:t>Size of data: 2,815,064 models, 229 MB</a:t>
            </a:r>
          </a:p>
          <a:p/>
          <a:p>
            <a:r>
              <a:t>Name:        PyPI (BigQuery)</a:t>
            </a:r>
          </a:p>
          <a:p>
            <a:r>
              <a:t>Description: Monthly download counts per AI/ML library</a:t>
            </a:r>
          </a:p>
          <a:p>
            <a:r>
              <a:t>Size of data: 46 libraries x 12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Data Sample: GitHub Archive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event_type    | event_date | actor_login | repo_name              | push_size</a:t>
            </a:r>
          </a:p>
          <a:p>
            <a:r>
              <a:t>WatchEvent    | 2025-03-15 | user_abc    | huggingface/transformers | null</a:t>
            </a:r>
          </a:p>
          <a:p>
            <a:r>
              <a:t>PushEvent     | 2025-03-15 | dev_xyz     | pytorch/pytorch          | 3</a:t>
            </a:r>
          </a:p>
          <a:p>
            <a:r>
              <a:t>PullRequestEvent | 2025-03-15 | contrib_1 | tensorflow/tensorflow  | null</a:t>
            </a:r>
          </a:p>
          <a:p>
            <a:r>
              <a:t>IssuesEvent   | 2025-03-15 | reporter_2  | microsoft/onnxruntime    | null</a:t>
            </a:r>
          </a:p>
          <a:p>
            <a:r>
              <a:t>ForkEvent     | 2025-03-15 | forker_3    | openai/whisper           | null</a:t>
            </a:r>
          </a:p>
          <a:p/>
          <a:p>
            <a:r>
              <a:t>Schema: event_type, event_date, actor_login, repo_name, push_size,</a:t>
            </a:r>
          </a:p>
          <a:p>
            <a:r>
              <a:t>push_distinct_size, commit_count, pr_merged, issue_state, pr_number,</a:t>
            </a:r>
          </a:p>
          <a:p>
            <a:r>
              <a:t>payload_action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Data Sample: Hugging Face 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model_id                     | library_name | pipeline_tag    | downloads  | likes</a:t>
            </a:r>
          </a:p>
          <a:p>
            <a:r>
              <a:t>meta-llama/Llama-3-8B        | transformers | text-generation | 1,234,567  | 8,920</a:t>
            </a:r>
          </a:p>
          <a:p>
            <a:r>
              <a:t>stabilityai/stable-diffusion | diffusers    | image-gen       | 890,123    | 5,430</a:t>
            </a:r>
          </a:p>
          <a:p>
            <a:r>
              <a:t>openai/whisper-large-v3      | transformers | auto-speech     | 456,789    | 3,210</a:t>
            </a:r>
          </a:p>
          <a:p/>
          <a:p>
            <a:r>
              <a:t>Schema: model_id, author, library_name, pipeline_tag,</a:t>
            </a:r>
          </a:p>
          <a:p>
            <a:r>
              <a:t>downloads, likes, created_at, parameter_count, has_safetensors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Data Sample: PyPI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project      | month      | downloads</a:t>
            </a:r>
          </a:p>
          <a:p>
            <a:r>
              <a:t>transformers | 2025-01-01 | 12,345,678</a:t>
            </a:r>
          </a:p>
          <a:p>
            <a:r>
              <a:t>torch        | 2025-01-01 | 45,123,456</a:t>
            </a:r>
          </a:p>
          <a:p>
            <a:r>
              <a:t>diffusers    | 2025-02-01 | 3,456,789</a:t>
            </a:r>
          </a:p>
          <a:p>
            <a:r>
              <a:t>accelerate   | 2025-03-01 | 2,134,500</a:t>
            </a:r>
          </a:p>
          <a:p>
            <a:r>
              <a:t>datasets     | 2025-04-01 | 4,890,123</a:t>
            </a:r>
          </a:p>
          <a:p/>
          <a:p>
            <a:r>
              <a:t>Schema: project, month (YYYY-MM-01), downloads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Design Diagram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Data Ingestion              Processing (Spark)           Output</a:t>
            </a:r>
          </a:p>
          <a:p>
            <a:r>
              <a:t>----------------            ------------------           ------</a:t>
            </a:r>
          </a:p>
          <a:p>
            <a:r>
              <a:t>GH Archive (HDFS) --+</a:t>
            </a:r>
          </a:p>
          <a:p>
            <a:r>
              <a:t>                    +---&gt; Job 01: AI repo daily metrics</a:t>
            </a:r>
          </a:p>
          <a:p>
            <a:r>
              <a:t>HF Hub API ---------+     Job 02: HF + GH join          health_score.csv</a:t>
            </a:r>
          </a:p>
          <a:p>
            <a:r>
              <a:t>                    +---&gt; Job 03: Three-way health score</a:t>
            </a:r>
          </a:p>
          <a:p>
            <a:r>
              <a:t>PyPI BigQuery ------+     Job 04: Top 1000 repos         Tableau vizs</a:t>
            </a:r>
          </a:p>
          <a:p>
            <a:r>
              <a:t>                         Job 05: AI vs General</a:t>
            </a:r>
          </a:p>
          <a:p>
            <a:r>
              <a:t>                         Job 06: Star hype detection</a:t>
            </a:r>
          </a:p>
          <a:p>
            <a:r>
              <a:t>                         Job 07: Contributor health</a:t>
            </a:r>
          </a:p>
          <a:p>
            <a:r>
              <a:t>                         Job 08: Era comparison (5yr Q1)</a:t>
            </a:r>
          </a:p>
          <a:p>
            <a:r>
              <a:t>                         Job 09: Repo deep dive</a:t>
            </a:r>
          </a:p>
          <a:p/>
          <a:p>
            <a:r>
              <a:t>Tools: Python (ingest) | PySpark (analytics) | Scala Spark (HF) | Tableau</a:t>
            </a:r>
          </a:p>
          <a:p/>
          <a:p>
            <a:r>
              <a:t>Health Score = sum of log1p(metric) x weight across 6 signals</a:t>
            </a:r>
          </a:p>
          <a:p>
            <a:r>
              <a:t>Extends OpenSSF Criticality Score with HF + PyPI adoption dimensions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Code Challenge: jl17797 - HDFS Quota &amp; Rolling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Challenge 1 - Data freshness gap:</a:t>
            </a:r>
          </a:p>
          <a:p>
            <a:r>
              <a:t>HF Hub snapshot is April 2026, but GH Archive only covered through Nov 2025. Needed to ingest 3,624 hourly files.</a:t>
            </a:r>
          </a:p>
          <a:p/>
          <a:p>
            <a:r>
              <a:t>Solution: Stream directly to HDFS via curl | hdfs dfs -put -f -</a:t>
            </a:r>
          </a:p>
          <a:p>
            <a:r>
              <a:t>One-time hdfs dfs -ls + local grep for resume-safe skip.</a:t>
            </a:r>
          </a:p>
          <a:p/>
          <a:p>
            <a:r>
              <a:t>Challenge 2 - HDFS quota: 500 GB hard limit</a:t>
            </a:r>
          </a:p>
          <a:p>
            <a:r>
              <a:t>5 years x Q1 raw = ~700 GB needed, exceeds quota.</a:t>
            </a:r>
          </a:p>
          <a:p/>
          <a:p>
            <a:r>
              <a:t>Solution - Rolling pipeline orchestration:</a:t>
            </a:r>
          </a:p>
          <a:p>
            <a:r>
              <a:t>Process one year at a time: download -&gt; Spark clean -&gt; delete raw -&gt; next year.</a:t>
            </a:r>
          </a:p>
          <a:p>
            <a:r>
              <a:t>Cleaned Parquet is 8x smaller than raw gz.</a:t>
            </a:r>
          </a:p>
          <a:p/>
          <a:p>
            <a:r>
              <a:t>Outcome: 5-year Q1 timeline (2022-2026) ingested within 500 GB quota.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Code Challenge: jl17797 - Era Comparison at Scale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Challenge 3 - 90 GB across 5 eras, 48 GB executor memory:</a:t>
            </a:r>
          </a:p>
          <a:p>
            <a:r>
              <a:t>Naive approach (cache all -&gt; 4 aggregations) failed: cache spills to disk,</a:t>
            </a:r>
          </a:p>
          <a:p>
            <a:r>
              <a:t>YARN kills job after 1.5h.</a:t>
            </a:r>
          </a:p>
          <a:p/>
          <a:p>
            <a:r>
              <a:t>Solution - Per-era independent processing:</a:t>
            </a:r>
          </a:p>
          <a:p>
            <a:r>
              <a:t>Process each era (15-23 GB) independently, cache fits in memory,</a:t>
            </a:r>
          </a:p>
          <a:p>
            <a:r>
              <a:t>merge 5 small result sets at the end.</a:t>
            </a:r>
          </a:p>
          <a:p/>
          <a:p>
            <a:r>
              <a:t>                    | Union-first      | Per-era</a:t>
            </a:r>
          </a:p>
          <a:p>
            <a:r>
              <a:t>Peak memory   | 90 GB (exceeds)  | 15-23 GB (fits)</a:t>
            </a:r>
          </a:p>
          <a:p>
            <a:r>
              <a:t>Failure blast   | All restart        | Only failed era</a:t>
            </a:r>
          </a:p>
          <a:p>
            <a:r>
              <a:t>Runtime          | 2-3h (killed)    | 40-50 min</a:t>
            </a:r>
          </a:p>
          <a:p/>
          <a:p>
            <a:r>
              <a:t>Challenge 4 - PR double counting:</a:t>
            </a:r>
          </a:p>
          <a:p>
            <a:r>
              <a:t>Used countDistinct(pr_number) instead of event count.</a:t>
            </a:r>
          </a:p>
          <a:p>
            <a:r>
              <a:t>Filter payload_action='closed' AND pr_merged=True for merge rate.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Code Challenge: by2566 - Billion-Record Shuffle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Challenge: GH Archive partitioned by event_date (334 partitions),</a:t>
            </a:r>
          </a:p>
          <a:p>
            <a:r>
              <a:t>but analysis requires aggregation by repo_name.</a:t>
            </a:r>
          </a:p>
          <a:p>
            <a:r>
              <a:t>Computing top-1000 repos across 1B+ events forces full cross-partition shuffle.</a:t>
            </a:r>
          </a:p>
          <a:p/>
          <a:p>
            <a:r>
              <a:t>Scale: 72 GB input -&gt; 83 GB shuffle -&gt; 1B+ records, 3+ hours</a:t>
            </a:r>
          </a:p>
          <a:p/>
          <a:p>
            <a:r>
              <a:t>Solution: Tuned spark.sql.shuffle.partitions (400 -&gt; 200).</a:t>
            </a:r>
          </a:p>
          <a:p>
            <a:r>
              <a:t>Structured downstream jobs to read from pre-aggregated Job 04 output</a:t>
            </a:r>
          </a:p>
          <a:p>
            <a:r>
              <a:t>instead of re-shuffling raw events.</a:t>
            </a:r>
          </a:p>
          <a:p/>
          <a:p>
            <a:r>
              <a:t>Additional optimizations:</a:t>
            </a:r>
          </a:p>
          <a:p>
            <a:r>
              <a:t>- .cache() on computed DataFrames before multiple write actions</a:t>
            </a:r>
          </a:p>
          <a:p>
            <a:r>
              <a:t>- Replaced Python UDFs with native F.col().isin()</a:t>
            </a:r>
          </a:p>
          <a:p>
            <a:r>
              <a:t>- Column pruning: select only needed columns for each aggregation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 Hype != Health: Ollama has 44,259 stars but only 241 HF downloads.</a:t>
            </a:r>
          </a:p>
          <a:p>
            <a:r>
              <a:t>   DeepSeek-R1/V3 rank #2/#3 in stars but have no sustainable tool ecosystem.</a:t>
            </a:r>
          </a:p>
          <a:p/>
          <a:p>
            <a:r>
              <a:t>2. Quiet Powerhouses exist: sentence-transformers has 327,014 HF downloads</a:t>
            </a:r>
          </a:p>
          <a:p>
            <a:r>
              <a:t>   per star - 3x more efficient than transformers. Stars undercount real adoption.</a:t>
            </a:r>
          </a:p>
          <a:p/>
          <a:p>
            <a:r>
              <a:t>3. Bus Factor risk is real: hiyouga/llama-factory has top1_push_ratio 0.961</a:t>
            </a:r>
          </a:p>
          <a:p>
            <a:r>
              <a:t>   (but 123 PR contributors = centralized merge, not single maintainer).</a:t>
            </a:r>
          </a:p>
          <a:p>
            <a:r>
              <a:t>   geekan/metagpt: 0.929 with only 22 PR contributors = genuine risk.</a:t>
            </a:r>
          </a:p>
          <a:p/>
          <a:p>
            <a:r>
              <a:t>Key insight: GitHub stars are the worst health indicator.</a:t>
            </a:r>
          </a:p>
          <a:p>
            <a:r>
              <a:t>PyPI + HF downloads together better predict sustained ecosystem health.</a:t>
            </a:r>
          </a:p>
          <a:p>
            <a:r>
              <a:t>Push contributor concentration reveals single-maintainer risk invisible to stars.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Obstacles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 HDFS permission boundary</a:t>
            </a:r>
          </a:p>
          <a:p>
            <a:r>
              <a:t>   jl17797 has read-only access to by2566's directory; cannot write there.</a:t>
            </a:r>
          </a:p>
          <a:p>
            <a:r>
              <a:t>   Workaround: all outputs go to jl17797's HDFS; Spark jobs union both paths.</a:t>
            </a:r>
          </a:p>
          <a:p/>
          <a:p>
            <a:r>
              <a:t>2. Data freshness mismatch</a:t>
            </a:r>
          </a:p>
          <a:p>
            <a:r>
              <a:t>   GH Archive: 2025 only; HF Hub: April 2026 snapshot.</a:t>
            </a:r>
          </a:p>
          <a:p>
            <a:r>
              <a:t>   Required supplemental ingestion of 151 days (Dec 2025 - Apr 2026),</a:t>
            </a:r>
          </a:p>
          <a:p>
            <a:r>
              <a:t>   streaming ~3,600 files to HDFS. ~580 corrupt files in April detected</a:t>
            </a:r>
          </a:p>
          <a:p>
            <a:r>
              <a:t>   and handled via ignoreCorruptFiles.</a:t>
            </a:r>
          </a:p>
          <a:p/>
          <a:p>
            <a:r>
              <a:t>3. YARN resource contention on shared cluster</a:t>
            </a:r>
          </a:p>
          <a:p>
            <a:r>
              <a:t>   Other users' jobs caused executor preemption and OOM kills.</a:t>
            </a:r>
          </a:p>
          <a:p>
            <a:r>
              <a:t>   Solution: sequential execution, conservative resource configs,</a:t>
            </a:r>
          </a:p>
          <a:p>
            <a:r>
              <a:t>   per-era job design to minimize runtime and memory footprint.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 Pulse</a:t>
            </a:r>
          </a:p>
          <a:p>
            <a:r>
              <a:t>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 Built end-to-end Spark pipeline combining 3 data sources at ~146M-event scale</a:t>
            </a:r>
          </a:p>
          <a:p/>
          <a:p>
            <a:r>
              <a:t>- Computed composite health score for 36 AI repos across community,</a:t>
            </a:r>
          </a:p>
          <a:p>
            <a:r>
              <a:t>  adoption, and engineering dimensions</a:t>
            </a:r>
          </a:p>
          <a:p/>
          <a:p>
            <a:r>
              <a:t>- Analyzed contributor health and bus-factor risk for top 1,000 repos</a:t>
            </a:r>
          </a:p>
          <a:p/>
          <a:p>
            <a:r>
              <a:t>- 5-year era comparison (2022-2026 Q1) tracking coding-agent impact</a:t>
            </a:r>
          </a:p>
          <a:p/>
          <a:p>
            <a:r>
              <a:t>- Deep-dive: ~250 repos (AI vs Non-AI) across 5 eras</a:t>
            </a:r>
          </a:p>
          <a:p/>
          <a:p>
            <a:r>
              <a:t>- Key takeaway: GitHub stars are a noisy signal;</a:t>
            </a:r>
          </a:p>
          <a:p>
            <a:r>
              <a:t>  PyPI + HF downloads together better predict sustained ecosystem health.</a:t>
            </a:r>
          </a:p>
          <a:p>
            <a:r>
              <a:t>  Push contributor concentration reveals single-maintainer risk</a:t>
            </a:r>
          </a:p>
          <a:p>
            <a:r>
              <a:t>  invisible to star counts.</a:t>
            </a:r>
          </a:p>
          <a:p/>
          <a:p>
            <a:r>
              <a:t>- Framework-agnostic methodology - extensible to any open-source domain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YU Bold">
  <a:themeElements>
    <a:clrScheme name="Simple Light">
      <a:dk1>
        <a:srgbClr val="57068C"/>
      </a:dk1>
      <a:lt1>
        <a:srgbClr val="FFFFFF"/>
      </a:lt1>
      <a:dk2>
        <a:srgbClr val="333333"/>
      </a:dk2>
      <a:lt2>
        <a:srgbClr val="E2E1DD"/>
      </a:lt2>
      <a:accent1>
        <a:srgbClr val="9A6ABA"/>
      </a:accent1>
      <a:accent2>
        <a:srgbClr val="6D6D6D"/>
      </a:accent2>
      <a:accent3>
        <a:srgbClr val="8900E1"/>
      </a:accent3>
      <a:accent4>
        <a:srgbClr val="E97300"/>
      </a:accent4>
      <a:accent5>
        <a:srgbClr val="799A05"/>
      </a:accent5>
      <a:accent6>
        <a:srgbClr val="C50F3C"/>
      </a:accent6>
      <a:hlink>
        <a:srgbClr val="57068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