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71" r:id="rId13"/>
    <p:sldId id="267" r:id="rId14"/>
    <p:sldId id="268" r:id="rId15"/>
    <p:sldId id="269" r:id="rId16"/>
    <p:sldId id="270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Montserrat" pitchFamily="2" charset="0"/>
      <p:regular r:id="rId23"/>
      <p:bold r:id="rId24"/>
      <p:italic r:id="rId25"/>
      <p:boldItalic r:id="rId26"/>
    </p:embeddedFont>
    <p:embeddedFont>
      <p:font typeface="Montserrat Black" panose="020F0502020204030204" pitchFamily="34" charset="0"/>
      <p:bold r:id="rId27"/>
      <p:italic r:id="rId28"/>
      <p:boldItalic r:id="rId29"/>
    </p:embeddedFont>
    <p:embeddedFont>
      <p:font typeface="Montserrat ExtraBold" panose="020F0502020204030204" pitchFamily="34" charset="0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5"/>
  </p:normalViewPr>
  <p:slideViewPr>
    <p:cSldViewPr snapToGrid="0">
      <p:cViewPr varScale="1">
        <p:scale>
          <a:sx n="157" d="100"/>
          <a:sy n="157" d="100"/>
        </p:scale>
        <p:origin x="512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 type="title">
  <p:cSld name="TITLE">
    <p:bg>
      <p:bgPr>
        <a:solidFill>
          <a:srgbClr val="57068C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1" name="Google Shape;11;p2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2">
  <p:cSld name="TITLE_1">
    <p:bg>
      <p:bgPr>
        <a:solidFill>
          <a:srgbClr val="57068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7" name="Google Shape;17;p3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_1_1_1">
    <p:bg>
      <p:bgPr>
        <a:solidFill>
          <a:srgbClr val="57068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3" name="Google Shape;23;p4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5">
  <p:cSld name="TITLE_1_1_1_1">
    <p:bg>
      <p:bgPr>
        <a:solidFill>
          <a:srgbClr val="57068C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9" name="Google Shape;29;p5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57068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34;p6" descr=" 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5" name="Google Shape;35;p6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" name="Google Shape;42;p7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46" name="Google Shape;46;p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53" name="Google Shape;53;p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59" name="Google Shape;59;p10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65" name="Google Shape;65;p11" descr=" 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 descr=" 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subTitle" idx="1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72" name="Google Shape;72;p12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-page image">
  <p:cSld name="CUSTOM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3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4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_1">
    <p:bg>
      <p:bgPr>
        <a:solidFill>
          <a:schemeClr val="dk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 1">
  <p:cSld name="CUSTOM_1_1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 hasCustomPrompt="1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08" name="Google Shape;108;p1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>
            <a:spLocks noGrp="1"/>
          </p:cNvSpPr>
          <p:nvPr>
            <p:ph type="subTitle" idx="2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folio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60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 marL="0" indent="0">
              <a:buNone/>
            </a:pPr>
            <a:r>
              <a:rPr sz="2600" b="0" i="0">
                <a:solidFill>
                  <a:srgbClr val="FFFFFF"/>
                </a:solidFill>
                <a:latin typeface="Arial"/>
              </a:rPr>
              <a:t>From Hype to Health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1300" b="0" i="0">
                <a:solidFill>
                  <a:srgbClr val="E6CFFF"/>
                </a:solidFill>
                <a:latin typeface="Arial"/>
              </a:rPr>
              <a:t>Tracking the coding-agent era through 1.46 billion GitHub events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sz="900" b="1" i="0">
                <a:solidFill>
                  <a:srgbClr val="FFFFFF"/>
                </a:solidFill>
                <a:latin typeface="Arial"/>
              </a:rPr>
              <a:t>GROUP 9  ·  BDAD SPRING 2026</a:t>
            </a:r>
          </a:p>
          <a:p>
            <a:pPr marL="0" indent="0">
              <a:buNone/>
            </a:pPr>
            <a:r>
              <a:rPr sz="9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3000" b="1" i="0">
                <a:solidFill>
                  <a:srgbClr val="57068C"/>
                </a:solidFill>
                <a:latin typeface="Arial"/>
              </a:rPr>
              <a:t>ABSTRACT</a:t>
            </a:r>
          </a:p>
          <a:p>
            <a:pPr marL="0" indent="0">
              <a:buNone/>
            </a:pPr>
            <a:r>
              <a:rPr sz="1800" b="0" i="0">
                <a:solidFill>
                  <a:srgbClr val="57068C"/>
                </a:solidFill>
                <a:latin typeface="Arial"/>
              </a:rPr>
              <a:t>&amp; Platform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Abstract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200" b="0" i="0">
                <a:solidFill>
                  <a:srgbClr val="1E1E28"/>
                </a:solidFill>
                <a:latin typeface="Arial"/>
              </a:rPr>
              <a:t>We measure AI open-source ecosystem health by triangulating three independent signals — GitHub activity, Hugging Face model adoption, and PyPI engineering usage — across 5 × Q1 snapshots (2022–2026).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200" b="0" i="0">
                <a:solidFill>
                  <a:srgbClr val="1E1E28"/>
                </a:solidFill>
                <a:latin typeface="Arial"/>
              </a:rPr>
              <a:t>Processing 1.46 B events on Apache Spark, we compute a composite health score and surface three domain-level shifts from the coding-agent era: stars stop tracking adoption, the weekend gap disappears, and bot-style pushers peaked in 2025.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Platform ·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Apache Spark 3.x on Google Cloud Dataproc (NYU HPC) · YARN · HDFS.</a:t>
            </a:r>
          </a:p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Scale ·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930 GB raw → 87.9 GB Parquet · 10 Spark analytics jobs.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Who needs this · what problem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WHO USES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298192" cy="5816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100" b="0" i="0" dirty="0">
                <a:solidFill>
                  <a:srgbClr val="1E1E28"/>
                </a:solidFill>
                <a:latin typeface="Arial"/>
              </a:rPr>
              <a:t>Developers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· researchers · maintainers · VCs</a:t>
            </a:r>
            <a:r>
              <a:rPr lang="en-US" sz="1100" b="0" i="0" dirty="0">
                <a:solidFill>
                  <a:srgbClr val="1E1E28"/>
                </a:solidFill>
                <a:latin typeface="Arial"/>
              </a:rPr>
              <a:t> evaluating OSS frameworks.</a:t>
            </a:r>
            <a:endParaRPr sz="1100" b="0" i="0" dirty="0">
              <a:solidFill>
                <a:srgbClr val="1E1E28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240024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2904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WHAT'S BROKEN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2904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Single signals mislead. DeepSeek-R1 ranks #2 by stars but has no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library, only 5 push contributors.</a:t>
            </a:r>
            <a:r>
              <a:rPr lang="zh-TW" altLang="en-US" sz="1100" b="0" i="0" dirty="0">
                <a:solidFill>
                  <a:srgbClr val="1E1E28"/>
                </a:solidFill>
                <a:latin typeface="Arial"/>
              </a:rPr>
              <a:t> </a:t>
            </a:r>
            <a:r>
              <a:rPr lang="en-US" sz="1100" b="0" i="0" dirty="0">
                <a:solidFill>
                  <a:srgbClr val="1E1E28"/>
                </a:solidFill>
                <a:latin typeface="Arial"/>
              </a:rPr>
              <a:t>Hype ≠ ecosystem.</a:t>
            </a:r>
            <a:endParaRPr sz="1100" b="0" i="0" dirty="0">
              <a:solidFill>
                <a:srgbClr val="1E1E28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068568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1448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The coding-agent era (2024–2026) is reshaping open-source rhythm — and stars miss it entirely.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5-YEAR Q1 TIMELINE  ·  AI ECOSYSTEM EVOLUTION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Pre-ChatGPT
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3976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3976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5416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ChatGPT
explosion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76472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76472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LLM bloom
GPT-4 / Claude / Gemini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58968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58968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0408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Year of agents
Cursor / Claude Code / Devin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41464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Coding-agent
saturation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GOODNESS  ·  WHY OUR RESULTS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Five-era data quality validation across 1.46 B 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NULLS IN CORE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 dirty="0" err="1">
                <a:solidFill>
                  <a:srgbClr val="1E1E28"/>
                </a:solidFill>
                <a:latin typeface="Arial"/>
              </a:rPr>
              <a:t>event_type</a:t>
            </a:r>
            <a:r>
              <a:rPr sz="900" b="0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900" b="0" i="0" dirty="0" err="1">
                <a:solidFill>
                  <a:srgbClr val="1E1E28"/>
                </a:solidFill>
                <a:latin typeface="Arial"/>
              </a:rPr>
              <a:t>event_date</a:t>
            </a:r>
            <a:r>
              <a:rPr sz="900" b="0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900" b="0" i="0" dirty="0" err="1">
                <a:solidFill>
                  <a:srgbClr val="1E1E28"/>
                </a:solidFill>
                <a:latin typeface="Arial"/>
              </a:rPr>
              <a:t>actor_login</a:t>
            </a:r>
            <a:r>
              <a:rPr sz="900" b="0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900" b="0" i="0" dirty="0" err="1">
                <a:solidFill>
                  <a:srgbClr val="1E1E28"/>
                </a:solidFill>
                <a:latin typeface="Arial"/>
              </a:rPr>
              <a:t>repo_name</a:t>
            </a:r>
            <a:r>
              <a:rPr sz="900" b="0" i="0" dirty="0">
                <a:solidFill>
                  <a:srgbClr val="1E1E28"/>
                </a:solidFill>
                <a:latin typeface="Arial"/>
              </a:rPr>
              <a:t>
across all 5 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37160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0024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&lt; 0.39%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7184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2026 RE-VALIDATION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7184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Re-downloaded 2,160 raw files, re-cleaned,
compared to original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37160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68568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5728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CORRUPT FILES TOLERATED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728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 dirty="0">
                <a:solidFill>
                  <a:srgbClr val="1E1E28"/>
                </a:solidFill>
                <a:latin typeface="Arial"/>
              </a:rPr>
              <a:t>April 2026 raw .</a:t>
            </a:r>
            <a:r>
              <a:rPr sz="900" b="0" i="0" dirty="0" err="1">
                <a:solidFill>
                  <a:srgbClr val="1E1E28"/>
                </a:solidFill>
                <a:latin typeface="Arial"/>
              </a:rPr>
              <a:t>gz</a:t>
            </a:r>
            <a:r>
              <a:rPr sz="900" b="0" i="0" dirty="0">
                <a:solidFill>
                  <a:srgbClr val="1E1E28"/>
                </a:solidFill>
                <a:latin typeface="Arial"/>
              </a:rPr>
              <a:t> files rescued via
</a:t>
            </a:r>
            <a:r>
              <a:rPr sz="900" b="0" i="0" dirty="0" err="1">
                <a:solidFill>
                  <a:srgbClr val="1E1E28"/>
                </a:solidFill>
                <a:latin typeface="Arial"/>
              </a:rPr>
              <a:t>spark.sql.files.ignoreCorruptFiles</a:t>
            </a:r>
            <a:endParaRPr sz="900" b="0" i="0" dirty="0">
              <a:solidFill>
                <a:srgbClr val="1E1E28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11480" y="2834640"/>
            <a:ext cx="8321040" cy="32918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95528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DATA QUALITY  ·  EVENT VOLUME &amp; FIELD COMPLETENESS BY 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21868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Total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Push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19" y="321868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PR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1868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null core (4 fields)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21868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38144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2022-Q1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206.8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146.4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19" y="3438144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35.0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438144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438144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65252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657600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2023-Q1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247.4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185.6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19" y="3657600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29.5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657600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657600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871976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877056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2024-Q1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364.4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307.6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19" y="3877056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26.4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3877056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877056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4091432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94360" y="4096512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2025-Q1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376.4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313.6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0519" y="4096512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30.5 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4096512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096512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4310888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431596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2026-Q1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265.9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224.6 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60519" y="431596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23.8 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431596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0" y="431596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88B00"/>
                </a:solidFill>
                <a:latin typeface="Arial"/>
              </a:rPr>
              <a:t>⚠ schema break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" y="4530344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Hourly event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Watch · Fork · Push · PR · Issue events from the public GitHub event firehose, archived hourly as compressed JSON.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Hourly .json.gz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 × Q1 snapshots,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1.46 B events  ·  930 GB raw  ·  87.9 GB cleaned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24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40024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68624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624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8624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Snapshot of every public model on Hugging Face Hub via the huggingface_hub API, including library, downloads, and parameter counts.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8624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8624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5864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JSONL 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8624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5864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All public models,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624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5864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2,815,064 models  ·  229 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8568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68568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7168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7168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Monthly download counts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7168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Per-library install counts pulled from the public BigQuery PyPI dataset — the closest proxy we have to real engineering adoption.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97168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7168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4408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CSV (project · month · downloads)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7168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4408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46 AI / ML libraries × 12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168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4408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552 rows  ·  9 GB BigQuery 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SAMPLES  ·  GITHUB ARCHIVE · HF HUB ·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Three sources, three schemas — five-row sample of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08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7909560" cy="8961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event_type        event_date   actor_login   repo_name                  push  pr_merged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WatchEvent        2025-03-15   user_abc      huggingface/transformers   —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PushEvent         2025-03-15   dev_xyz       pytorch/pytorch            3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PullRequestEvent  2025-03-15   contrib_1     tensorflow/tensorflow      —     true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ForkEvent         2025-03-15   forker_3      openai/whisper             —     —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event_type, event_date, actor_login, repo_name, push_size, push_distinct_size, pr_merged, issue_state, pr_number, payload_action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606040"/>
            <a:ext cx="8321040" cy="10058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606040"/>
            <a:ext cx="118872" cy="100584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4261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2072"/>
            <a:ext cx="790956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model_id                      library_name  pipeline_tag       downloads     likes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meta-llama/Llama-3-8B         transformers  text-generation    1,234,567     8,920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stabilityai/stable-diffusion  diffusers     image-generation     890,123     5,430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openai/whisper-large-v3       transformers  automatic-speech     456,789     3,210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model_id, author, library_name, pipeline_tag, downloads, likes, created_at, parameter_count, has_safetensors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57600"/>
            <a:ext cx="8321040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118872" cy="8686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94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7909560" cy="5760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project        month         downloads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transformers   2025-01-01    12,345,678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torch          2025-01-01    45,123,456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project, month (YYYY-MM-01), downloads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Total cleaned scale  ·  87.9 GB Parquet · 2.81 M HF rows · 552 PyPI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DESIGN DIAGRAM  ·  PIPELINE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3 sources  →  Spark cleaning  →  10 analytics jobs  →  CSV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76144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hourly .json.gz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3928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33928" y="1417320"/>
            <a:ext cx="2676144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33928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3928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snapshot via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376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56376" y="1417320"/>
            <a:ext cx="2676144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56376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6376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monthly downloads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057400"/>
            <a:ext cx="83210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▼  ▼  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31720"/>
            <a:ext cx="8321040" cy="640080"/>
          </a:xfrm>
          <a:prstGeom prst="round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331720"/>
            <a:ext cx="83210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SPARK CLEAN  &amp;  DEDUPLICATE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69748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5 event types  ·  unified schema  ·  partitioned by event_date  ·  ignoreCorruptFiles=true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017520"/>
            <a:ext cx="83210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01-03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Daily metrics
HF/GH join
Health score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97633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97633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3353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3353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Top-1000 repos
(billion-record
shuffle)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83786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783786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29506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05-07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29506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AI vs General
Star hype
Contributor health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69939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69939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15659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15659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5-year era
comparison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6092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156092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01812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09-10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01812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Repo deep-dive
Dev rhythm
(weekend gap)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HDFS quota &amp; per-era processing — surviving 5 years × Q1 in 500 GB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ROLLING INGEST  ·  500 GB QUOTA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758184" cy="2148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Problem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5 × Q1 raw ≈ 700 GB but HDFS quota is 500 GB hard. Plus 3,624 hourly files for the 5-month freshness gap.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Fix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Stream curl →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hdfs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put directly (no /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tmp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). One-time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hdfs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ls + local grep for resume-safe skip. Process one year at a time → Spark clean → delete raw → next year. Cleaned Parquet is 8× smaller than raw .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gz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4069080"/>
            <a:ext cx="37581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1">
                <a:solidFill>
                  <a:srgbClr val="57068C"/>
                </a:solidFill>
                <a:latin typeface="Arial"/>
              </a:rPr>
              <a:t>Outcome  ·  5-year timeline ingested within 500 GB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487772"/>
            <a:ext cx="3977640" cy="24314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PER-ERA PROCESSING  ·  90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874520"/>
            <a:ext cx="375818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Naive cache-all spilled to disk; YARN killed it after 1.5 h. Per-era compute + intermediate saves makes the job crash-safe and resumable.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423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423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Union-first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423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Per-era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2692400"/>
            <a:ext cx="3758184" cy="76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56048" y="274320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Peak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4320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74320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56048" y="301244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56048" y="301752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01752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2-3 h (killed)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01752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40-60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28676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56048" y="329184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Blast radius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9184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All eras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29184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Only failed 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356108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56048" y="3566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Shuffle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566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 /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566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 / pass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6048" y="383540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2026 SCHEMA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Job 08 reported merged_prs = 0 for 2026-Q1 — what happened?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78224" cy="18288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THE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3712464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Job 08 reported merged_prs = 0 for 2026-Q1. Investigation revealed the GitHub Archive payload schema changed.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Root cause: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GitHub API simplification — announced 2025-08-08, effective 2025-10-07.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Verification: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downloaded raw JSON from both eras and compared payload keys directly.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1417320"/>
            <a:ext cx="4078224" cy="1828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37176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 DIFF  ·  2025  vs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6" y="1828800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1828800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1828800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2075688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payload.distinct_size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075688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075688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37176" y="2317496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2322576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322576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322576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2564384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37176" y="2569464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pr.merged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569464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true /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569464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NULL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37176" y="2811272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816352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2816352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opened/closed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6" y="2816352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57068C"/>
                </a:solidFill>
                <a:latin typeface="Consolas"/>
              </a:rPr>
              <a:t>+ "merged"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37176" y="3058160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11480" y="333756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33756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42900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BACKWARD-COMPATIBLE FIX  · 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03320"/>
            <a:ext cx="79095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# Backward-compatible merged-PR detection
((F.col("payload_action") == "closed") &amp; F.col("pr_merged").eqNullSafe(True))
  | (F.col("payload_action") == "merged")  # 2026+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Validation  ·  re-cleaned all 2,160 raw files, diff &lt; 0.39% (corrupt-file tolerance).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Billion-record shuffle — group by repo across 334 date partitions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956816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72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32888" y="1371600"/>
            <a:ext cx="1956816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24A4A"/>
                </a:solidFill>
                <a:latin typeface="Arial"/>
              </a:rPr>
              <a:t>83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SHUFFLE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4296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54296" y="1371600"/>
            <a:ext cx="195681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8900E1"/>
                </a:solidFill>
                <a:latin typeface="Arial"/>
              </a:rPr>
              <a:t>1B+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75704" y="1371600"/>
            <a:ext cx="1956816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5704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330066"/>
                </a:solidFill>
                <a:latin typeface="Arial"/>
              </a:rPr>
              <a:t>3+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WALL CLOCK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423160"/>
            <a:ext cx="4078224" cy="19202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807208"/>
            <a:ext cx="3712464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Tuned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spark.sql.shuffle.partitions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(400 → 200) to cluster size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.cache() on aggregated DataFrame so multi-write actions don't re-shuffle (3× redundancy gone)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Replaced Python UDFs with native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F.col().isin()</a:t>
            </a:r>
          </a:p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Restructured Jobs 05–07 to read pre-aggregated Job 04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4296" y="2423160"/>
            <a:ext cx="4078224" cy="1920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WE'D DO DIFFERENTLY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807208"/>
            <a:ext cx="3712464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Bucket cleaned data by repo_name at ingest:</a:t>
            </a:r>
          </a:p>
          <a:p>
            <a:pPr marL="0" indent="0">
              <a:spcAft>
                <a:spcPts val="600"/>
              </a:spcAft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cleaned.write
  .bucketBy(256, "repo_name")
  .sortBy("repo_name")
  .saveAsTable("gharchive_cleaned")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Eliminates the 83 GB shuffle entirely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 —  hours → minutes.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49884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Lesson — at billion-record scale, network I/O dominates compute. Partition strategy at ingest determines query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 dirty="0">
                <a:solidFill>
                  <a:srgbClr val="57068C"/>
                </a:solidFill>
                <a:latin typeface="Arial"/>
              </a:rPr>
              <a:t>RESULT · STARS  ≠ 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Bubble chart  ·  PyPI downloads × GH stars · size = HF model count</a:t>
            </a:r>
          </a:p>
        </p:txBody>
      </p:sp>
      <p:pic>
        <p:nvPicPr>
          <p:cNvPr id="4" name="Picture 3" descr="01_stars_vs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FINDING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Three archetypes from one chart:</a:t>
            </a:r>
          </a:p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True leader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13 K stars · 938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· 835 K HF models — wins on all three signals.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8900E1"/>
                </a:solidFill>
                <a:latin typeface="Arial"/>
              </a:rPr>
              <a:t>Quiet powerhouse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1.6 K stars  →  519 M HF downloads —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327,014×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downloads / star.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Asymmetric adoption  ·  </a:t>
            </a:r>
            <a:r>
              <a:rPr sz="1100" b="1" i="0" dirty="0" err="1">
                <a:solidFill>
                  <a:srgbClr val="57068C"/>
                </a:solidFill>
                <a:latin typeface="Arial"/>
              </a:rPr>
              <a:t>ollama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44.5 K stars + 47.9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but only 241 HF downloads — it's a runtime, not a model library.</a:t>
            </a:r>
          </a:p>
          <a:p>
            <a:pPr marL="0" indent="0">
              <a:buNone/>
            </a:pPr>
            <a:r>
              <a:rPr sz="1100" b="1" i="1" dirty="0">
                <a:solidFill>
                  <a:srgbClr val="57068C"/>
                </a:solidFill>
                <a:latin typeface="Arial"/>
              </a:rPr>
              <a:t>“No single signal captures every project — triangulation is the point.”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1C261-7009-2BB8-828F-3D93A6A59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F3321-B30A-2507-EA15-85FC0C8A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5-YEAR ECOSYSTEM SHIFT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D636D0-C595-5FF5-86C8-64827FE189A4}"/>
              </a:ext>
            </a:extLst>
          </p:cNvPr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Multi-line chart  ·  developers (M) and total events (M) by Q1, 2022–2026</a:t>
            </a:r>
          </a:p>
        </p:txBody>
      </p:sp>
      <p:pic>
        <p:nvPicPr>
          <p:cNvPr id="4" name="Picture 3" descr="03_era_shift.png">
            <a:extLst>
              <a:ext uri="{FF2B5EF4-FFF2-40B4-BE49-F238E27FC236}">
                <a16:creationId xmlns:a16="http://schemas.microsoft.com/office/drawing/2014/main" id="{484ACB55-4977-6889-CA87-21E313C32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436C161-0B42-F538-ABE9-83511073C0A5}"/>
              </a:ext>
            </a:extLst>
          </p:cNvPr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1D641F-5903-99A9-77B4-1434F2C61799}"/>
              </a:ext>
            </a:extLst>
          </p:cNvPr>
          <p:cNvSpPr txBox="1"/>
          <p:nvPr/>
        </p:nvSpPr>
        <p:spPr>
          <a:xfrm>
            <a:off x="6080760" y="1554480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FINDING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31C28-7C5B-52AD-A986-C24A33E9CEBD}"/>
              </a:ext>
            </a:extLst>
          </p:cNvPr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1.46 B events tell one story: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Developers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7.0 M  →  10.6 M  </a:t>
            </a:r>
            <a:r>
              <a:rPr sz="1100" b="1" i="0">
                <a:solidFill>
                  <a:srgbClr val="129E9E"/>
                </a:solidFill>
                <a:latin typeface="Arial"/>
              </a:rPr>
              <a:t>(+51%)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Total events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207 M  →  266 M 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(peaked 376 M in 2025)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Avg contributors / repo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4.88  →  2.84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(-42%)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More developers, more repos — but each repo gets less work and fewer contributors. Development is getting “lighter.”</a:t>
            </a:r>
          </a:p>
          <a:p>
            <a:pPr marL="0" indent="0">
              <a:buNone/>
            </a:pPr>
            <a:r>
              <a:rPr sz="950" b="0" i="1">
                <a:solidFill>
                  <a:srgbClr val="555566"/>
                </a:solidFill>
                <a:latin typeface="Arial"/>
              </a:rPr>
              <a:t>Caveat  ·  2026 WatchEvent −63% / ForkEvent −67% reflect GitHub's fake-star account cleanup (~6 M removed).</a:t>
            </a:r>
          </a:p>
        </p:txBody>
      </p:sp>
    </p:spTree>
    <p:extLst>
      <p:ext uri="{BB962C8B-B14F-4D97-AF65-F5344CB8AC3E}">
        <p14:creationId xmlns:p14="http://schemas.microsoft.com/office/powerpoint/2010/main" val="2355083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6C8CC39D-EDDF-E777-5362-AFC54872CDE7}"/>
              </a:ext>
            </a:extLst>
          </p:cNvPr>
          <p:cNvSpPr txBox="1"/>
          <p:nvPr/>
        </p:nvSpPr>
        <p:spPr>
          <a:xfrm>
            <a:off x="647364" y="4237561"/>
            <a:ext cx="8496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See also: Duckworth et al., 'Six Million Fake Stars' (ICSE 2026) — 90% of flagged repos removed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06EA0B-3FFB-7E8D-6FC1-3354B3B7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8162"/>
            <a:ext cx="7772400" cy="35244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WEEKEND GAP DISAPPEARED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Bar chart  ·  weekend event share vs 28.9% natural baseline</a:t>
            </a:r>
          </a:p>
        </p:txBody>
      </p:sp>
      <p:pic>
        <p:nvPicPr>
          <p:cNvPr id="4" name="Picture 3" descr="04_weeken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FINDING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Weekend share of all events, by era: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2022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25.8%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(−3.1 pp vs natural)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2024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26.3%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(−2.6 pp)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2026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29.7%   </a:t>
            </a:r>
            <a:r>
              <a:rPr sz="1000" b="1" i="0">
                <a:solidFill>
                  <a:srgbClr val="129E9E"/>
                </a:solidFill>
                <a:latin typeface="Arial"/>
              </a:rPr>
              <a:t>(+0.8 pp — gap gone)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Push-specific weekend share rose 24.8% → 29.4% — the strongest signal, since pushes mean writing code.</a:t>
            </a:r>
          </a:p>
          <a:p>
            <a:pPr marL="0" indent="0">
              <a:buNone/>
            </a:pPr>
            <a:r>
              <a:rPr sz="1100" b="1" i="1">
                <a:solidFill>
                  <a:srgbClr val="57068C"/>
                </a:solidFill>
                <a:latin typeface="Arial"/>
              </a:rPr>
              <a:t>“In 2026, GitHub doesn't know what day of the week it is anymore.”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3000" b="1" i="0">
                <a:solidFill>
                  <a:srgbClr val="57068C"/>
                </a:solidFill>
                <a:latin typeface="Arial"/>
              </a:rPr>
              <a:t>OBSTACLES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50658" y="819633"/>
            <a:ext cx="5081642" cy="3123300"/>
          </a:xfrm>
        </p:spPr>
        <p:txBody>
          <a:bodyPr/>
          <a:lstStyle/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8900E1"/>
                </a:solidFill>
                <a:latin typeface="Arial"/>
              </a:rPr>
              <a:t>1.  HDFS permission boundary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jl17797 has read-only access to by2566's HDFS directory; neither can write to the other. Workaround: each member writes outputs under their own path; Spark jobs union both paths at read time so the analysis is still combined.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8900E1"/>
                </a:solidFill>
                <a:latin typeface="Arial"/>
              </a:rPr>
              <a:t>2.  Data freshness mismatch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GH Archive originally only covered 2025; HF Hub snapshot was April 2026. We backfilled 151 days (Dec 2025 – Apr 2026) — ~3,600 hourly files streamed straight to HDFS — and then tolerated ~580 corrupt April .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gz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files via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spark.sql.files.ignoreCorruptFiles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=true.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8900E1"/>
                </a:solidFill>
                <a:latin typeface="Arial"/>
              </a:rPr>
              <a:t>3.  GitHub API schema breaking change in 2026</a:t>
            </a:r>
          </a:p>
          <a:p>
            <a:pPr marL="0" indent="0">
              <a:buNone/>
            </a:pPr>
            <a:r>
              <a:rPr sz="1050" b="0" i="0" dirty="0">
                <a:solidFill>
                  <a:srgbClr val="1E1E28"/>
                </a:solidFill>
                <a:latin typeface="Arial"/>
              </a:rPr>
              <a:t>GitHub simplified its event payload (effective 2025-10-07):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pr.merged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removed;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payload.action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== "merged" added. Job 08 silently reported 0 merged PRs for 2026 until caught. Fix: backward-compatible OR-clause (Slide 12). Re-validation diff &lt; 0.39%.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3000" b="1" i="0" dirty="0">
                <a:solidFill>
                  <a:srgbClr val="57068C"/>
                </a:solidFill>
                <a:latin typeface="Arial"/>
              </a:rPr>
              <a:t>SUMMARY</a:t>
            </a:r>
          </a:p>
          <a:p>
            <a:pPr marL="0" indent="0">
              <a:buNone/>
            </a:pPr>
            <a:r>
              <a:rPr sz="1600" b="0" i="0" dirty="0">
                <a:solidFill>
                  <a:srgbClr val="57068C"/>
                </a:solidFill>
                <a:latin typeface="Arial"/>
              </a:rPr>
              <a:t>&amp; Acknowledgements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sz="1200" b="1" i="0" dirty="0">
                <a:solidFill>
                  <a:srgbClr val="8900E1"/>
                </a:solidFill>
                <a:latin typeface="Arial"/>
              </a:rPr>
              <a:t>Three takeaways from 1.46 B events on Spark: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①  Stars ≠ Health  —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No single signal captures every project. transformers leads on all three; sentence-transformers ships 327,014 HF downloads / star; runtime tools like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Ollama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need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to be measured at all.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②  The 5-year ecosystem shift  —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Developers grew +51% but contributors-per-repo fell 42%. Development is broadening and lightening simultaneously.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③  The weekend gap disappeared  —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2026 weekend activity hit 29.7%, finally reaching the natural 28.9% baseline. Coding agents work 24/7.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 dirty="0">
                <a:solidFill>
                  <a:srgbClr val="8900E1"/>
                </a:solidFill>
                <a:latin typeface="Arial"/>
              </a:rPr>
              <a:t>Acknowledgements</a:t>
            </a:r>
          </a:p>
          <a:p>
            <a:pPr marL="0" indent="0">
              <a:buNone/>
            </a:pPr>
            <a:r>
              <a:rPr sz="1050" b="0" i="0" dirty="0">
                <a:solidFill>
                  <a:srgbClr val="1E1E28"/>
                </a:solidFill>
                <a:latin typeface="Arial"/>
              </a:rPr>
              <a:t>NYU High Performance Computing — Google Cloud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Dataproc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cluster access. GH Archive · Hugging Face Hub ·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/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BigQuer</a:t>
            </a:r>
            <a:r>
              <a:rPr lang="en-US" sz="1050" b="0" i="0" dirty="0" err="1">
                <a:solidFill>
                  <a:srgbClr val="1E1E28"/>
                </a:solidFill>
                <a:latin typeface="Arial"/>
              </a:rPr>
              <a:t>y</a:t>
            </a:r>
            <a:endParaRPr lang="en-US" sz="1050" b="0" i="0" dirty="0">
              <a:solidFill>
                <a:srgbClr val="1E1E28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2029</Words>
  <Application>Microsoft Macintosh PowerPoint</Application>
  <PresentationFormat>如螢幕大小 (16:9)</PresentationFormat>
  <Paragraphs>261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Arial</vt:lpstr>
      <vt:lpstr>Montserrat ExtraBold</vt:lpstr>
      <vt:lpstr>Consolas</vt:lpstr>
      <vt:lpstr>Montserrat</vt:lpstr>
      <vt:lpstr>Montserrat Black</vt:lpstr>
      <vt:lpstr>NYU Bold</vt:lpstr>
      <vt:lpstr>OSS PULSE From Hype to Health</vt:lpstr>
      <vt:lpstr>ABSTRACT &amp; Platform</vt:lpstr>
      <vt:lpstr>MOTIVATION</vt:lpstr>
      <vt:lpstr>GOODNESS  ·  WHY OUR RESULTS CAN BE TRUSTED</vt:lpstr>
      <vt:lpstr>DATA SOURCES</vt:lpstr>
      <vt:lpstr>DATA SAMPLES  ·  GITHUB ARCHIVE · HF HUB · PYPI</vt:lpstr>
      <vt:lpstr>DESIGN DIAGRAM  ·  PIPELINE ARCHITECTURE</vt:lpstr>
      <vt:lpstr>CODE CHALLENGE</vt:lpstr>
      <vt:lpstr>CODE CHALLENGE  ·  2026 SCHEMA CHANGE</vt:lpstr>
      <vt:lpstr>CODE CHALLENGE</vt:lpstr>
      <vt:lpstr>RESULT · STARS  ≠  HEALTH</vt:lpstr>
      <vt:lpstr>RESULT · THE 5-YEAR ECOSYSTEM SHIFT</vt:lpstr>
      <vt:lpstr>PowerPoint 簡報</vt:lpstr>
      <vt:lpstr>RESULT · THE WEEKEND GAP DISAPPEARED</vt:lpstr>
      <vt:lpstr>OBSTACLES</vt:lpstr>
      <vt:lpstr>SUMMARY &amp; Acknowledgements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16</cp:revision>
  <dcterms:modified xsi:type="dcterms:W3CDTF">2026-05-05T17:11:09Z</dcterms:modified>
</cp:coreProperties>
</file>